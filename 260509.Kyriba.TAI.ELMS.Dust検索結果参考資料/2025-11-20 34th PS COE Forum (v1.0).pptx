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DM Sans Medium"/>
      <p:regular r:id="rId51"/>
      <p:bold r:id="rId52"/>
      <p:italic r:id="rId53"/>
      <p:boldItalic r:id="rId54"/>
    </p:embeddedFont>
    <p:embeddedFont>
      <p:font typeface="Proxima Nova"/>
      <p:regular r:id="rId55"/>
      <p:bold r:id="rId56"/>
      <p:italic r:id="rId57"/>
      <p:boldItalic r:id="rId58"/>
    </p:embeddedFont>
    <p:embeddedFont>
      <p:font typeface="DM Mono Medium"/>
      <p:regular r:id="rId59"/>
      <p:italic r:id="rId60"/>
    </p:embeddedFont>
    <p:embeddedFont>
      <p:font typeface="DM Mono Light"/>
      <p:regular r:id="rId61"/>
      <p:bold r:id="rId62"/>
      <p:italic r:id="rId63"/>
      <p:boldItalic r:id="rId64"/>
    </p:embeddedFont>
    <p:embeddedFont>
      <p:font typeface="Libre Baskerville"/>
      <p:regular r:id="rId65"/>
      <p:bold r:id="rId66"/>
      <p:italic r:id="rId67"/>
      <p:boldItalic r:id="rId68"/>
    </p:embeddedFont>
    <p:embeddedFont>
      <p:font typeface="Open Sans ExtraBold"/>
      <p:bold r:id="rId69"/>
      <p:boldItalic r:id="rId70"/>
    </p:embeddedFont>
    <p:embeddedFont>
      <p:font typeface="Syne SemiBold"/>
      <p:regular r:id="rId71"/>
      <p:bold r:id="rId72"/>
    </p:embeddedFont>
    <p:embeddedFont>
      <p:font typeface="DM Sans"/>
      <p:regular r:id="rId73"/>
      <p:bold r:id="rId74"/>
      <p:italic r:id="rId75"/>
      <p:boldItalic r:id="rId76"/>
    </p:embeddedFont>
    <p:embeddedFont>
      <p:font typeface="DM Mono"/>
      <p:regular r:id="rId77"/>
      <p:italic r:id="rId78"/>
    </p:embeddedFont>
    <p:embeddedFont>
      <p:font typeface="Open Sans Light"/>
      <p:regular r:id="rId79"/>
      <p:bold r:id="rId80"/>
      <p:italic r:id="rId81"/>
      <p:boldItalic r:id="rId82"/>
    </p:embeddedFont>
    <p:embeddedFont>
      <p:font typeface="Open Sans"/>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43">
          <p15:clr>
            <a:srgbClr val="747775"/>
          </p15:clr>
        </p15:guide>
        <p15:guide id="2" pos="140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43" orient="horz"/>
        <p:guide pos="140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OpenSans-bold.fntdata"/><Relationship Id="rId83" Type="http://schemas.openxmlformats.org/officeDocument/2006/relationships/font" Target="fonts/OpenSans-regular.fntdata"/><Relationship Id="rId42" Type="http://schemas.openxmlformats.org/officeDocument/2006/relationships/slide" Target="slides/slide36.xml"/><Relationship Id="rId86" Type="http://schemas.openxmlformats.org/officeDocument/2006/relationships/font" Target="fonts/OpenSans-boldItalic.fntdata"/><Relationship Id="rId41" Type="http://schemas.openxmlformats.org/officeDocument/2006/relationships/slide" Target="slides/slide35.xml"/><Relationship Id="rId85" Type="http://schemas.openxmlformats.org/officeDocument/2006/relationships/font" Target="fonts/OpenSans-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Light-bold.fntdata"/><Relationship Id="rId82" Type="http://schemas.openxmlformats.org/officeDocument/2006/relationships/font" Target="fonts/OpenSansLight-boldItalic.fntdata"/><Relationship Id="rId81" Type="http://schemas.openxmlformats.org/officeDocument/2006/relationships/font" Target="fonts/OpenSans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DMSans-regular.fntdata"/><Relationship Id="rId72" Type="http://schemas.openxmlformats.org/officeDocument/2006/relationships/font" Target="fonts/SyneSemiBold-bold.fntdata"/><Relationship Id="rId31" Type="http://schemas.openxmlformats.org/officeDocument/2006/relationships/slide" Target="slides/slide25.xml"/><Relationship Id="rId75" Type="http://schemas.openxmlformats.org/officeDocument/2006/relationships/font" Target="fonts/DMSans-italic.fntdata"/><Relationship Id="rId30" Type="http://schemas.openxmlformats.org/officeDocument/2006/relationships/slide" Target="slides/slide24.xml"/><Relationship Id="rId74" Type="http://schemas.openxmlformats.org/officeDocument/2006/relationships/font" Target="fonts/DMSans-bold.fntdata"/><Relationship Id="rId33" Type="http://schemas.openxmlformats.org/officeDocument/2006/relationships/slide" Target="slides/slide27.xml"/><Relationship Id="rId77" Type="http://schemas.openxmlformats.org/officeDocument/2006/relationships/font" Target="fonts/DMMono-regular.fntdata"/><Relationship Id="rId32" Type="http://schemas.openxmlformats.org/officeDocument/2006/relationships/slide" Target="slides/slide26.xml"/><Relationship Id="rId76" Type="http://schemas.openxmlformats.org/officeDocument/2006/relationships/font" Target="fonts/DMSans-boldItalic.fntdata"/><Relationship Id="rId35" Type="http://schemas.openxmlformats.org/officeDocument/2006/relationships/slide" Target="slides/slide29.xml"/><Relationship Id="rId79" Type="http://schemas.openxmlformats.org/officeDocument/2006/relationships/font" Target="fonts/OpenSansLight-regular.fntdata"/><Relationship Id="rId34" Type="http://schemas.openxmlformats.org/officeDocument/2006/relationships/slide" Target="slides/slide28.xml"/><Relationship Id="rId78" Type="http://schemas.openxmlformats.org/officeDocument/2006/relationships/font" Target="fonts/DMMono-italic.fntdata"/><Relationship Id="rId71" Type="http://schemas.openxmlformats.org/officeDocument/2006/relationships/font" Target="fonts/SyneSemiBold-regular.fntdata"/><Relationship Id="rId70" Type="http://schemas.openxmlformats.org/officeDocument/2006/relationships/font" Target="fonts/OpenSansExtraBold-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DMMonoLight-bold.fntdata"/><Relationship Id="rId61" Type="http://schemas.openxmlformats.org/officeDocument/2006/relationships/font" Target="fonts/DMMonoLight-regular.fntdata"/><Relationship Id="rId20" Type="http://schemas.openxmlformats.org/officeDocument/2006/relationships/slide" Target="slides/slide14.xml"/><Relationship Id="rId64" Type="http://schemas.openxmlformats.org/officeDocument/2006/relationships/font" Target="fonts/DMMonoLight-boldItalic.fntdata"/><Relationship Id="rId63" Type="http://schemas.openxmlformats.org/officeDocument/2006/relationships/font" Target="fonts/DMMonoLight-italic.fntdata"/><Relationship Id="rId22" Type="http://schemas.openxmlformats.org/officeDocument/2006/relationships/slide" Target="slides/slide16.xml"/><Relationship Id="rId66" Type="http://schemas.openxmlformats.org/officeDocument/2006/relationships/font" Target="fonts/LibreBaskerville-bold.fntdata"/><Relationship Id="rId21" Type="http://schemas.openxmlformats.org/officeDocument/2006/relationships/slide" Target="slides/slide15.xml"/><Relationship Id="rId65" Type="http://schemas.openxmlformats.org/officeDocument/2006/relationships/font" Target="fonts/LibreBaskerville-regular.fntdata"/><Relationship Id="rId24" Type="http://schemas.openxmlformats.org/officeDocument/2006/relationships/slide" Target="slides/slide18.xml"/><Relationship Id="rId68" Type="http://schemas.openxmlformats.org/officeDocument/2006/relationships/font" Target="fonts/LibreBaskerville-boldItalic.fntdata"/><Relationship Id="rId23" Type="http://schemas.openxmlformats.org/officeDocument/2006/relationships/slide" Target="slides/slide17.xml"/><Relationship Id="rId67" Type="http://schemas.openxmlformats.org/officeDocument/2006/relationships/font" Target="fonts/LibreBaskerville-italic.fntdata"/><Relationship Id="rId60" Type="http://schemas.openxmlformats.org/officeDocument/2006/relationships/font" Target="fonts/DMMonoMedium-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OpenSansExtraBold-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SansMedium-regular.fntdata"/><Relationship Id="rId50" Type="http://schemas.openxmlformats.org/officeDocument/2006/relationships/slide" Target="slides/slide44.xml"/><Relationship Id="rId53" Type="http://schemas.openxmlformats.org/officeDocument/2006/relationships/font" Target="fonts/DMSansMedium-italic.fntdata"/><Relationship Id="rId52" Type="http://schemas.openxmlformats.org/officeDocument/2006/relationships/font" Target="fonts/DMSansMedium-bold.fntdata"/><Relationship Id="rId11" Type="http://schemas.openxmlformats.org/officeDocument/2006/relationships/slide" Target="slides/slide5.xml"/><Relationship Id="rId55" Type="http://schemas.openxmlformats.org/officeDocument/2006/relationships/font" Target="fonts/ProximaNova-regular.fntdata"/><Relationship Id="rId10" Type="http://schemas.openxmlformats.org/officeDocument/2006/relationships/slide" Target="slides/slide4.xml"/><Relationship Id="rId54" Type="http://schemas.openxmlformats.org/officeDocument/2006/relationships/font" Target="fonts/DMSansMedium-boldItalic.fntdata"/><Relationship Id="rId13" Type="http://schemas.openxmlformats.org/officeDocument/2006/relationships/slide" Target="slides/slide7.xml"/><Relationship Id="rId57" Type="http://schemas.openxmlformats.org/officeDocument/2006/relationships/font" Target="fonts/ProximaNova-italic.fntdata"/><Relationship Id="rId12" Type="http://schemas.openxmlformats.org/officeDocument/2006/relationships/slide" Target="slides/slide6.xml"/><Relationship Id="rId56" Type="http://schemas.openxmlformats.org/officeDocument/2006/relationships/font" Target="fonts/ProximaNova-bold.fntdata"/><Relationship Id="rId15" Type="http://schemas.openxmlformats.org/officeDocument/2006/relationships/slide" Target="slides/slide9.xml"/><Relationship Id="rId59" Type="http://schemas.openxmlformats.org/officeDocument/2006/relationships/font" Target="fonts/DMMonoMedium-regular.fntdata"/><Relationship Id="rId14" Type="http://schemas.openxmlformats.org/officeDocument/2006/relationships/slide" Target="slides/slide8.xml"/><Relationship Id="rId58" Type="http://schemas.openxmlformats.org/officeDocument/2006/relationships/font" Target="fonts/ProximaNova-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008de019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008de019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48818c91d_1_7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a48818c91d_1_7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48818c91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3a48818c91d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e2261e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9e2261ee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48818c91d_1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a48818c91d_1_3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48818c91d_1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3a48818c91d_1_3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48818c91d_1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g3a48818c91d_1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48818c91d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a48818c91d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050">
                <a:solidFill>
                  <a:schemeClr val="dk1"/>
                </a:solidFill>
                <a:latin typeface="Calibri"/>
                <a:ea typeface="Calibri"/>
                <a:cs typeface="Calibri"/>
                <a:sym typeface="Calibri"/>
              </a:rPr>
              <a:t>Is currency MXN set up?</a:t>
            </a:r>
            <a:br>
              <a:rPr lang="en" sz="1050">
                <a:solidFill>
                  <a:schemeClr val="dk1"/>
                </a:solidFill>
                <a:latin typeface="Calibri"/>
                <a:ea typeface="Calibri"/>
                <a:cs typeface="Calibri"/>
                <a:sym typeface="Calibri"/>
              </a:rPr>
            </a:br>
            <a:r>
              <a:rPr lang="en" sz="1050">
                <a:solidFill>
                  <a:schemeClr val="dk1"/>
                </a:solidFill>
                <a:latin typeface="Calibri"/>
                <a:ea typeface="Calibri"/>
                <a:cs typeface="Calibri"/>
                <a:sym typeface="Calibri"/>
              </a:rPr>
              <a:t>Are there any companies set up with this currency?</a:t>
            </a:r>
            <a:br>
              <a:rPr lang="en" sz="1050">
                <a:solidFill>
                  <a:schemeClr val="dk1"/>
                </a:solidFill>
                <a:latin typeface="Calibri"/>
                <a:ea typeface="Calibri"/>
                <a:cs typeface="Calibri"/>
                <a:sym typeface="Calibri"/>
              </a:rPr>
            </a:br>
            <a:r>
              <a:rPr lang="en" sz="1050">
                <a:solidFill>
                  <a:schemeClr val="dk1"/>
                </a:solidFill>
                <a:latin typeface="Calibri"/>
                <a:ea typeface="Calibri"/>
                <a:cs typeface="Calibri"/>
                <a:sym typeface="Calibri"/>
              </a:rPr>
              <a:t>What continent is MXN 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a48818c91d_1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a48818c91d_1_2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e9987c53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39e9987c53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a48818c91d_1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a48818c91d_1_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e252dbf2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39e252dbf2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48818c91d_1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g3a48818c91d_1_10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e553d16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g39e553d165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e252dbf2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39e252dbf21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Stress that sometimes you just need information quickly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e252dbf21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39e252dbf21_0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2000"/>
              <a:buFont typeface="Arial"/>
              <a:buNone/>
            </a:pPr>
            <a:r>
              <a:rPr lang="en" sz="1800">
                <a:solidFill>
                  <a:srgbClr val="1A252A"/>
                </a:solidFill>
                <a:latin typeface="DM Sans"/>
                <a:ea typeface="DM Sans"/>
                <a:cs typeface="DM Sans"/>
                <a:sym typeface="DM Sans"/>
              </a:rPr>
              <a:t>Mention reports have to be set up to work</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e553d1652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g39e553d1652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a5471152c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g3a5471152c1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5471152c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a5471152c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9e252dbf21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g39e252dbf21_0_8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a5471152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3a5471152c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Mention that access to all reports is now available and show how can be used to validate results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a5471152c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g3a5471152c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a5471152c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a5471152c1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a5471152c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a5471152c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48818c91d_1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3a48818c91d_1_7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9e252dbf21_0_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39e252dbf21_0_8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9e252dbf21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9e252dbf21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9e252dbf21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39e252dbf21_0_4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9e252dbf21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g39e252dbf21_0_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9e252dbf21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39e252dbf21_0_8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9e252dbf21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39e252dbf21_0_6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Mention that access to all reports is now available and show how can be used to validate results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a48818c91d_1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g3a48818c91d_1_8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a48818c91d_1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g3a48818c91d_1_7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8d361e79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8d361e79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348f5b68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3a348f5b68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67f05824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3a67f058247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67f058247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g3a67f058247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348f5b68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a348f5b68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6bd1209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a6bd1209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6bd1209e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a6bd1209e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6a64ebd998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8" name="Google Shape;608;g36a64ebd998_0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c6e5167de2_18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g2c6e5167de2_18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10" name="Google Shape;10;p2"/>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11" name="Google Shape;11;p2"/>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2" name="Google Shape;12;p2"/>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5" name="Google Shape;15;p3"/>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6" name="Google Shape;16;p3"/>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
        <p:nvSpPr>
          <p:cNvPr id="17" name="Google Shape;17;p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8" name="Google Shape;18;p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rtl="0" algn="l">
              <a:lnSpc>
                <a:spcPct val="85000"/>
              </a:lnSpc>
              <a:spcBef>
                <a:spcPts val="0"/>
              </a:spcBef>
              <a:spcAft>
                <a:spcPts val="0"/>
              </a:spcAft>
              <a:buSzPts val="3600"/>
              <a:buFont typeface="DM Mono"/>
              <a:buNone/>
              <a:defRPr sz="3600">
                <a:latin typeface="DM Mono"/>
                <a:ea typeface="DM Mono"/>
                <a:cs typeface="DM Mono"/>
                <a:sym typeface="DM Mono"/>
              </a:defRPr>
            </a:lvl1pPr>
            <a:lvl2pPr lvl="1" rtl="0" algn="l">
              <a:lnSpc>
                <a:spcPct val="80000"/>
              </a:lnSpc>
              <a:spcBef>
                <a:spcPts val="0"/>
              </a:spcBef>
              <a:spcAft>
                <a:spcPts val="0"/>
              </a:spcAft>
              <a:buSzPts val="3600"/>
              <a:buNone/>
              <a:defRPr sz="3600"/>
            </a:lvl2pPr>
            <a:lvl3pPr lvl="2" rtl="0" algn="l">
              <a:lnSpc>
                <a:spcPct val="80000"/>
              </a:lnSpc>
              <a:spcBef>
                <a:spcPts val="0"/>
              </a:spcBef>
              <a:spcAft>
                <a:spcPts val="0"/>
              </a:spcAft>
              <a:buSzPts val="3600"/>
              <a:buNone/>
              <a:defRPr sz="3600"/>
            </a:lvl3pPr>
            <a:lvl4pPr lvl="3" rtl="0" algn="l">
              <a:lnSpc>
                <a:spcPct val="80000"/>
              </a:lnSpc>
              <a:spcBef>
                <a:spcPts val="0"/>
              </a:spcBef>
              <a:spcAft>
                <a:spcPts val="0"/>
              </a:spcAft>
              <a:buSzPts val="3600"/>
              <a:buNone/>
              <a:defRPr sz="3600"/>
            </a:lvl4pPr>
            <a:lvl5pPr lvl="4" rtl="0" algn="l">
              <a:lnSpc>
                <a:spcPct val="80000"/>
              </a:lnSpc>
              <a:spcBef>
                <a:spcPts val="0"/>
              </a:spcBef>
              <a:spcAft>
                <a:spcPts val="0"/>
              </a:spcAft>
              <a:buSzPts val="3600"/>
              <a:buNone/>
              <a:defRPr sz="3600"/>
            </a:lvl5pPr>
            <a:lvl6pPr lvl="5" rtl="0" algn="l">
              <a:lnSpc>
                <a:spcPct val="80000"/>
              </a:lnSpc>
              <a:spcBef>
                <a:spcPts val="0"/>
              </a:spcBef>
              <a:spcAft>
                <a:spcPts val="0"/>
              </a:spcAft>
              <a:buSzPts val="3600"/>
              <a:buNone/>
              <a:defRPr sz="3600"/>
            </a:lvl6pPr>
            <a:lvl7pPr lvl="6" rtl="0" algn="l">
              <a:lnSpc>
                <a:spcPct val="80000"/>
              </a:lnSpc>
              <a:spcBef>
                <a:spcPts val="0"/>
              </a:spcBef>
              <a:spcAft>
                <a:spcPts val="0"/>
              </a:spcAft>
              <a:buSzPts val="3600"/>
              <a:buNone/>
              <a:defRPr sz="3600"/>
            </a:lvl7pPr>
            <a:lvl8pPr lvl="7" rtl="0" algn="l">
              <a:lnSpc>
                <a:spcPct val="80000"/>
              </a:lnSpc>
              <a:spcBef>
                <a:spcPts val="0"/>
              </a:spcBef>
              <a:spcAft>
                <a:spcPts val="0"/>
              </a:spcAft>
              <a:buSzPts val="3600"/>
              <a:buNone/>
              <a:defRPr sz="3600"/>
            </a:lvl8pPr>
            <a:lvl9pPr lvl="8" rtl="0" algn="l">
              <a:lnSpc>
                <a:spcPct val="80000"/>
              </a:lnSpc>
              <a:spcBef>
                <a:spcPts val="0"/>
              </a:spcBef>
              <a:spcAft>
                <a:spcPts val="0"/>
              </a:spcAft>
              <a:buSzPts val="3600"/>
              <a:buNone/>
              <a:defRPr sz="3600"/>
            </a:lvl9pPr>
          </a:lstStyle>
          <a:p/>
        </p:txBody>
      </p:sp>
      <p:sp>
        <p:nvSpPr>
          <p:cNvPr id="21" name="Google Shape;21;p4"/>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700"/>
              <a:buFont typeface="DM Sans"/>
              <a:buNone/>
              <a:defRPr sz="1700">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22" name="Google Shape;22;p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 name="Google Shape;23;p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24" name="Google Shape;24;p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25" name="Shape 25"/>
        <p:cNvGrpSpPr/>
        <p:nvPr/>
      </p:nvGrpSpPr>
      <p:grpSpPr>
        <a:xfrm>
          <a:off x="0" y="0"/>
          <a:ext cx="0" cy="0"/>
          <a:chOff x="0" y="0"/>
          <a:chExt cx="0" cy="0"/>
        </a:xfrm>
      </p:grpSpPr>
      <p:sp>
        <p:nvSpPr>
          <p:cNvPr id="26" name="Google Shape;26;p5"/>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800"/>
              <a:buFont typeface="DM Mono"/>
              <a:buNone/>
              <a:defRPr>
                <a:latin typeface="DM Mono"/>
                <a:ea typeface="DM Mono"/>
                <a:cs typeface="DM Mono"/>
                <a:sym typeface="DM Mono"/>
              </a:defRPr>
            </a:lvl1pPr>
            <a:lvl2pPr lvl="1" rtl="0" algn="l">
              <a:lnSpc>
                <a:spcPct val="80000"/>
              </a:lnSpc>
              <a:spcBef>
                <a:spcPts val="0"/>
              </a:spcBef>
              <a:spcAft>
                <a:spcPts val="0"/>
              </a:spcAft>
              <a:buSzPts val="2800"/>
              <a:buNone/>
              <a:defRPr/>
            </a:lvl2pPr>
            <a:lvl3pPr lvl="2" rtl="0" algn="l">
              <a:lnSpc>
                <a:spcPct val="80000"/>
              </a:lnSpc>
              <a:spcBef>
                <a:spcPts val="0"/>
              </a:spcBef>
              <a:spcAft>
                <a:spcPts val="0"/>
              </a:spcAft>
              <a:buSzPts val="2800"/>
              <a:buNone/>
              <a:defRPr/>
            </a:lvl3pPr>
            <a:lvl4pPr lvl="3" rtl="0" algn="l">
              <a:lnSpc>
                <a:spcPct val="80000"/>
              </a:lnSpc>
              <a:spcBef>
                <a:spcPts val="0"/>
              </a:spcBef>
              <a:spcAft>
                <a:spcPts val="0"/>
              </a:spcAft>
              <a:buSzPts val="2800"/>
              <a:buNone/>
              <a:defRPr/>
            </a:lvl4pPr>
            <a:lvl5pPr lvl="4" rtl="0" algn="l">
              <a:lnSpc>
                <a:spcPct val="80000"/>
              </a:lnSpc>
              <a:spcBef>
                <a:spcPts val="0"/>
              </a:spcBef>
              <a:spcAft>
                <a:spcPts val="0"/>
              </a:spcAft>
              <a:buSzPts val="2800"/>
              <a:buNone/>
              <a:defRPr/>
            </a:lvl5pPr>
            <a:lvl6pPr lvl="5" rtl="0" algn="l">
              <a:lnSpc>
                <a:spcPct val="80000"/>
              </a:lnSpc>
              <a:spcBef>
                <a:spcPts val="0"/>
              </a:spcBef>
              <a:spcAft>
                <a:spcPts val="0"/>
              </a:spcAft>
              <a:buSzPts val="2800"/>
              <a:buNone/>
              <a:defRPr/>
            </a:lvl6pPr>
            <a:lvl7pPr lvl="6" rtl="0" algn="l">
              <a:lnSpc>
                <a:spcPct val="80000"/>
              </a:lnSpc>
              <a:spcBef>
                <a:spcPts val="0"/>
              </a:spcBef>
              <a:spcAft>
                <a:spcPts val="0"/>
              </a:spcAft>
              <a:buSzPts val="2800"/>
              <a:buNone/>
              <a:defRPr/>
            </a:lvl7pPr>
            <a:lvl8pPr lvl="7" rtl="0" algn="l">
              <a:lnSpc>
                <a:spcPct val="80000"/>
              </a:lnSpc>
              <a:spcBef>
                <a:spcPts val="0"/>
              </a:spcBef>
              <a:spcAft>
                <a:spcPts val="0"/>
              </a:spcAft>
              <a:buSzPts val="2800"/>
              <a:buNone/>
              <a:defRPr/>
            </a:lvl8pPr>
            <a:lvl9pPr lvl="8" rtl="0" algn="l">
              <a:lnSpc>
                <a:spcPct val="80000"/>
              </a:lnSpc>
              <a:spcBef>
                <a:spcPts val="0"/>
              </a:spcBef>
              <a:spcAft>
                <a:spcPts val="0"/>
              </a:spcAft>
              <a:buSzPts val="2800"/>
              <a:buNone/>
              <a:defRPr/>
            </a:lvl9pPr>
          </a:lstStyle>
          <a:p/>
        </p:txBody>
      </p:sp>
      <p:sp>
        <p:nvSpPr>
          <p:cNvPr id="27" name="Google Shape;27;p5"/>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8" name="Google Shape;28;p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9" name="Google Shape;29;p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30" name="Google Shape;30;p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31" name="Shape 31"/>
        <p:cNvGrpSpPr/>
        <p:nvPr/>
      </p:nvGrpSpPr>
      <p:grpSpPr>
        <a:xfrm>
          <a:off x="0" y="0"/>
          <a:ext cx="0" cy="0"/>
          <a:chOff x="0" y="0"/>
          <a:chExt cx="0" cy="0"/>
        </a:xfrm>
      </p:grpSpPr>
      <p:sp>
        <p:nvSpPr>
          <p:cNvPr id="32" name="Google Shape;32;p6"/>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sp>
        <p:nvSpPr>
          <p:cNvPr id="33" name="Google Shape;33;p6"/>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34" name="Google Shape;34;p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35" name="Google Shape;35;p6"/>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36" name="Google Shape;36;p6"/>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sp>
        <p:nvSpPr>
          <p:cNvPr id="39" name="Google Shape;39;p7"/>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rt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pic>
        <p:nvPicPr>
          <p:cNvPr id="40" name="Google Shape;40;p7"/>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41" name="Shape 41"/>
        <p:cNvGrpSpPr/>
        <p:nvPr/>
      </p:nvGrpSpPr>
      <p:grpSpPr>
        <a:xfrm>
          <a:off x="0" y="0"/>
          <a:ext cx="0" cy="0"/>
          <a:chOff x="0" y="0"/>
          <a:chExt cx="0" cy="0"/>
        </a:xfrm>
      </p:grpSpPr>
      <p:sp>
        <p:nvSpPr>
          <p:cNvPr id="42" name="Google Shape;42;p8"/>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rtl="0" algn="l">
              <a:lnSpc>
                <a:spcPct val="80000"/>
              </a:lnSpc>
              <a:spcBef>
                <a:spcPts val="0"/>
              </a:spcBef>
              <a:spcAft>
                <a:spcPts val="0"/>
              </a:spcAft>
              <a:buSzPts val="5200"/>
              <a:buNone/>
              <a:defRPr sz="5200"/>
            </a:lvl2pPr>
            <a:lvl3pPr lvl="2" rtl="0" algn="l">
              <a:lnSpc>
                <a:spcPct val="80000"/>
              </a:lnSpc>
              <a:spcBef>
                <a:spcPts val="0"/>
              </a:spcBef>
              <a:spcAft>
                <a:spcPts val="0"/>
              </a:spcAft>
              <a:buSzPts val="5200"/>
              <a:buNone/>
              <a:defRPr sz="5200"/>
            </a:lvl3pPr>
            <a:lvl4pPr lvl="3" rtl="0" algn="l">
              <a:lnSpc>
                <a:spcPct val="80000"/>
              </a:lnSpc>
              <a:spcBef>
                <a:spcPts val="0"/>
              </a:spcBef>
              <a:spcAft>
                <a:spcPts val="0"/>
              </a:spcAft>
              <a:buSzPts val="5200"/>
              <a:buNone/>
              <a:defRPr sz="5200"/>
            </a:lvl4pPr>
            <a:lvl5pPr lvl="4" rtl="0" algn="l">
              <a:lnSpc>
                <a:spcPct val="80000"/>
              </a:lnSpc>
              <a:spcBef>
                <a:spcPts val="0"/>
              </a:spcBef>
              <a:spcAft>
                <a:spcPts val="0"/>
              </a:spcAft>
              <a:buSzPts val="5200"/>
              <a:buNone/>
              <a:defRPr sz="5200"/>
            </a:lvl5pPr>
            <a:lvl6pPr lvl="5" rtl="0" algn="l">
              <a:lnSpc>
                <a:spcPct val="80000"/>
              </a:lnSpc>
              <a:spcBef>
                <a:spcPts val="0"/>
              </a:spcBef>
              <a:spcAft>
                <a:spcPts val="0"/>
              </a:spcAft>
              <a:buSzPts val="5200"/>
              <a:buNone/>
              <a:defRPr sz="5200"/>
            </a:lvl6pPr>
            <a:lvl7pPr lvl="6" rtl="0" algn="l">
              <a:lnSpc>
                <a:spcPct val="80000"/>
              </a:lnSpc>
              <a:spcBef>
                <a:spcPts val="0"/>
              </a:spcBef>
              <a:spcAft>
                <a:spcPts val="0"/>
              </a:spcAft>
              <a:buSzPts val="5200"/>
              <a:buNone/>
              <a:defRPr sz="5200"/>
            </a:lvl7pPr>
            <a:lvl8pPr lvl="7" rtl="0" algn="l">
              <a:lnSpc>
                <a:spcPct val="80000"/>
              </a:lnSpc>
              <a:spcBef>
                <a:spcPts val="0"/>
              </a:spcBef>
              <a:spcAft>
                <a:spcPts val="0"/>
              </a:spcAft>
              <a:buSzPts val="5200"/>
              <a:buNone/>
              <a:defRPr sz="5200"/>
            </a:lvl8pPr>
            <a:lvl9pPr lvl="8" rtl="0" algn="l">
              <a:lnSpc>
                <a:spcPct val="80000"/>
              </a:lnSpc>
              <a:spcBef>
                <a:spcPts val="0"/>
              </a:spcBef>
              <a:spcAft>
                <a:spcPts val="0"/>
              </a:spcAft>
              <a:buSzPts val="5200"/>
              <a:buNone/>
              <a:defRPr sz="5200"/>
            </a:lvl9pPr>
          </a:lstStyle>
          <a:p/>
        </p:txBody>
      </p:sp>
      <p:sp>
        <p:nvSpPr>
          <p:cNvPr id="43" name="Google Shape;43;p8"/>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SzPts val="1700"/>
              <a:buNone/>
              <a:defRPr sz="1700"/>
            </a:lvl2pPr>
            <a:lvl3pPr lvl="2" rtl="0" algn="l">
              <a:lnSpc>
                <a:spcPct val="100000"/>
              </a:lnSpc>
              <a:spcBef>
                <a:spcPts val="0"/>
              </a:spcBef>
              <a:spcAft>
                <a:spcPts val="0"/>
              </a:spcAft>
              <a:buSzPts val="1700"/>
              <a:buNone/>
              <a:defRPr sz="1700"/>
            </a:lvl3pPr>
            <a:lvl4pPr lvl="3" rtl="0" algn="l">
              <a:lnSpc>
                <a:spcPct val="100000"/>
              </a:lnSpc>
              <a:spcBef>
                <a:spcPts val="0"/>
              </a:spcBef>
              <a:spcAft>
                <a:spcPts val="0"/>
              </a:spcAft>
              <a:buSzPts val="1700"/>
              <a:buNone/>
              <a:defRPr sz="1700"/>
            </a:lvl4pPr>
            <a:lvl5pPr lvl="4" rtl="0" algn="l">
              <a:lnSpc>
                <a:spcPct val="100000"/>
              </a:lnSpc>
              <a:spcBef>
                <a:spcPts val="0"/>
              </a:spcBef>
              <a:spcAft>
                <a:spcPts val="0"/>
              </a:spcAft>
              <a:buSzPts val="1700"/>
              <a:buNone/>
              <a:defRPr sz="1700"/>
            </a:lvl5pPr>
            <a:lvl6pPr lvl="5" rtl="0" algn="l">
              <a:lnSpc>
                <a:spcPct val="100000"/>
              </a:lnSpc>
              <a:spcBef>
                <a:spcPts val="0"/>
              </a:spcBef>
              <a:spcAft>
                <a:spcPts val="0"/>
              </a:spcAft>
              <a:buSzPts val="1700"/>
              <a:buNone/>
              <a:defRPr sz="1700"/>
            </a:lvl6pPr>
            <a:lvl7pPr lvl="6" rtl="0" algn="l">
              <a:lnSpc>
                <a:spcPct val="100000"/>
              </a:lnSpc>
              <a:spcBef>
                <a:spcPts val="0"/>
              </a:spcBef>
              <a:spcAft>
                <a:spcPts val="0"/>
              </a:spcAft>
              <a:buSzPts val="1700"/>
              <a:buNone/>
              <a:defRPr sz="1700"/>
            </a:lvl7pPr>
            <a:lvl8pPr lvl="7" rtl="0" algn="l">
              <a:lnSpc>
                <a:spcPct val="100000"/>
              </a:lnSpc>
              <a:spcBef>
                <a:spcPts val="0"/>
              </a:spcBef>
              <a:spcAft>
                <a:spcPts val="0"/>
              </a:spcAft>
              <a:buSzPts val="1700"/>
              <a:buNone/>
              <a:defRPr sz="1700"/>
            </a:lvl8pPr>
            <a:lvl9pPr lvl="8" rtl="0" algn="l">
              <a:lnSpc>
                <a:spcPct val="100000"/>
              </a:lnSpc>
              <a:spcBef>
                <a:spcPts val="0"/>
              </a:spcBef>
              <a:spcAft>
                <a:spcPts val="0"/>
              </a:spcAft>
              <a:buSzPts val="1700"/>
              <a:buNone/>
              <a:defRPr sz="1700"/>
            </a:lvl9pPr>
          </a:lstStyle>
          <a:p/>
        </p:txBody>
      </p:sp>
      <p:pic>
        <p:nvPicPr>
          <p:cNvPr id="44" name="Google Shape;44;p8"/>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45" name="Google Shape;45;p8"/>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47" name="Shape 47"/>
        <p:cNvGrpSpPr/>
        <p:nvPr/>
      </p:nvGrpSpPr>
      <p:grpSpPr>
        <a:xfrm>
          <a:off x="0" y="0"/>
          <a:ext cx="0" cy="0"/>
          <a:chOff x="0" y="0"/>
          <a:chExt cx="0" cy="0"/>
        </a:xfrm>
      </p:grpSpPr>
      <p:sp>
        <p:nvSpPr>
          <p:cNvPr id="48" name="Google Shape;48;p1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49" name="Google Shape;49;p10"/>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rt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rtl="0" algn="l">
              <a:lnSpc>
                <a:spcPct val="80000"/>
              </a:lnSpc>
              <a:spcBef>
                <a:spcPts val="0"/>
              </a:spcBef>
              <a:spcAft>
                <a:spcPts val="0"/>
              </a:spcAft>
              <a:buClr>
                <a:schemeClr val="lt1"/>
              </a:buClr>
              <a:buSzPts val="3600"/>
              <a:buNone/>
              <a:defRPr sz="3600">
                <a:solidFill>
                  <a:schemeClr val="lt1"/>
                </a:solidFill>
              </a:defRPr>
            </a:lvl2pPr>
            <a:lvl3pPr lvl="2" rtl="0" algn="l">
              <a:lnSpc>
                <a:spcPct val="80000"/>
              </a:lnSpc>
              <a:spcBef>
                <a:spcPts val="0"/>
              </a:spcBef>
              <a:spcAft>
                <a:spcPts val="0"/>
              </a:spcAft>
              <a:buClr>
                <a:schemeClr val="lt1"/>
              </a:buClr>
              <a:buSzPts val="3600"/>
              <a:buNone/>
              <a:defRPr sz="3600">
                <a:solidFill>
                  <a:schemeClr val="lt1"/>
                </a:solidFill>
              </a:defRPr>
            </a:lvl3pPr>
            <a:lvl4pPr lvl="3" rtl="0" algn="l">
              <a:lnSpc>
                <a:spcPct val="80000"/>
              </a:lnSpc>
              <a:spcBef>
                <a:spcPts val="0"/>
              </a:spcBef>
              <a:spcAft>
                <a:spcPts val="0"/>
              </a:spcAft>
              <a:buClr>
                <a:schemeClr val="lt1"/>
              </a:buClr>
              <a:buSzPts val="3600"/>
              <a:buNone/>
              <a:defRPr sz="3600">
                <a:solidFill>
                  <a:schemeClr val="lt1"/>
                </a:solidFill>
              </a:defRPr>
            </a:lvl4pPr>
            <a:lvl5pPr lvl="4" rtl="0" algn="l">
              <a:lnSpc>
                <a:spcPct val="80000"/>
              </a:lnSpc>
              <a:spcBef>
                <a:spcPts val="0"/>
              </a:spcBef>
              <a:spcAft>
                <a:spcPts val="0"/>
              </a:spcAft>
              <a:buClr>
                <a:schemeClr val="lt1"/>
              </a:buClr>
              <a:buSzPts val="3600"/>
              <a:buNone/>
              <a:defRPr sz="3600">
                <a:solidFill>
                  <a:schemeClr val="lt1"/>
                </a:solidFill>
              </a:defRPr>
            </a:lvl5pPr>
            <a:lvl6pPr lvl="5" rtl="0" algn="l">
              <a:lnSpc>
                <a:spcPct val="80000"/>
              </a:lnSpc>
              <a:spcBef>
                <a:spcPts val="0"/>
              </a:spcBef>
              <a:spcAft>
                <a:spcPts val="0"/>
              </a:spcAft>
              <a:buClr>
                <a:schemeClr val="lt1"/>
              </a:buClr>
              <a:buSzPts val="3600"/>
              <a:buNone/>
              <a:defRPr sz="3600">
                <a:solidFill>
                  <a:schemeClr val="lt1"/>
                </a:solidFill>
              </a:defRPr>
            </a:lvl6pPr>
            <a:lvl7pPr lvl="6" rtl="0" algn="l">
              <a:lnSpc>
                <a:spcPct val="80000"/>
              </a:lnSpc>
              <a:spcBef>
                <a:spcPts val="0"/>
              </a:spcBef>
              <a:spcAft>
                <a:spcPts val="0"/>
              </a:spcAft>
              <a:buClr>
                <a:schemeClr val="lt1"/>
              </a:buClr>
              <a:buSzPts val="3600"/>
              <a:buNone/>
              <a:defRPr sz="3600">
                <a:solidFill>
                  <a:schemeClr val="lt1"/>
                </a:solidFill>
              </a:defRPr>
            </a:lvl7pPr>
            <a:lvl8pPr lvl="7" rtl="0" algn="l">
              <a:lnSpc>
                <a:spcPct val="80000"/>
              </a:lnSpc>
              <a:spcBef>
                <a:spcPts val="0"/>
              </a:spcBef>
              <a:spcAft>
                <a:spcPts val="0"/>
              </a:spcAft>
              <a:buClr>
                <a:schemeClr val="lt1"/>
              </a:buClr>
              <a:buSzPts val="3600"/>
              <a:buNone/>
              <a:defRPr sz="3600">
                <a:solidFill>
                  <a:schemeClr val="lt1"/>
                </a:solidFill>
              </a:defRPr>
            </a:lvl8pPr>
            <a:lvl9pPr lvl="8" rtl="0" algn="l">
              <a:lnSpc>
                <a:spcPct val="80000"/>
              </a:lnSpc>
              <a:spcBef>
                <a:spcPts val="0"/>
              </a:spcBef>
              <a:spcAft>
                <a:spcPts val="0"/>
              </a:spcAft>
              <a:buClr>
                <a:schemeClr val="lt1"/>
              </a:buClr>
              <a:buSzPts val="3600"/>
              <a:buNone/>
              <a:defRPr sz="3600">
                <a:solidFill>
                  <a:schemeClr val="lt1"/>
                </a:solidFill>
              </a:defRPr>
            </a:lvl9pPr>
          </a:lstStyle>
          <a:p/>
        </p:txBody>
      </p:sp>
      <p:sp>
        <p:nvSpPr>
          <p:cNvPr id="50" name="Google Shape;50;p10"/>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rtl="0" algn="l">
              <a:lnSpc>
                <a:spcPct val="100000"/>
              </a:lnSpc>
              <a:spcBef>
                <a:spcPts val="0"/>
              </a:spcBef>
              <a:spcAft>
                <a:spcPts val="0"/>
              </a:spcAft>
              <a:buClr>
                <a:schemeClr val="lt1"/>
              </a:buClr>
              <a:buSzPts val="1700"/>
              <a:buNone/>
              <a:defRPr sz="1700">
                <a:solidFill>
                  <a:schemeClr val="lt1"/>
                </a:solidFill>
              </a:defRPr>
            </a:lvl2pPr>
            <a:lvl3pPr lvl="2" rtl="0" algn="l">
              <a:lnSpc>
                <a:spcPct val="100000"/>
              </a:lnSpc>
              <a:spcBef>
                <a:spcPts val="0"/>
              </a:spcBef>
              <a:spcAft>
                <a:spcPts val="0"/>
              </a:spcAft>
              <a:buClr>
                <a:schemeClr val="lt1"/>
              </a:buClr>
              <a:buSzPts val="1700"/>
              <a:buNone/>
              <a:defRPr sz="1700">
                <a:solidFill>
                  <a:schemeClr val="lt1"/>
                </a:solidFill>
              </a:defRPr>
            </a:lvl3pPr>
            <a:lvl4pPr lvl="3" rtl="0" algn="l">
              <a:lnSpc>
                <a:spcPct val="100000"/>
              </a:lnSpc>
              <a:spcBef>
                <a:spcPts val="0"/>
              </a:spcBef>
              <a:spcAft>
                <a:spcPts val="0"/>
              </a:spcAft>
              <a:buClr>
                <a:schemeClr val="lt1"/>
              </a:buClr>
              <a:buSzPts val="1700"/>
              <a:buNone/>
              <a:defRPr sz="1700">
                <a:solidFill>
                  <a:schemeClr val="lt1"/>
                </a:solidFill>
              </a:defRPr>
            </a:lvl4pPr>
            <a:lvl5pPr lvl="4" rtl="0" algn="l">
              <a:lnSpc>
                <a:spcPct val="100000"/>
              </a:lnSpc>
              <a:spcBef>
                <a:spcPts val="0"/>
              </a:spcBef>
              <a:spcAft>
                <a:spcPts val="0"/>
              </a:spcAft>
              <a:buClr>
                <a:schemeClr val="lt1"/>
              </a:buClr>
              <a:buSzPts val="1700"/>
              <a:buNone/>
              <a:defRPr sz="1700">
                <a:solidFill>
                  <a:schemeClr val="lt1"/>
                </a:solidFill>
              </a:defRPr>
            </a:lvl5pPr>
            <a:lvl6pPr lvl="5" rtl="0" algn="l">
              <a:lnSpc>
                <a:spcPct val="100000"/>
              </a:lnSpc>
              <a:spcBef>
                <a:spcPts val="0"/>
              </a:spcBef>
              <a:spcAft>
                <a:spcPts val="0"/>
              </a:spcAft>
              <a:buClr>
                <a:schemeClr val="lt1"/>
              </a:buClr>
              <a:buSzPts val="1700"/>
              <a:buNone/>
              <a:defRPr sz="1700">
                <a:solidFill>
                  <a:schemeClr val="lt1"/>
                </a:solidFill>
              </a:defRPr>
            </a:lvl6pPr>
            <a:lvl7pPr lvl="6" rtl="0" algn="l">
              <a:lnSpc>
                <a:spcPct val="100000"/>
              </a:lnSpc>
              <a:spcBef>
                <a:spcPts val="0"/>
              </a:spcBef>
              <a:spcAft>
                <a:spcPts val="0"/>
              </a:spcAft>
              <a:buClr>
                <a:schemeClr val="lt1"/>
              </a:buClr>
              <a:buSzPts val="1700"/>
              <a:buNone/>
              <a:defRPr sz="1700">
                <a:solidFill>
                  <a:schemeClr val="lt1"/>
                </a:solidFill>
              </a:defRPr>
            </a:lvl7pPr>
            <a:lvl8pPr lvl="7" rtl="0" algn="l">
              <a:lnSpc>
                <a:spcPct val="100000"/>
              </a:lnSpc>
              <a:spcBef>
                <a:spcPts val="0"/>
              </a:spcBef>
              <a:spcAft>
                <a:spcPts val="0"/>
              </a:spcAft>
              <a:buClr>
                <a:schemeClr val="lt1"/>
              </a:buClr>
              <a:buSzPts val="1700"/>
              <a:buNone/>
              <a:defRPr sz="1700">
                <a:solidFill>
                  <a:schemeClr val="lt1"/>
                </a:solidFill>
              </a:defRPr>
            </a:lvl8pPr>
            <a:lvl9pPr lvl="8" rtl="0" algn="l">
              <a:lnSpc>
                <a:spcPct val="100000"/>
              </a:lnSpc>
              <a:spcBef>
                <a:spcPts val="0"/>
              </a:spcBef>
              <a:spcAft>
                <a:spcPts val="0"/>
              </a:spcAft>
              <a:buClr>
                <a:schemeClr val="lt1"/>
              </a:buClr>
              <a:buSzPts val="1700"/>
              <a:buNone/>
              <a:defRPr sz="1700">
                <a:solidFill>
                  <a:schemeClr val="lt1"/>
                </a:solidFill>
              </a:defRPr>
            </a:lvl9pPr>
          </a:lstStyle>
          <a:p/>
        </p:txBody>
      </p:sp>
      <p:pic>
        <p:nvPicPr>
          <p:cNvPr id="51" name="Google Shape;51;p10"/>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52" name="Google Shape;52;p1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53" name="Shape 53"/>
        <p:cNvGrpSpPr/>
        <p:nvPr/>
      </p:nvGrpSpPr>
      <p:grpSpPr>
        <a:xfrm>
          <a:off x="0" y="0"/>
          <a:ext cx="0" cy="0"/>
          <a:chOff x="0" y="0"/>
          <a:chExt cx="0" cy="0"/>
        </a:xfrm>
      </p:grpSpPr>
      <p:sp>
        <p:nvSpPr>
          <p:cNvPr id="54" name="Google Shape;54;p11"/>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55" name="Google Shape;55;p11"/>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6" name="Google Shape;56;p11"/>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7" name="Google Shape;57;p1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58" name="Google Shape;58;p11"/>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59" name="Google Shape;59;p1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60" name="Shape 60"/>
        <p:cNvGrpSpPr/>
        <p:nvPr/>
      </p:nvGrpSpPr>
      <p:grpSpPr>
        <a:xfrm>
          <a:off x="0" y="0"/>
          <a:ext cx="0" cy="0"/>
          <a:chOff x="0" y="0"/>
          <a:chExt cx="0" cy="0"/>
        </a:xfrm>
      </p:grpSpPr>
      <p:sp>
        <p:nvSpPr>
          <p:cNvPr id="61" name="Google Shape;61;p12"/>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SzPts val="4800"/>
              <a:buFont typeface="DM Mono"/>
              <a:buNone/>
              <a:defRPr sz="4800">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2" name="Google Shape;62;p12"/>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63" name="Shape 63"/>
        <p:cNvGrpSpPr/>
        <p:nvPr/>
      </p:nvGrpSpPr>
      <p:grpSpPr>
        <a:xfrm>
          <a:off x="0" y="0"/>
          <a:ext cx="0" cy="0"/>
          <a:chOff x="0" y="0"/>
          <a:chExt cx="0" cy="0"/>
        </a:xfrm>
      </p:grpSpPr>
      <p:sp>
        <p:nvSpPr>
          <p:cNvPr id="64" name="Google Shape;64;p13"/>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SzPts val="4800"/>
              <a:buFont typeface="DM Mono"/>
              <a:buNone/>
              <a:defRPr sz="4800">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5" name="Google Shape;65;p13"/>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66" name="Shape 66"/>
        <p:cNvGrpSpPr/>
        <p:nvPr/>
      </p:nvGrpSpPr>
      <p:grpSpPr>
        <a:xfrm>
          <a:off x="0" y="0"/>
          <a:ext cx="0" cy="0"/>
          <a:chOff x="0" y="0"/>
          <a:chExt cx="0" cy="0"/>
        </a:xfrm>
      </p:grpSpPr>
      <p:sp>
        <p:nvSpPr>
          <p:cNvPr id="67" name="Google Shape;67;p14"/>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rt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rtl="0"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8" name="Google Shape;68;p14"/>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69" name="Shape 69"/>
        <p:cNvGrpSpPr/>
        <p:nvPr/>
      </p:nvGrpSpPr>
      <p:grpSpPr>
        <a:xfrm>
          <a:off x="0" y="0"/>
          <a:ext cx="0" cy="0"/>
          <a:chOff x="0" y="0"/>
          <a:chExt cx="0" cy="0"/>
        </a:xfrm>
      </p:grpSpPr>
      <p:sp>
        <p:nvSpPr>
          <p:cNvPr id="70" name="Google Shape;70;p15"/>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rtl="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rtl="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rtl="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rtl="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rtl="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rtl="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rtl="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rtl="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rtl="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71" name="Google Shape;71;p15"/>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72" name="Google Shape;72;p1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73" name="Google Shape;73;p1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74" name="Google Shape;74;p1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75" name="Shape 75"/>
        <p:cNvGrpSpPr/>
        <p:nvPr/>
      </p:nvGrpSpPr>
      <p:grpSpPr>
        <a:xfrm>
          <a:off x="0" y="0"/>
          <a:ext cx="0" cy="0"/>
          <a:chOff x="0" y="0"/>
          <a:chExt cx="0" cy="0"/>
        </a:xfrm>
      </p:grpSpPr>
      <p:pic>
        <p:nvPicPr>
          <p:cNvPr id="76" name="Google Shape;76;p1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79" name="Google Shape;79;p1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80" name="Google Shape;80;p1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81" name="Google Shape;81;p1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82" name="Shape 82"/>
        <p:cNvGrpSpPr/>
        <p:nvPr/>
      </p:nvGrpSpPr>
      <p:grpSpPr>
        <a:xfrm>
          <a:off x="0" y="0"/>
          <a:ext cx="0" cy="0"/>
          <a:chOff x="0" y="0"/>
          <a:chExt cx="0" cy="0"/>
        </a:xfrm>
      </p:grpSpPr>
      <p:sp>
        <p:nvSpPr>
          <p:cNvPr id="83" name="Google Shape;83;p1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84" name="Google Shape;84;p18"/>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85" name="Google Shape;85;p1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86" name="Shape 86"/>
        <p:cNvGrpSpPr/>
        <p:nvPr/>
      </p:nvGrpSpPr>
      <p:grpSpPr>
        <a:xfrm>
          <a:off x="0" y="0"/>
          <a:ext cx="0" cy="0"/>
          <a:chOff x="0" y="0"/>
          <a:chExt cx="0" cy="0"/>
        </a:xfrm>
      </p:grpSpPr>
      <p:sp>
        <p:nvSpPr>
          <p:cNvPr id="87" name="Google Shape;87;p19"/>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88" name="Google Shape;88;p19"/>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89" name="Google Shape;89;p19"/>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91" name="Google Shape;91;p1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92" name="Shape 92"/>
        <p:cNvGrpSpPr/>
        <p:nvPr/>
      </p:nvGrpSpPr>
      <p:grpSpPr>
        <a:xfrm>
          <a:off x="0" y="0"/>
          <a:ext cx="0" cy="0"/>
          <a:chOff x="0" y="0"/>
          <a:chExt cx="0" cy="0"/>
        </a:xfrm>
      </p:grpSpPr>
      <p:sp>
        <p:nvSpPr>
          <p:cNvPr id="93" name="Google Shape;93;p2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94" name="Shape 94"/>
        <p:cNvGrpSpPr/>
        <p:nvPr/>
      </p:nvGrpSpPr>
      <p:grpSpPr>
        <a:xfrm>
          <a:off x="0" y="0"/>
          <a:ext cx="0" cy="0"/>
          <a:chOff x="0" y="0"/>
          <a:chExt cx="0" cy="0"/>
        </a:xfrm>
      </p:grpSpPr>
      <p:sp>
        <p:nvSpPr>
          <p:cNvPr id="95" name="Google Shape;95;p2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96" name="Google Shape;96;p21"/>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97" name="Google Shape;97;p2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chemeClr val="lt1"/>
                </a:solidFill>
                <a:latin typeface="DM Sans"/>
                <a:ea typeface="DM Sans"/>
                <a:cs typeface="DM Sans"/>
                <a:sym typeface="DM Sans"/>
              </a:rPr>
              <a:t>Copyright © 2024 Kyriba Corp. All rights reserved.</a:t>
            </a:r>
            <a:endParaRPr sz="600">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lt1"/>
              </a:solidFill>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98" name="Shape 98"/>
        <p:cNvGrpSpPr/>
        <p:nvPr/>
      </p:nvGrpSpPr>
      <p:grpSpPr>
        <a:xfrm>
          <a:off x="0" y="0"/>
          <a:ext cx="0" cy="0"/>
          <a:chOff x="0" y="0"/>
          <a:chExt cx="0" cy="0"/>
        </a:xfrm>
      </p:grpSpPr>
      <p:sp>
        <p:nvSpPr>
          <p:cNvPr id="99" name="Google Shape;99;p22"/>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rtl="0"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100" name="Google Shape;100;p22"/>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rtl="0"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101" name="Google Shape;101;p22"/>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102" name="Shape 102"/>
        <p:cNvGrpSpPr/>
        <p:nvPr/>
      </p:nvGrpSpPr>
      <p:grpSpPr>
        <a:xfrm>
          <a:off x="0" y="0"/>
          <a:ext cx="0" cy="0"/>
          <a:chOff x="0" y="0"/>
          <a:chExt cx="0" cy="0"/>
        </a:xfrm>
      </p:grpSpPr>
      <p:sp>
        <p:nvSpPr>
          <p:cNvPr id="103" name="Google Shape;103;p23"/>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04" name="Google Shape;104;p23"/>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05" name="Google Shape;105;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106" name="Google Shape;106;p23"/>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07" name="Google Shape;107;p2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08" name="Google Shape;108;p2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109" name="Shape 109"/>
        <p:cNvGrpSpPr/>
        <p:nvPr/>
      </p:nvGrpSpPr>
      <p:grpSpPr>
        <a:xfrm>
          <a:off x="0" y="0"/>
          <a:ext cx="0" cy="0"/>
          <a:chOff x="0" y="0"/>
          <a:chExt cx="0" cy="0"/>
        </a:xfrm>
      </p:grpSpPr>
      <p:sp>
        <p:nvSpPr>
          <p:cNvPr id="110" name="Google Shape;110;p24"/>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rtl="0" algn="l">
              <a:lnSpc>
                <a:spcPct val="80000"/>
              </a:lnSpc>
              <a:spcBef>
                <a:spcPts val="0"/>
              </a:spcBef>
              <a:spcAft>
                <a:spcPts val="0"/>
              </a:spcAft>
              <a:buSzPts val="2000"/>
              <a:buFont typeface="DM Mono"/>
              <a:buNone/>
              <a:defRPr sz="2000">
                <a:latin typeface="DM Mono"/>
                <a:ea typeface="DM Mono"/>
                <a:cs typeface="DM Mono"/>
                <a:sym typeface="DM Mono"/>
              </a:defRPr>
            </a:lvl1pPr>
            <a:lvl2pPr lvl="1" rtl="0" algn="l">
              <a:lnSpc>
                <a:spcPct val="80000"/>
              </a:lnSpc>
              <a:spcBef>
                <a:spcPts val="0"/>
              </a:spcBef>
              <a:spcAft>
                <a:spcPts val="0"/>
              </a:spcAft>
              <a:buSzPts val="2000"/>
              <a:buNone/>
              <a:defRPr sz="2000"/>
            </a:lvl2pPr>
            <a:lvl3pPr lvl="2" rtl="0" algn="l">
              <a:lnSpc>
                <a:spcPct val="80000"/>
              </a:lnSpc>
              <a:spcBef>
                <a:spcPts val="0"/>
              </a:spcBef>
              <a:spcAft>
                <a:spcPts val="0"/>
              </a:spcAft>
              <a:buSzPts val="2000"/>
              <a:buNone/>
              <a:defRPr sz="2000"/>
            </a:lvl3pPr>
            <a:lvl4pPr lvl="3" rtl="0" algn="l">
              <a:lnSpc>
                <a:spcPct val="80000"/>
              </a:lnSpc>
              <a:spcBef>
                <a:spcPts val="0"/>
              </a:spcBef>
              <a:spcAft>
                <a:spcPts val="0"/>
              </a:spcAft>
              <a:buSzPts val="2000"/>
              <a:buNone/>
              <a:defRPr sz="2000"/>
            </a:lvl4pPr>
            <a:lvl5pPr lvl="4" rtl="0" algn="l">
              <a:lnSpc>
                <a:spcPct val="80000"/>
              </a:lnSpc>
              <a:spcBef>
                <a:spcPts val="0"/>
              </a:spcBef>
              <a:spcAft>
                <a:spcPts val="0"/>
              </a:spcAft>
              <a:buSzPts val="2000"/>
              <a:buNone/>
              <a:defRPr sz="2000"/>
            </a:lvl5pPr>
            <a:lvl6pPr lvl="5" rtl="0" algn="l">
              <a:lnSpc>
                <a:spcPct val="80000"/>
              </a:lnSpc>
              <a:spcBef>
                <a:spcPts val="0"/>
              </a:spcBef>
              <a:spcAft>
                <a:spcPts val="0"/>
              </a:spcAft>
              <a:buSzPts val="2000"/>
              <a:buNone/>
              <a:defRPr sz="2000"/>
            </a:lvl6pPr>
            <a:lvl7pPr lvl="6" rtl="0" algn="l">
              <a:lnSpc>
                <a:spcPct val="80000"/>
              </a:lnSpc>
              <a:spcBef>
                <a:spcPts val="0"/>
              </a:spcBef>
              <a:spcAft>
                <a:spcPts val="0"/>
              </a:spcAft>
              <a:buSzPts val="2000"/>
              <a:buNone/>
              <a:defRPr sz="2000"/>
            </a:lvl7pPr>
            <a:lvl8pPr lvl="7" rtl="0" algn="l">
              <a:lnSpc>
                <a:spcPct val="80000"/>
              </a:lnSpc>
              <a:spcBef>
                <a:spcPts val="0"/>
              </a:spcBef>
              <a:spcAft>
                <a:spcPts val="0"/>
              </a:spcAft>
              <a:buSzPts val="2000"/>
              <a:buNone/>
              <a:defRPr sz="2000"/>
            </a:lvl8pPr>
            <a:lvl9pPr lvl="8" rtl="0" algn="l">
              <a:lnSpc>
                <a:spcPct val="80000"/>
              </a:lnSpc>
              <a:spcBef>
                <a:spcPts val="0"/>
              </a:spcBef>
              <a:spcAft>
                <a:spcPts val="0"/>
              </a:spcAft>
              <a:buSzPts val="2000"/>
              <a:buNone/>
              <a:defRPr sz="2000"/>
            </a:lvl9pPr>
          </a:lstStyle>
          <a:p/>
        </p:txBody>
      </p:sp>
      <p:sp>
        <p:nvSpPr>
          <p:cNvPr id="111" name="Google Shape;111;p24"/>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rtl="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rtl="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rtl="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rtl="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rtl="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rtl="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rtl="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rtl="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12" name="Google Shape;112;p24"/>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4"/>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rtl="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rtl="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rtl="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rtl="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rtl="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rtl="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rtl="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rtl="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rtl="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114" name="Shape 114"/>
        <p:cNvGrpSpPr/>
        <p:nvPr/>
      </p:nvGrpSpPr>
      <p:grpSpPr>
        <a:xfrm>
          <a:off x="0" y="0"/>
          <a:ext cx="0" cy="0"/>
          <a:chOff x="0" y="0"/>
          <a:chExt cx="0" cy="0"/>
        </a:xfrm>
      </p:grpSpPr>
      <p:sp>
        <p:nvSpPr>
          <p:cNvPr id="115" name="Google Shape;115;p25"/>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16" name="Google Shape;116;p2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17" name="Google Shape;117;p2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118" name="Shape 118"/>
        <p:cNvGrpSpPr/>
        <p:nvPr/>
      </p:nvGrpSpPr>
      <p:grpSpPr>
        <a:xfrm>
          <a:off x="0" y="0"/>
          <a:ext cx="0" cy="0"/>
          <a:chOff x="0" y="0"/>
          <a:chExt cx="0" cy="0"/>
        </a:xfrm>
      </p:grpSpPr>
      <p:sp>
        <p:nvSpPr>
          <p:cNvPr id="119" name="Google Shape;119;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rt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rtl="0" algn="ctr">
              <a:lnSpc>
                <a:spcPct val="80000"/>
              </a:lnSpc>
              <a:spcBef>
                <a:spcPts val="0"/>
              </a:spcBef>
              <a:spcAft>
                <a:spcPts val="0"/>
              </a:spcAft>
              <a:buSzPts val="12000"/>
              <a:buNone/>
              <a:defRPr sz="12000"/>
            </a:lvl2pPr>
            <a:lvl3pPr lvl="2" rtl="0" algn="ctr">
              <a:lnSpc>
                <a:spcPct val="80000"/>
              </a:lnSpc>
              <a:spcBef>
                <a:spcPts val="0"/>
              </a:spcBef>
              <a:spcAft>
                <a:spcPts val="0"/>
              </a:spcAft>
              <a:buSzPts val="12000"/>
              <a:buNone/>
              <a:defRPr sz="12000"/>
            </a:lvl3pPr>
            <a:lvl4pPr lvl="3" rtl="0" algn="ctr">
              <a:lnSpc>
                <a:spcPct val="80000"/>
              </a:lnSpc>
              <a:spcBef>
                <a:spcPts val="0"/>
              </a:spcBef>
              <a:spcAft>
                <a:spcPts val="0"/>
              </a:spcAft>
              <a:buSzPts val="12000"/>
              <a:buNone/>
              <a:defRPr sz="12000"/>
            </a:lvl4pPr>
            <a:lvl5pPr lvl="4" rtl="0" algn="ctr">
              <a:lnSpc>
                <a:spcPct val="80000"/>
              </a:lnSpc>
              <a:spcBef>
                <a:spcPts val="0"/>
              </a:spcBef>
              <a:spcAft>
                <a:spcPts val="0"/>
              </a:spcAft>
              <a:buSzPts val="12000"/>
              <a:buNone/>
              <a:defRPr sz="12000"/>
            </a:lvl5pPr>
            <a:lvl6pPr lvl="5" rtl="0" algn="ctr">
              <a:lnSpc>
                <a:spcPct val="80000"/>
              </a:lnSpc>
              <a:spcBef>
                <a:spcPts val="0"/>
              </a:spcBef>
              <a:spcAft>
                <a:spcPts val="0"/>
              </a:spcAft>
              <a:buSzPts val="12000"/>
              <a:buNone/>
              <a:defRPr sz="12000"/>
            </a:lvl6pPr>
            <a:lvl7pPr lvl="6" rtl="0" algn="ctr">
              <a:lnSpc>
                <a:spcPct val="80000"/>
              </a:lnSpc>
              <a:spcBef>
                <a:spcPts val="0"/>
              </a:spcBef>
              <a:spcAft>
                <a:spcPts val="0"/>
              </a:spcAft>
              <a:buSzPts val="12000"/>
              <a:buNone/>
              <a:defRPr sz="12000"/>
            </a:lvl7pPr>
            <a:lvl8pPr lvl="7" rtl="0" algn="ctr">
              <a:lnSpc>
                <a:spcPct val="80000"/>
              </a:lnSpc>
              <a:spcBef>
                <a:spcPts val="0"/>
              </a:spcBef>
              <a:spcAft>
                <a:spcPts val="0"/>
              </a:spcAft>
              <a:buSzPts val="12000"/>
              <a:buNone/>
              <a:defRPr sz="12000"/>
            </a:lvl8pPr>
            <a:lvl9pPr lvl="8" rtl="0" algn="ctr">
              <a:lnSpc>
                <a:spcPct val="80000"/>
              </a:lnSpc>
              <a:spcBef>
                <a:spcPts val="0"/>
              </a:spcBef>
              <a:spcAft>
                <a:spcPts val="0"/>
              </a:spcAft>
              <a:buSzPts val="12000"/>
              <a:buNone/>
              <a:defRPr sz="12000"/>
            </a:lvl9pPr>
          </a:lstStyle>
          <a:p>
            <a:r>
              <a:t>xx%</a:t>
            </a:r>
          </a:p>
        </p:txBody>
      </p:sp>
      <p:sp>
        <p:nvSpPr>
          <p:cNvPr id="120" name="Google Shape;120;p26"/>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rtl="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rtl="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rtl="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rtl="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rtl="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rtl="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rtl="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rtl="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rtl="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121" name="Google Shape;121;p26"/>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22" name="Google Shape;122;p2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23" name="Google Shape;123;p2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ext Slide">
  <p:cSld name="1_Text Slide">
    <p:spTree>
      <p:nvGrpSpPr>
        <p:cNvPr id="124" name="Shape 124"/>
        <p:cNvGrpSpPr/>
        <p:nvPr/>
      </p:nvGrpSpPr>
      <p:grpSpPr>
        <a:xfrm>
          <a:off x="0" y="0"/>
          <a:ext cx="0" cy="0"/>
          <a:chOff x="0" y="0"/>
          <a:chExt cx="0" cy="0"/>
        </a:xfrm>
      </p:grpSpPr>
      <p:pic>
        <p:nvPicPr>
          <p:cNvPr id="125" name="Google Shape;125;p27"/>
          <p:cNvPicPr preferRelativeResize="0"/>
          <p:nvPr/>
        </p:nvPicPr>
        <p:blipFill rotWithShape="1">
          <a:blip r:embed="rId2">
            <a:alphaModFix/>
          </a:blip>
          <a:srcRect b="0" l="0" r="0" t="0"/>
          <a:stretch/>
        </p:blipFill>
        <p:spPr>
          <a:xfrm>
            <a:off x="0" y="1"/>
            <a:ext cx="9143998" cy="5143499"/>
          </a:xfrm>
          <a:prstGeom prst="rect">
            <a:avLst/>
          </a:prstGeom>
          <a:noFill/>
          <a:ln>
            <a:noFill/>
          </a:ln>
        </p:spPr>
      </p:pic>
      <p:pic>
        <p:nvPicPr>
          <p:cNvPr id="126" name="Google Shape;126;p27"/>
          <p:cNvPicPr preferRelativeResize="0"/>
          <p:nvPr/>
        </p:nvPicPr>
        <p:blipFill rotWithShape="1">
          <a:blip r:embed="rId3">
            <a:alphaModFix/>
          </a:blip>
          <a:srcRect b="0" l="0" r="0" t="0"/>
          <a:stretch/>
        </p:blipFill>
        <p:spPr>
          <a:xfrm>
            <a:off x="8338948" y="4865533"/>
            <a:ext cx="492000" cy="167185"/>
          </a:xfrm>
          <a:prstGeom prst="rect">
            <a:avLst/>
          </a:prstGeom>
          <a:noFill/>
          <a:ln>
            <a:noFill/>
          </a:ln>
        </p:spPr>
      </p:pic>
      <p:sp>
        <p:nvSpPr>
          <p:cNvPr id="127" name="Google Shape;127;p27"/>
          <p:cNvSpPr txBox="1"/>
          <p:nvPr/>
        </p:nvSpPr>
        <p:spPr>
          <a:xfrm>
            <a:off x="890193" y="4925177"/>
            <a:ext cx="3393900" cy="771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Open Sans Light"/>
              <a:buNone/>
            </a:pPr>
            <a:r>
              <a:rPr b="0" i="0" lang="en" sz="500" u="none" cap="none" strike="noStrike">
                <a:solidFill>
                  <a:schemeClr val="lt2"/>
                </a:solidFill>
                <a:latin typeface="Open Sans Light"/>
                <a:ea typeface="Open Sans Light"/>
                <a:cs typeface="Open Sans Light"/>
                <a:sym typeface="Open Sans Light"/>
              </a:rPr>
              <a:t>Copyright © 2023 Kyriba Corp. All rights reserved.</a:t>
            </a:r>
            <a:endParaRPr b="0" i="1" sz="500" u="none" cap="none" strike="noStrike">
              <a:solidFill>
                <a:schemeClr val="lt2"/>
              </a:solidFill>
              <a:latin typeface="Open Sans Light"/>
              <a:ea typeface="Open Sans Light"/>
              <a:cs typeface="Open Sans Light"/>
              <a:sym typeface="Open Sans Light"/>
            </a:endParaRPr>
          </a:p>
        </p:txBody>
      </p:sp>
      <p:sp>
        <p:nvSpPr>
          <p:cNvPr id="128" name="Google Shape;128;p27"/>
          <p:cNvSpPr txBox="1"/>
          <p:nvPr>
            <p:ph idx="1" type="body"/>
          </p:nvPr>
        </p:nvSpPr>
        <p:spPr>
          <a:xfrm>
            <a:off x="477871" y="238545"/>
            <a:ext cx="8237100" cy="6393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Open Sans"/>
                <a:ea typeface="Open Sans"/>
                <a:cs typeface="Open Sans"/>
                <a:sym typeface="Open Sans"/>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Open Sans"/>
                <a:ea typeface="Open Sans"/>
                <a:cs typeface="Open Sans"/>
                <a:sym typeface="Open Sans"/>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29" name="Google Shape;129;p27"/>
          <p:cNvSpPr txBox="1"/>
          <p:nvPr/>
        </p:nvSpPr>
        <p:spPr>
          <a:xfrm>
            <a:off x="376358" y="4828652"/>
            <a:ext cx="381300" cy="273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chemeClr val="lt1"/>
                </a:solidFill>
                <a:latin typeface="Open Sans"/>
                <a:ea typeface="Open Sans"/>
                <a:cs typeface="Open Sans"/>
                <a:sym typeface="Open Sans"/>
              </a:rPr>
              <a:t>‹#›</a:t>
            </a:fld>
            <a:endParaRPr b="0" i="0" sz="900" u="none" cap="none" strike="noStrike">
              <a:solidFill>
                <a:schemeClr val="lt1"/>
              </a:solidFill>
              <a:latin typeface="Open Sans"/>
              <a:ea typeface="Open Sans"/>
              <a:cs typeface="Open Sans"/>
              <a:sym typeface="Open Sans"/>
            </a:endParaRPr>
          </a:p>
        </p:txBody>
      </p:sp>
      <p:sp>
        <p:nvSpPr>
          <p:cNvPr id="130" name="Google Shape;130;p27"/>
          <p:cNvSpPr txBox="1"/>
          <p:nvPr>
            <p:ph idx="2" type="body"/>
          </p:nvPr>
        </p:nvSpPr>
        <p:spPr>
          <a:xfrm>
            <a:off x="477871" y="1031683"/>
            <a:ext cx="8237100" cy="3359700"/>
          </a:xfrm>
          <a:prstGeom prst="rect">
            <a:avLst/>
          </a:prstGeom>
          <a:noFill/>
          <a:ln>
            <a:noFill/>
          </a:ln>
        </p:spPr>
        <p:txBody>
          <a:bodyPr anchorCtr="0" anchor="t" bIns="34275" lIns="68575" spcFirstLastPara="1" rIns="68575" wrap="square" tIns="34275">
            <a:noAutofit/>
          </a:bodyPr>
          <a:lstStyle>
            <a:lvl1pPr indent="-323850" lvl="0" marL="457200" marR="0" rtl="0" algn="l">
              <a:lnSpc>
                <a:spcPct val="100000"/>
              </a:lnSpc>
              <a:spcBef>
                <a:spcPts val="800"/>
              </a:spcBef>
              <a:spcAft>
                <a:spcPts val="0"/>
              </a:spcAft>
              <a:buClr>
                <a:schemeClr val="accent1"/>
              </a:buClr>
              <a:buSzPts val="1500"/>
              <a:buFont typeface="Arial"/>
              <a:buChar char="•"/>
              <a:defRPr b="1" i="0" sz="1500" u="none" cap="none" strike="noStrike">
                <a:solidFill>
                  <a:schemeClr val="dk1"/>
                </a:solidFill>
                <a:latin typeface="Open Sans"/>
                <a:ea typeface="Open Sans"/>
                <a:cs typeface="Open Sans"/>
                <a:sym typeface="Open Sans"/>
              </a:defRPr>
            </a:lvl1pPr>
            <a:lvl2pPr indent="-317500" lvl="1" marL="914400" marR="0" rtl="0" algn="l">
              <a:lnSpc>
                <a:spcPct val="100000"/>
              </a:lnSpc>
              <a:spcBef>
                <a:spcPts val="400"/>
              </a:spcBef>
              <a:spcAft>
                <a:spcPts val="0"/>
              </a:spcAft>
              <a:buClr>
                <a:schemeClr val="accent1"/>
              </a:buClr>
              <a:buSzPts val="1400"/>
              <a:buFont typeface="Arial"/>
              <a:buChar char="•"/>
              <a:defRPr b="0" i="0" sz="1400" u="none" cap="none" strike="noStrike">
                <a:solidFill>
                  <a:schemeClr val="dk1"/>
                </a:solidFill>
                <a:latin typeface="Open Sans"/>
                <a:ea typeface="Open Sans"/>
                <a:cs typeface="Open Sans"/>
                <a:sym typeface="Open Sans"/>
              </a:defRPr>
            </a:lvl2pPr>
            <a:lvl3pPr indent="-304800" lvl="2" marL="1371600" marR="0" rtl="0" algn="l">
              <a:lnSpc>
                <a:spcPct val="100000"/>
              </a:lnSpc>
              <a:spcBef>
                <a:spcPts val="400"/>
              </a:spcBef>
              <a:spcAft>
                <a:spcPts val="0"/>
              </a:spcAft>
              <a:buClr>
                <a:schemeClr val="accent1"/>
              </a:buClr>
              <a:buSzPts val="1200"/>
              <a:buFont typeface="Arial"/>
              <a:buChar char="•"/>
              <a:defRPr b="0" i="0" sz="1200" u="none" cap="none" strike="noStrike">
                <a:solidFill>
                  <a:schemeClr val="dk1"/>
                </a:solidFill>
                <a:latin typeface="Open Sans"/>
                <a:ea typeface="Open Sans"/>
                <a:cs typeface="Open Sans"/>
                <a:sym typeface="Open Sans"/>
              </a:defRPr>
            </a:lvl3pPr>
            <a:lvl4pPr indent="-298450" lvl="3" marL="1828800" marR="0" rtl="0" algn="l">
              <a:lnSpc>
                <a:spcPct val="100000"/>
              </a:lnSpc>
              <a:spcBef>
                <a:spcPts val="400"/>
              </a:spcBef>
              <a:spcAft>
                <a:spcPts val="0"/>
              </a:spcAft>
              <a:buClr>
                <a:schemeClr val="accent1"/>
              </a:buClr>
              <a:buSzPts val="1100"/>
              <a:buFont typeface="Arial"/>
              <a:buChar char="•"/>
              <a:defRPr b="0" i="0" sz="1100" u="none" cap="none" strike="noStrike">
                <a:solidFill>
                  <a:schemeClr val="dk1"/>
                </a:solidFill>
                <a:latin typeface="Open Sans"/>
                <a:ea typeface="Open Sans"/>
                <a:cs typeface="Open Sans"/>
                <a:sym typeface="Open Sans"/>
              </a:defRPr>
            </a:lvl4pPr>
            <a:lvl5pPr indent="-298450" lvl="4" marL="2286000" marR="0" rtl="0" algn="l">
              <a:lnSpc>
                <a:spcPct val="100000"/>
              </a:lnSpc>
              <a:spcBef>
                <a:spcPts val="400"/>
              </a:spcBef>
              <a:spcAft>
                <a:spcPts val="0"/>
              </a:spcAft>
              <a:buClr>
                <a:schemeClr val="accent1"/>
              </a:buClr>
              <a:buSzPts val="1100"/>
              <a:buFont typeface="Arial"/>
              <a:buChar char="•"/>
              <a:defRPr b="0" i="0" sz="11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agraph_Text_Gradient_Footer">
  <p:cSld name="Paragraph_Text_Gradient_Footer">
    <p:spTree>
      <p:nvGrpSpPr>
        <p:cNvPr id="131" name="Shape 131"/>
        <p:cNvGrpSpPr/>
        <p:nvPr/>
      </p:nvGrpSpPr>
      <p:grpSpPr>
        <a:xfrm>
          <a:off x="0" y="0"/>
          <a:ext cx="0" cy="0"/>
          <a:chOff x="0" y="0"/>
          <a:chExt cx="0" cy="0"/>
        </a:xfrm>
      </p:grpSpPr>
      <p:sp>
        <p:nvSpPr>
          <p:cNvPr id="132" name="Google Shape;132;p28"/>
          <p:cNvSpPr/>
          <p:nvPr/>
        </p:nvSpPr>
        <p:spPr>
          <a:xfrm>
            <a:off x="0" y="4775873"/>
            <a:ext cx="9144000" cy="365100"/>
          </a:xfrm>
          <a:prstGeom prst="rect">
            <a:avLst/>
          </a:prstGeom>
          <a:gradFill>
            <a:gsLst>
              <a:gs pos="0">
                <a:schemeClr val="accent1"/>
              </a:gs>
              <a:gs pos="13000">
                <a:schemeClr val="dk2"/>
              </a:gs>
              <a:gs pos="100000">
                <a:schemeClr val="dk2"/>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133" name="Google Shape;133;p28"/>
          <p:cNvSpPr txBox="1"/>
          <p:nvPr>
            <p:ph idx="1" type="body"/>
          </p:nvPr>
        </p:nvSpPr>
        <p:spPr>
          <a:xfrm>
            <a:off x="384048" y="1200150"/>
            <a:ext cx="8140800" cy="32634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1800"/>
              </a:spcBef>
              <a:spcAft>
                <a:spcPts val="0"/>
              </a:spcAft>
              <a:buClr>
                <a:schemeClr val="accent1"/>
              </a:buClr>
              <a:buSzPts val="1500"/>
              <a:buNone/>
              <a:defRPr>
                <a:latin typeface="Open Sans Light"/>
                <a:ea typeface="Open Sans Light"/>
                <a:cs typeface="Open Sans Light"/>
                <a:sym typeface="Open Sans Light"/>
              </a:defRPr>
            </a:lvl1pPr>
            <a:lvl2pPr indent="-228600" lvl="1" marL="914400" rtl="0" algn="l">
              <a:lnSpc>
                <a:spcPct val="90000"/>
              </a:lnSpc>
              <a:spcBef>
                <a:spcPts val="500"/>
              </a:spcBef>
              <a:spcAft>
                <a:spcPts val="0"/>
              </a:spcAft>
              <a:buClr>
                <a:schemeClr val="accent1"/>
              </a:buClr>
              <a:buSzPts val="1400"/>
              <a:buNone/>
              <a:defRPr>
                <a:latin typeface="Open Sans Light"/>
                <a:ea typeface="Open Sans Light"/>
                <a:cs typeface="Open Sans Light"/>
                <a:sym typeface="Open Sans Light"/>
              </a:defRPr>
            </a:lvl2pPr>
            <a:lvl3pPr indent="-228600" lvl="2" marL="1371600" rtl="0" algn="l">
              <a:lnSpc>
                <a:spcPct val="90000"/>
              </a:lnSpc>
              <a:spcBef>
                <a:spcPts val="500"/>
              </a:spcBef>
              <a:spcAft>
                <a:spcPts val="0"/>
              </a:spcAft>
              <a:buClr>
                <a:schemeClr val="accent1"/>
              </a:buClr>
              <a:buSzPts val="1200"/>
              <a:buNone/>
              <a:defRPr>
                <a:latin typeface="Open Sans Light"/>
                <a:ea typeface="Open Sans Light"/>
                <a:cs typeface="Open Sans Light"/>
                <a:sym typeface="Open Sans Light"/>
              </a:defRPr>
            </a:lvl3pPr>
            <a:lvl4pPr indent="-228600" lvl="3" marL="1828800" rtl="0" algn="l">
              <a:lnSpc>
                <a:spcPct val="90000"/>
              </a:lnSpc>
              <a:spcBef>
                <a:spcPts val="500"/>
              </a:spcBef>
              <a:spcAft>
                <a:spcPts val="0"/>
              </a:spcAft>
              <a:buClr>
                <a:schemeClr val="accent1"/>
              </a:buClr>
              <a:buSzPts val="1100"/>
              <a:buNone/>
              <a:defRPr>
                <a:latin typeface="Open Sans Light"/>
                <a:ea typeface="Open Sans Light"/>
                <a:cs typeface="Open Sans Light"/>
                <a:sym typeface="Open Sans Light"/>
              </a:defRPr>
            </a:lvl4pPr>
            <a:lvl5pPr indent="-298450" lvl="4" marL="2286000" rtl="0" algn="l">
              <a:lnSpc>
                <a:spcPct val="90000"/>
              </a:lnSpc>
              <a:spcBef>
                <a:spcPts val="400"/>
              </a:spcBef>
              <a:spcAft>
                <a:spcPts val="0"/>
              </a:spcAft>
              <a:buClr>
                <a:schemeClr val="accent1"/>
              </a:buClr>
              <a:buSzPts val="11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4" name="Google Shape;134;p28"/>
          <p:cNvSpPr txBox="1"/>
          <p:nvPr>
            <p:ph type="title"/>
          </p:nvPr>
        </p:nvSpPr>
        <p:spPr>
          <a:xfrm>
            <a:off x="384048" y="185166"/>
            <a:ext cx="8140800" cy="662100"/>
          </a:xfrm>
          <a:prstGeom prst="rect">
            <a:avLst/>
          </a:prstGeom>
          <a:noFill/>
          <a:ln>
            <a:noFill/>
          </a:ln>
        </p:spPr>
        <p:txBody>
          <a:bodyPr anchorCtr="0" anchor="t" bIns="0"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pic>
        <p:nvPicPr>
          <p:cNvPr id="135" name="Google Shape;135;p28"/>
          <p:cNvPicPr preferRelativeResize="0"/>
          <p:nvPr/>
        </p:nvPicPr>
        <p:blipFill rotWithShape="1">
          <a:blip r:embed="rId2">
            <a:alphaModFix/>
          </a:blip>
          <a:srcRect b="0" l="0" r="0" t="0"/>
          <a:stretch/>
        </p:blipFill>
        <p:spPr>
          <a:xfrm>
            <a:off x="8449056" y="4876492"/>
            <a:ext cx="507492" cy="172449"/>
          </a:xfrm>
          <a:prstGeom prst="rect">
            <a:avLst/>
          </a:prstGeom>
          <a:noFill/>
          <a:ln>
            <a:noFill/>
          </a:ln>
        </p:spPr>
      </p:pic>
      <p:sp>
        <p:nvSpPr>
          <p:cNvPr id="136" name="Google Shape;136;p28"/>
          <p:cNvSpPr txBox="1"/>
          <p:nvPr/>
        </p:nvSpPr>
        <p:spPr>
          <a:xfrm>
            <a:off x="744656" y="4912403"/>
            <a:ext cx="3393900" cy="77100"/>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Open Sans Light"/>
              <a:buNone/>
            </a:pPr>
            <a:r>
              <a:rPr b="0" i="0" lang="en" sz="500" u="none" cap="none" strike="noStrike">
                <a:solidFill>
                  <a:schemeClr val="lt1"/>
                </a:solidFill>
                <a:latin typeface="Open Sans Light"/>
                <a:ea typeface="Open Sans Light"/>
                <a:cs typeface="Open Sans Light"/>
                <a:sym typeface="Open Sans Light"/>
              </a:rPr>
              <a:t>Kyriba.com    Copyright © 2022 Kyriba Corp. All rights reserved.  |  </a:t>
            </a:r>
            <a:r>
              <a:rPr b="0" i="1" lang="en" sz="500" u="none" cap="none" strike="noStrike">
                <a:solidFill>
                  <a:schemeClr val="lt1"/>
                </a:solidFill>
                <a:latin typeface="Open Sans Light"/>
                <a:ea typeface="Open Sans Light"/>
                <a:cs typeface="Open Sans Light"/>
                <a:sym typeface="Open Sans Light"/>
              </a:rPr>
              <a:t>Proprietary &amp; Confidential</a:t>
            </a:r>
            <a:endParaRPr b="0" i="0" sz="1100" u="none" cap="none" strike="noStrike">
              <a:solidFill>
                <a:srgbClr val="000000"/>
              </a:solidFill>
              <a:latin typeface="Arial"/>
              <a:ea typeface="Arial"/>
              <a:cs typeface="Arial"/>
              <a:sym typeface="Arial"/>
            </a:endParaRPr>
          </a:p>
        </p:txBody>
      </p:sp>
      <p:sp>
        <p:nvSpPr>
          <p:cNvPr id="137" name="Google Shape;137;p28"/>
          <p:cNvSpPr txBox="1"/>
          <p:nvPr>
            <p:ph idx="12" type="sldNum"/>
          </p:nvPr>
        </p:nvSpPr>
        <p:spPr>
          <a:xfrm>
            <a:off x="191728" y="4820117"/>
            <a:ext cx="277500" cy="273900"/>
          </a:xfrm>
          <a:prstGeom prst="rect">
            <a:avLst/>
          </a:prstGeom>
          <a:noFill/>
          <a:ln>
            <a:noFill/>
          </a:ln>
        </p:spPr>
        <p:txBody>
          <a:bodyPr anchorCtr="0" anchor="ctr" bIns="34275" lIns="68575" spcFirstLastPara="1" rIns="68575" wrap="square" tIns="34275">
            <a:noAutofit/>
          </a:bodyPr>
          <a:lstStyle>
            <a:lvl1pPr indent="0" lvl="0"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1pPr>
            <a:lvl2pPr indent="0" lvl="1"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2pPr>
            <a:lvl3pPr indent="0" lvl="2"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3pPr>
            <a:lvl4pPr indent="0" lvl="3"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4pPr>
            <a:lvl5pPr indent="0" lvl="4"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5pPr>
            <a:lvl6pPr indent="0" lvl="5"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6pPr>
            <a:lvl7pPr indent="0" lvl="6"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7pPr>
            <a:lvl8pPr indent="0" lvl="7"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8pPr>
            <a:lvl9pPr indent="0" lvl="8" marL="0" marR="0" rtl="0" algn="l">
              <a:lnSpc>
                <a:spcPct val="100000"/>
              </a:lnSpc>
              <a:spcBef>
                <a:spcPts val="0"/>
              </a:spcBef>
              <a:spcAft>
                <a:spcPts val="0"/>
              </a:spcAft>
              <a:buClr>
                <a:srgbClr val="000000"/>
              </a:buClr>
              <a:buSzPts val="500"/>
              <a:buFont typeface="Arial"/>
              <a:buNone/>
              <a:defRPr b="0" i="0" sz="500" u="none" cap="none" strike="noStrike">
                <a:solidFill>
                  <a:schemeClr val="lt1"/>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1">
  <p:cSld name="TITLE_AND_TWO_COLUMNS_1">
    <p:bg>
      <p:bgPr>
        <a:solidFill>
          <a:schemeClr val="lt1"/>
        </a:solidFill>
      </p:bgPr>
    </p:bg>
    <p:spTree>
      <p:nvGrpSpPr>
        <p:cNvPr id="138" name="Shape 138"/>
        <p:cNvGrpSpPr/>
        <p:nvPr/>
      </p:nvGrpSpPr>
      <p:grpSpPr>
        <a:xfrm>
          <a:off x="0" y="0"/>
          <a:ext cx="0" cy="0"/>
          <a:chOff x="0" y="0"/>
          <a:chExt cx="0" cy="0"/>
        </a:xfrm>
      </p:grpSpPr>
      <p:sp>
        <p:nvSpPr>
          <p:cNvPr id="139" name="Google Shape;139;p29"/>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40" name="Google Shape;140;p29"/>
          <p:cNvSpPr txBox="1"/>
          <p:nvPr>
            <p:ph idx="1" type="body"/>
          </p:nvPr>
        </p:nvSpPr>
        <p:spPr>
          <a:xfrm>
            <a:off x="228600" y="1127875"/>
            <a:ext cx="4083000" cy="34164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SzPts val="800"/>
              <a:buFont typeface="DM Sans"/>
              <a:buChar char="●"/>
              <a:defRPr sz="1300">
                <a:latin typeface="DM Sans"/>
                <a:ea typeface="DM Sans"/>
                <a:cs typeface="DM Sans"/>
                <a:sym typeface="DM Sans"/>
              </a:defRPr>
            </a:lvl1pPr>
            <a:lvl2pPr indent="-279400" lvl="1" marL="914400" algn="l">
              <a:lnSpc>
                <a:spcPct val="115000"/>
              </a:lnSpc>
              <a:spcBef>
                <a:spcPts val="0"/>
              </a:spcBef>
              <a:spcAft>
                <a:spcPts val="0"/>
              </a:spcAft>
              <a:buSzPts val="800"/>
              <a:buFont typeface="DM Sans"/>
              <a:buChar char="○"/>
              <a:defRPr sz="900">
                <a:latin typeface="DM Sans"/>
                <a:ea typeface="DM Sans"/>
                <a:cs typeface="DM Sans"/>
                <a:sym typeface="DM Sans"/>
              </a:defRPr>
            </a:lvl2pPr>
            <a:lvl3pPr indent="-279400" lvl="2" marL="1371600" algn="l">
              <a:lnSpc>
                <a:spcPct val="115000"/>
              </a:lnSpc>
              <a:spcBef>
                <a:spcPts val="0"/>
              </a:spcBef>
              <a:spcAft>
                <a:spcPts val="0"/>
              </a:spcAft>
              <a:buSzPts val="800"/>
              <a:buFont typeface="DM Sans"/>
              <a:buChar char="■"/>
              <a:defRPr sz="900">
                <a:latin typeface="DM Sans"/>
                <a:ea typeface="DM Sans"/>
                <a:cs typeface="DM Sans"/>
                <a:sym typeface="DM Sans"/>
              </a:defRPr>
            </a:lvl3pPr>
            <a:lvl4pPr indent="-279400" lvl="3" marL="1828800" algn="l">
              <a:lnSpc>
                <a:spcPct val="115000"/>
              </a:lnSpc>
              <a:spcBef>
                <a:spcPts val="0"/>
              </a:spcBef>
              <a:spcAft>
                <a:spcPts val="0"/>
              </a:spcAft>
              <a:buSzPts val="800"/>
              <a:buFont typeface="DM Sans"/>
              <a:buChar char="●"/>
              <a:defRPr sz="900">
                <a:latin typeface="DM Sans"/>
                <a:ea typeface="DM Sans"/>
                <a:cs typeface="DM Sans"/>
                <a:sym typeface="DM Sans"/>
              </a:defRPr>
            </a:lvl4pPr>
            <a:lvl5pPr indent="-279400" lvl="4" marL="2286000" algn="l">
              <a:lnSpc>
                <a:spcPct val="115000"/>
              </a:lnSpc>
              <a:spcBef>
                <a:spcPts val="0"/>
              </a:spcBef>
              <a:spcAft>
                <a:spcPts val="0"/>
              </a:spcAft>
              <a:buSzPts val="800"/>
              <a:buFont typeface="DM Sans"/>
              <a:buChar char="○"/>
              <a:defRPr sz="900">
                <a:latin typeface="DM Sans"/>
                <a:ea typeface="DM Sans"/>
                <a:cs typeface="DM Sans"/>
                <a:sym typeface="DM Sans"/>
              </a:defRPr>
            </a:lvl5pPr>
            <a:lvl6pPr indent="-279400" lvl="5" marL="2743200" algn="l">
              <a:lnSpc>
                <a:spcPct val="115000"/>
              </a:lnSpc>
              <a:spcBef>
                <a:spcPts val="0"/>
              </a:spcBef>
              <a:spcAft>
                <a:spcPts val="0"/>
              </a:spcAft>
              <a:buSzPts val="800"/>
              <a:buFont typeface="DM Sans"/>
              <a:buChar char="■"/>
              <a:defRPr sz="900">
                <a:latin typeface="DM Sans"/>
                <a:ea typeface="DM Sans"/>
                <a:cs typeface="DM Sans"/>
                <a:sym typeface="DM Sans"/>
              </a:defRPr>
            </a:lvl6pPr>
            <a:lvl7pPr indent="-279400" lvl="6" marL="3200400" algn="l">
              <a:lnSpc>
                <a:spcPct val="115000"/>
              </a:lnSpc>
              <a:spcBef>
                <a:spcPts val="0"/>
              </a:spcBef>
              <a:spcAft>
                <a:spcPts val="0"/>
              </a:spcAft>
              <a:buSzPts val="800"/>
              <a:buFont typeface="DM Sans"/>
              <a:buChar char="●"/>
              <a:defRPr sz="900">
                <a:latin typeface="DM Sans"/>
                <a:ea typeface="DM Sans"/>
                <a:cs typeface="DM Sans"/>
                <a:sym typeface="DM Sans"/>
              </a:defRPr>
            </a:lvl7pPr>
            <a:lvl8pPr indent="-279400" lvl="7" marL="3657600" algn="l">
              <a:lnSpc>
                <a:spcPct val="115000"/>
              </a:lnSpc>
              <a:spcBef>
                <a:spcPts val="0"/>
              </a:spcBef>
              <a:spcAft>
                <a:spcPts val="0"/>
              </a:spcAft>
              <a:buSzPts val="800"/>
              <a:buFont typeface="DM Sans"/>
              <a:buChar char="○"/>
              <a:defRPr sz="900">
                <a:latin typeface="DM Sans"/>
                <a:ea typeface="DM Sans"/>
                <a:cs typeface="DM Sans"/>
                <a:sym typeface="DM Sans"/>
              </a:defRPr>
            </a:lvl8pPr>
            <a:lvl9pPr indent="-279400" lvl="8" marL="4114800" algn="l">
              <a:lnSpc>
                <a:spcPct val="115000"/>
              </a:lnSpc>
              <a:spcBef>
                <a:spcPts val="0"/>
              </a:spcBef>
              <a:spcAft>
                <a:spcPts val="0"/>
              </a:spcAft>
              <a:buSzPts val="800"/>
              <a:buFont typeface="DM Sans"/>
              <a:buChar char="■"/>
              <a:defRPr sz="900">
                <a:latin typeface="DM Sans"/>
                <a:ea typeface="DM Sans"/>
                <a:cs typeface="DM Sans"/>
                <a:sym typeface="DM Sans"/>
              </a:defRPr>
            </a:lvl9pPr>
          </a:lstStyle>
          <a:p/>
        </p:txBody>
      </p:sp>
      <p:sp>
        <p:nvSpPr>
          <p:cNvPr id="141" name="Google Shape;141;p29"/>
          <p:cNvSpPr txBox="1"/>
          <p:nvPr>
            <p:ph idx="2" type="body"/>
          </p:nvPr>
        </p:nvSpPr>
        <p:spPr>
          <a:xfrm>
            <a:off x="4692600" y="1127875"/>
            <a:ext cx="4083000" cy="3416400"/>
          </a:xfrm>
          <a:prstGeom prst="rect">
            <a:avLst/>
          </a:prstGeom>
          <a:noFill/>
          <a:ln>
            <a:noFill/>
          </a:ln>
        </p:spPr>
        <p:txBody>
          <a:bodyPr anchorCtr="0" anchor="t" bIns="91425" lIns="91425" spcFirstLastPara="1" rIns="91425" wrap="square" tIns="91425">
            <a:noAutofit/>
          </a:bodyPr>
          <a:lstStyle>
            <a:lvl1pPr indent="-279400" lvl="0" marL="457200" algn="l">
              <a:lnSpc>
                <a:spcPct val="115000"/>
              </a:lnSpc>
              <a:spcBef>
                <a:spcPts val="0"/>
              </a:spcBef>
              <a:spcAft>
                <a:spcPts val="0"/>
              </a:spcAft>
              <a:buSzPts val="800"/>
              <a:buFont typeface="DM Sans"/>
              <a:buChar char="●"/>
              <a:defRPr sz="1300">
                <a:latin typeface="DM Sans"/>
                <a:ea typeface="DM Sans"/>
                <a:cs typeface="DM Sans"/>
                <a:sym typeface="DM Sans"/>
              </a:defRPr>
            </a:lvl1pPr>
            <a:lvl2pPr indent="-279400" lvl="1" marL="914400" algn="l">
              <a:lnSpc>
                <a:spcPct val="115000"/>
              </a:lnSpc>
              <a:spcBef>
                <a:spcPts val="0"/>
              </a:spcBef>
              <a:spcAft>
                <a:spcPts val="0"/>
              </a:spcAft>
              <a:buSzPts val="800"/>
              <a:buFont typeface="DM Sans"/>
              <a:buChar char="○"/>
              <a:defRPr sz="900">
                <a:latin typeface="DM Sans"/>
                <a:ea typeface="DM Sans"/>
                <a:cs typeface="DM Sans"/>
                <a:sym typeface="DM Sans"/>
              </a:defRPr>
            </a:lvl2pPr>
            <a:lvl3pPr indent="-279400" lvl="2" marL="1371600" algn="l">
              <a:lnSpc>
                <a:spcPct val="115000"/>
              </a:lnSpc>
              <a:spcBef>
                <a:spcPts val="0"/>
              </a:spcBef>
              <a:spcAft>
                <a:spcPts val="0"/>
              </a:spcAft>
              <a:buSzPts val="800"/>
              <a:buFont typeface="DM Sans"/>
              <a:buChar char="■"/>
              <a:defRPr sz="900">
                <a:latin typeface="DM Sans"/>
                <a:ea typeface="DM Sans"/>
                <a:cs typeface="DM Sans"/>
                <a:sym typeface="DM Sans"/>
              </a:defRPr>
            </a:lvl3pPr>
            <a:lvl4pPr indent="-279400" lvl="3" marL="1828800" algn="l">
              <a:lnSpc>
                <a:spcPct val="115000"/>
              </a:lnSpc>
              <a:spcBef>
                <a:spcPts val="0"/>
              </a:spcBef>
              <a:spcAft>
                <a:spcPts val="0"/>
              </a:spcAft>
              <a:buSzPts val="800"/>
              <a:buFont typeface="DM Sans"/>
              <a:buChar char="●"/>
              <a:defRPr sz="900">
                <a:latin typeface="DM Sans"/>
                <a:ea typeface="DM Sans"/>
                <a:cs typeface="DM Sans"/>
                <a:sym typeface="DM Sans"/>
              </a:defRPr>
            </a:lvl4pPr>
            <a:lvl5pPr indent="-279400" lvl="4" marL="2286000" algn="l">
              <a:lnSpc>
                <a:spcPct val="115000"/>
              </a:lnSpc>
              <a:spcBef>
                <a:spcPts val="0"/>
              </a:spcBef>
              <a:spcAft>
                <a:spcPts val="0"/>
              </a:spcAft>
              <a:buSzPts val="800"/>
              <a:buFont typeface="DM Sans"/>
              <a:buChar char="○"/>
              <a:defRPr sz="900">
                <a:latin typeface="DM Sans"/>
                <a:ea typeface="DM Sans"/>
                <a:cs typeface="DM Sans"/>
                <a:sym typeface="DM Sans"/>
              </a:defRPr>
            </a:lvl5pPr>
            <a:lvl6pPr indent="-279400" lvl="5" marL="2743200" algn="l">
              <a:lnSpc>
                <a:spcPct val="115000"/>
              </a:lnSpc>
              <a:spcBef>
                <a:spcPts val="0"/>
              </a:spcBef>
              <a:spcAft>
                <a:spcPts val="0"/>
              </a:spcAft>
              <a:buSzPts val="800"/>
              <a:buFont typeface="DM Sans"/>
              <a:buChar char="■"/>
              <a:defRPr sz="900">
                <a:latin typeface="DM Sans"/>
                <a:ea typeface="DM Sans"/>
                <a:cs typeface="DM Sans"/>
                <a:sym typeface="DM Sans"/>
              </a:defRPr>
            </a:lvl6pPr>
            <a:lvl7pPr indent="-279400" lvl="6" marL="3200400" algn="l">
              <a:lnSpc>
                <a:spcPct val="115000"/>
              </a:lnSpc>
              <a:spcBef>
                <a:spcPts val="0"/>
              </a:spcBef>
              <a:spcAft>
                <a:spcPts val="0"/>
              </a:spcAft>
              <a:buSzPts val="800"/>
              <a:buFont typeface="DM Sans"/>
              <a:buChar char="●"/>
              <a:defRPr sz="900">
                <a:latin typeface="DM Sans"/>
                <a:ea typeface="DM Sans"/>
                <a:cs typeface="DM Sans"/>
                <a:sym typeface="DM Sans"/>
              </a:defRPr>
            </a:lvl7pPr>
            <a:lvl8pPr indent="-279400" lvl="7" marL="3657600" algn="l">
              <a:lnSpc>
                <a:spcPct val="115000"/>
              </a:lnSpc>
              <a:spcBef>
                <a:spcPts val="0"/>
              </a:spcBef>
              <a:spcAft>
                <a:spcPts val="0"/>
              </a:spcAft>
              <a:buSzPts val="800"/>
              <a:buFont typeface="DM Sans"/>
              <a:buChar char="○"/>
              <a:defRPr sz="900">
                <a:latin typeface="DM Sans"/>
                <a:ea typeface="DM Sans"/>
                <a:cs typeface="DM Sans"/>
                <a:sym typeface="DM Sans"/>
              </a:defRPr>
            </a:lvl8pPr>
            <a:lvl9pPr indent="-279400" lvl="8" marL="4114800" algn="l">
              <a:lnSpc>
                <a:spcPct val="115000"/>
              </a:lnSpc>
              <a:spcBef>
                <a:spcPts val="0"/>
              </a:spcBef>
              <a:spcAft>
                <a:spcPts val="0"/>
              </a:spcAft>
              <a:buSzPts val="800"/>
              <a:buFont typeface="DM Sans"/>
              <a:buChar char="■"/>
              <a:defRPr sz="900">
                <a:latin typeface="DM Sans"/>
                <a:ea typeface="DM Sans"/>
                <a:cs typeface="DM Sans"/>
                <a:sym typeface="DM Sans"/>
              </a:defRPr>
            </a:lvl9pPr>
          </a:lstStyle>
          <a:p/>
        </p:txBody>
      </p:sp>
      <p:sp>
        <p:nvSpPr>
          <p:cNvPr id="142" name="Google Shape;142;p29"/>
          <p:cNvSpPr txBox="1"/>
          <p:nvPr/>
        </p:nvSpPr>
        <p:spPr>
          <a:xfrm>
            <a:off x="3677866" y="4849549"/>
            <a:ext cx="21819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600">
                <a:solidFill>
                  <a:srgbClr val="0C0C0C"/>
                </a:solidFill>
                <a:latin typeface="DM Sans"/>
                <a:ea typeface="DM Sans"/>
                <a:cs typeface="DM Sans"/>
                <a:sym typeface="DM Sans"/>
              </a:rPr>
              <a:t>Copyright </a:t>
            </a:r>
            <a:r>
              <a:rPr lang="en" sz="600">
                <a:latin typeface="DM Sans"/>
                <a:ea typeface="DM Sans"/>
                <a:cs typeface="DM Sans"/>
                <a:sym typeface="DM Sans"/>
              </a:rPr>
              <a:t>© 2024 Kyriba Corp. All rights reserved.</a:t>
            </a:r>
            <a:endParaRPr sz="600">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sz="600">
              <a:solidFill>
                <a:schemeClr val="dk1"/>
              </a:solidFill>
              <a:latin typeface="DM Sans"/>
              <a:ea typeface="DM Sans"/>
              <a:cs typeface="DM Sans"/>
              <a:sym typeface="DM Sans"/>
            </a:endParaRPr>
          </a:p>
        </p:txBody>
      </p:sp>
      <p:sp>
        <p:nvSpPr>
          <p:cNvPr id="143" name="Google Shape;143;p29"/>
          <p:cNvSpPr txBox="1"/>
          <p:nvPr/>
        </p:nvSpPr>
        <p:spPr>
          <a:xfrm>
            <a:off x="8625625" y="4895786"/>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44" name="Google Shape;144;p29"/>
          <p:cNvPicPr preferRelativeResize="0"/>
          <p:nvPr/>
        </p:nvPicPr>
        <p:blipFill>
          <a:blip r:embed="rId2">
            <a:alphaModFix/>
          </a:blip>
          <a:stretch>
            <a:fillRect/>
          </a:stretch>
        </p:blipFill>
        <p:spPr>
          <a:xfrm>
            <a:off x="0" y="4735652"/>
            <a:ext cx="1933312" cy="41251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agraph_Text_Blank_Footer">
  <p:cSld name="Paragraph_Text_Blank_Footer">
    <p:spTree>
      <p:nvGrpSpPr>
        <p:cNvPr id="145" name="Shape 145"/>
        <p:cNvGrpSpPr/>
        <p:nvPr/>
      </p:nvGrpSpPr>
      <p:grpSpPr>
        <a:xfrm>
          <a:off x="0" y="0"/>
          <a:ext cx="0" cy="0"/>
          <a:chOff x="0" y="0"/>
          <a:chExt cx="0" cy="0"/>
        </a:xfrm>
      </p:grpSpPr>
      <p:sp>
        <p:nvSpPr>
          <p:cNvPr id="146" name="Google Shape;146;p30"/>
          <p:cNvSpPr txBox="1"/>
          <p:nvPr>
            <p:ph type="title"/>
          </p:nvPr>
        </p:nvSpPr>
        <p:spPr>
          <a:xfrm>
            <a:off x="384048" y="185166"/>
            <a:ext cx="7915200" cy="662100"/>
          </a:xfrm>
          <a:prstGeom prst="rect">
            <a:avLst/>
          </a:prstGeom>
          <a:noFill/>
          <a:ln>
            <a:noFill/>
          </a:ln>
        </p:spPr>
        <p:txBody>
          <a:bodyPr anchorCtr="0" anchor="t" bIns="0"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30"/>
          <p:cNvSpPr txBox="1"/>
          <p:nvPr>
            <p:ph idx="1" type="body"/>
          </p:nvPr>
        </p:nvSpPr>
        <p:spPr>
          <a:xfrm>
            <a:off x="384048" y="1200150"/>
            <a:ext cx="8140800" cy="32634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1400"/>
              </a:spcBef>
              <a:spcAft>
                <a:spcPts val="0"/>
              </a:spcAft>
              <a:buClr>
                <a:schemeClr val="accent1"/>
              </a:buClr>
              <a:buSzPts val="1500"/>
              <a:buNone/>
              <a:defRPr b="1"/>
            </a:lvl1pPr>
            <a:lvl2pPr indent="-317500" lvl="1" marL="914400" algn="l">
              <a:lnSpc>
                <a:spcPct val="100000"/>
              </a:lnSpc>
              <a:spcBef>
                <a:spcPts val="500"/>
              </a:spcBef>
              <a:spcAft>
                <a:spcPts val="0"/>
              </a:spcAft>
              <a:buClr>
                <a:schemeClr val="dk2"/>
              </a:buClr>
              <a:buSzPts val="1400"/>
              <a:buChar char="○"/>
              <a:defRPr b="0" i="0">
                <a:latin typeface="Open Sans Light"/>
                <a:ea typeface="Open Sans Light"/>
                <a:cs typeface="Open Sans Light"/>
                <a:sym typeface="Open Sans Light"/>
              </a:defRPr>
            </a:lvl2pPr>
            <a:lvl3pPr indent="-304800" lvl="2" marL="1371600" algn="l">
              <a:lnSpc>
                <a:spcPct val="100000"/>
              </a:lnSpc>
              <a:spcBef>
                <a:spcPts val="500"/>
              </a:spcBef>
              <a:spcAft>
                <a:spcPts val="0"/>
              </a:spcAft>
              <a:buClr>
                <a:schemeClr val="dk2"/>
              </a:buClr>
              <a:buSzPts val="1200"/>
              <a:buChar char="■"/>
              <a:defRPr b="0" i="0">
                <a:latin typeface="Open Sans Light"/>
                <a:ea typeface="Open Sans Light"/>
                <a:cs typeface="Open Sans Light"/>
                <a:sym typeface="Open Sans Light"/>
              </a:defRPr>
            </a:lvl3pPr>
            <a:lvl4pPr indent="-298450" lvl="3" marL="1828800" algn="l">
              <a:lnSpc>
                <a:spcPct val="100000"/>
              </a:lnSpc>
              <a:spcBef>
                <a:spcPts val="500"/>
              </a:spcBef>
              <a:spcAft>
                <a:spcPts val="0"/>
              </a:spcAft>
              <a:buClr>
                <a:schemeClr val="dk2"/>
              </a:buClr>
              <a:buSzPts val="1100"/>
              <a:buChar char="●"/>
              <a:defRPr b="0" i="0">
                <a:latin typeface="Open Sans Light"/>
                <a:ea typeface="Open Sans Light"/>
                <a:cs typeface="Open Sans Light"/>
                <a:sym typeface="Open Sans Light"/>
              </a:defRPr>
            </a:lvl4pPr>
            <a:lvl5pPr indent="-298450" lvl="4" marL="2286000" algn="l">
              <a:lnSpc>
                <a:spcPct val="90000"/>
              </a:lnSpc>
              <a:spcBef>
                <a:spcPts val="500"/>
              </a:spcBef>
              <a:spcAft>
                <a:spcPts val="0"/>
              </a:spcAft>
              <a:buClr>
                <a:schemeClr val="accent1"/>
              </a:buClr>
              <a:buSzPts val="11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30"/>
          <p:cNvSpPr txBox="1"/>
          <p:nvPr>
            <p:ph idx="12" type="sldNum"/>
          </p:nvPr>
        </p:nvSpPr>
        <p:spPr>
          <a:xfrm>
            <a:off x="12489" y="4916211"/>
            <a:ext cx="277500" cy="273900"/>
          </a:xfrm>
          <a:prstGeom prst="rect">
            <a:avLst/>
          </a:prstGeom>
          <a:noFill/>
          <a:ln>
            <a:noFill/>
          </a:ln>
        </p:spPr>
        <p:txBody>
          <a:bodyPr anchorCtr="0" anchor="ctr" bIns="34275" lIns="68575" spcFirstLastPara="1" rIns="68575" wrap="square" tIns="34275">
            <a:noAutofit/>
          </a:bodyPr>
          <a:lstStyle>
            <a:lvl1pPr indent="0" lvl="0" marL="0" algn="l">
              <a:spcBef>
                <a:spcPts val="0"/>
              </a:spcBef>
              <a:buNone/>
              <a:defRPr sz="1100"/>
            </a:lvl1pPr>
            <a:lvl2pPr indent="0" lvl="1" marL="0" algn="l">
              <a:spcBef>
                <a:spcPts val="0"/>
              </a:spcBef>
              <a:buNone/>
              <a:defRPr sz="1100"/>
            </a:lvl2pPr>
            <a:lvl3pPr indent="0" lvl="2" marL="0" algn="l">
              <a:spcBef>
                <a:spcPts val="0"/>
              </a:spcBef>
              <a:buNone/>
              <a:defRPr sz="1100"/>
            </a:lvl3pPr>
            <a:lvl4pPr indent="0" lvl="3" marL="0" algn="l">
              <a:spcBef>
                <a:spcPts val="0"/>
              </a:spcBef>
              <a:buNone/>
              <a:defRPr sz="1100"/>
            </a:lvl4pPr>
            <a:lvl5pPr indent="0" lvl="4" marL="0" algn="l">
              <a:spcBef>
                <a:spcPts val="0"/>
              </a:spcBef>
              <a:buNone/>
              <a:defRPr sz="1100"/>
            </a:lvl5pPr>
            <a:lvl6pPr indent="0" lvl="5" marL="0" algn="l">
              <a:spcBef>
                <a:spcPts val="0"/>
              </a:spcBef>
              <a:buNone/>
              <a:defRPr sz="1100"/>
            </a:lvl6pPr>
            <a:lvl7pPr indent="0" lvl="6" marL="0" algn="l">
              <a:spcBef>
                <a:spcPts val="0"/>
              </a:spcBef>
              <a:buNone/>
              <a:defRPr sz="1100"/>
            </a:lvl7pPr>
            <a:lvl8pPr indent="0" lvl="7" marL="0" algn="l">
              <a:spcBef>
                <a:spcPts val="0"/>
              </a:spcBef>
              <a:buNone/>
              <a:defRPr sz="1100"/>
            </a:lvl8pPr>
            <a:lvl9pPr indent="0" lvl="8" marL="0" algn="l">
              <a:spcBef>
                <a:spcPts val="0"/>
              </a:spcBef>
              <a:buNone/>
              <a:defRPr sz="11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Mode Footer 1">
  <p:cSld name="1_Blank Slide_1_1">
    <p:spTree>
      <p:nvGrpSpPr>
        <p:cNvPr id="149" name="Shape 149"/>
        <p:cNvGrpSpPr/>
        <p:nvPr/>
      </p:nvGrpSpPr>
      <p:grpSpPr>
        <a:xfrm>
          <a:off x="0" y="0"/>
          <a:ext cx="0" cy="0"/>
          <a:chOff x="0" y="0"/>
          <a:chExt cx="0" cy="0"/>
        </a:xfrm>
      </p:grpSpPr>
      <p:pic>
        <p:nvPicPr>
          <p:cNvPr id="150" name="Google Shape;150;p31"/>
          <p:cNvPicPr preferRelativeResize="0"/>
          <p:nvPr/>
        </p:nvPicPr>
        <p:blipFill rotWithShape="1">
          <a:blip r:embed="rId2">
            <a:alphaModFix/>
          </a:blip>
          <a:srcRect b="0" l="0" r="0" t="0"/>
          <a:stretch/>
        </p:blipFill>
        <p:spPr>
          <a:xfrm>
            <a:off x="345956" y="4786294"/>
            <a:ext cx="745687" cy="255957"/>
          </a:xfrm>
          <a:prstGeom prst="rect">
            <a:avLst/>
          </a:prstGeom>
          <a:noFill/>
          <a:ln>
            <a:noFill/>
          </a:ln>
        </p:spPr>
      </p:pic>
      <p:sp>
        <p:nvSpPr>
          <p:cNvPr id="151" name="Google Shape;151;p31"/>
          <p:cNvSpPr txBox="1"/>
          <p:nvPr/>
        </p:nvSpPr>
        <p:spPr>
          <a:xfrm>
            <a:off x="8687100" y="4866506"/>
            <a:ext cx="355200" cy="2154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1A252A"/>
                </a:solidFill>
                <a:latin typeface="DM Sans"/>
                <a:ea typeface="DM Sans"/>
                <a:cs typeface="DM Sans"/>
                <a:sym typeface="DM Sans"/>
              </a:rPr>
              <a:t>‹#›</a:t>
            </a:fld>
            <a:endParaRPr b="0" i="0" sz="500" u="none" cap="none" strike="noStrike">
              <a:solidFill>
                <a:srgbClr val="1A252A"/>
              </a:solidFill>
              <a:latin typeface="DM Sans"/>
              <a:ea typeface="DM Sans"/>
              <a:cs typeface="DM Sans"/>
              <a:sym typeface="DM Sans"/>
            </a:endParaRPr>
          </a:p>
        </p:txBody>
      </p:sp>
      <p:sp>
        <p:nvSpPr>
          <p:cNvPr id="152" name="Google Shape;152;p31"/>
          <p:cNvSpPr txBox="1"/>
          <p:nvPr/>
        </p:nvSpPr>
        <p:spPr>
          <a:xfrm>
            <a:off x="3756938" y="4871231"/>
            <a:ext cx="1860900" cy="215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0C0C0C"/>
                </a:solidFill>
                <a:latin typeface="DM Sans"/>
                <a:ea typeface="DM Sans"/>
                <a:cs typeface="DM Sans"/>
                <a:sym typeface="DM Sans"/>
              </a:rPr>
              <a:t>Copyright </a:t>
            </a:r>
            <a:r>
              <a:rPr b="0" i="0" lang="en" sz="500" u="none" cap="none" strike="noStrike">
                <a:solidFill>
                  <a:srgbClr val="000000"/>
                </a:solidFill>
                <a:latin typeface="DM Sans"/>
                <a:ea typeface="DM Sans"/>
                <a:cs typeface="DM Sans"/>
                <a:sym typeface="DM Sans"/>
              </a:rPr>
              <a:t>© 2024 Kyriba Corp. All rights reserved.</a:t>
            </a:r>
            <a:endParaRPr b="0" i="0" sz="500" u="none" cap="none" strike="noStrike">
              <a:solidFill>
                <a:srgbClr val="0C0C0C"/>
              </a:solidFill>
              <a:latin typeface="DM Sans"/>
              <a:ea typeface="DM Sans"/>
              <a:cs typeface="DM Sans"/>
              <a:sym typeface="DM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ext Slide">
  <p:cSld name="2_Text Slide">
    <p:spTree>
      <p:nvGrpSpPr>
        <p:cNvPr id="153" name="Shape 153"/>
        <p:cNvGrpSpPr/>
        <p:nvPr/>
      </p:nvGrpSpPr>
      <p:grpSpPr>
        <a:xfrm>
          <a:off x="0" y="0"/>
          <a:ext cx="0" cy="0"/>
          <a:chOff x="0" y="0"/>
          <a:chExt cx="0" cy="0"/>
        </a:xfrm>
      </p:grpSpPr>
      <p:sp>
        <p:nvSpPr>
          <p:cNvPr id="154" name="Google Shape;154;p32"/>
          <p:cNvSpPr txBox="1"/>
          <p:nvPr>
            <p:ph idx="1" type="body"/>
          </p:nvPr>
        </p:nvSpPr>
        <p:spPr>
          <a:xfrm>
            <a:off x="477871" y="238545"/>
            <a:ext cx="8237100" cy="639300"/>
          </a:xfrm>
          <a:prstGeom prst="rect">
            <a:avLst/>
          </a:prstGeom>
          <a:noFill/>
          <a:ln>
            <a:noFill/>
          </a:ln>
        </p:spPr>
        <p:txBody>
          <a:bodyPr anchorCtr="0" anchor="t" bIns="34275" lIns="68575" spcFirstLastPara="1" rIns="68575" wrap="square" tIns="34275">
            <a:noAutofit/>
          </a:bodyPr>
          <a:lstStyle>
            <a:lvl1pPr indent="-228600" lvl="0" marL="457200" marR="0" algn="l">
              <a:lnSpc>
                <a:spcPct val="90000"/>
              </a:lnSpc>
              <a:spcBef>
                <a:spcPts val="800"/>
              </a:spcBef>
              <a:spcAft>
                <a:spcPts val="0"/>
              </a:spcAft>
              <a:buClr>
                <a:schemeClr val="dk1"/>
              </a:buClr>
              <a:buSzPts val="2100"/>
              <a:buFont typeface="Arial"/>
              <a:buNone/>
              <a:defRPr b="1" i="0" sz="2100" u="none" cap="none" strike="noStrike">
                <a:solidFill>
                  <a:schemeClr val="dk1"/>
                </a:solidFill>
                <a:latin typeface="Open Sans ExtraBold"/>
                <a:ea typeface="Open Sans ExtraBold"/>
                <a:cs typeface="Open Sans ExtraBold"/>
                <a:sym typeface="Open Sans ExtraBold"/>
              </a:defRPr>
            </a:lvl1pPr>
            <a:lvl2pPr indent="-228600" lvl="1" marL="914400" marR="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Open Sans"/>
                <a:ea typeface="Open Sans"/>
                <a:cs typeface="Open Sans"/>
                <a:sym typeface="Open Sans"/>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Open Sans"/>
                <a:ea typeface="Open Sans"/>
                <a:cs typeface="Open Sans"/>
                <a:sym typeface="Open Sans"/>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55" name="Google Shape;155;p32"/>
          <p:cNvSpPr txBox="1"/>
          <p:nvPr>
            <p:ph idx="2" type="body"/>
          </p:nvPr>
        </p:nvSpPr>
        <p:spPr>
          <a:xfrm>
            <a:off x="477871" y="1031683"/>
            <a:ext cx="8237100" cy="3359700"/>
          </a:xfrm>
          <a:prstGeom prst="rect">
            <a:avLst/>
          </a:prstGeom>
          <a:noFill/>
          <a:ln>
            <a:noFill/>
          </a:ln>
        </p:spPr>
        <p:txBody>
          <a:bodyPr anchorCtr="0" anchor="t" bIns="34275" lIns="68575" spcFirstLastPara="1" rIns="68575" wrap="square" tIns="34275">
            <a:noAutofit/>
          </a:bodyPr>
          <a:lstStyle>
            <a:lvl1pPr indent="-323850" lvl="0" marL="457200" marR="0" algn="l">
              <a:lnSpc>
                <a:spcPct val="100000"/>
              </a:lnSpc>
              <a:spcBef>
                <a:spcPts val="800"/>
              </a:spcBef>
              <a:spcAft>
                <a:spcPts val="0"/>
              </a:spcAft>
              <a:buClr>
                <a:schemeClr val="dk1"/>
              </a:buClr>
              <a:buSzPts val="1500"/>
              <a:buFont typeface="Arial"/>
              <a:buChar char="•"/>
              <a:defRPr b="1" i="0" sz="1500" u="none" cap="none" strike="noStrike">
                <a:solidFill>
                  <a:schemeClr val="dk1"/>
                </a:solidFill>
                <a:latin typeface="Open Sans"/>
                <a:ea typeface="Open Sans"/>
                <a:cs typeface="Open Sans"/>
                <a:sym typeface="Open Sans"/>
              </a:defRPr>
            </a:lvl1pPr>
            <a:lvl2pPr indent="-317500" lvl="1" marL="914400" marR="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2pPr>
            <a:lvl3pPr indent="-304800" lvl="2" marL="1371600" marR="0" algn="l">
              <a:lnSpc>
                <a:spcPct val="100000"/>
              </a:lnSpc>
              <a:spcBef>
                <a:spcPts val="400"/>
              </a:spcBef>
              <a:spcAft>
                <a:spcPts val="0"/>
              </a:spcAft>
              <a:buClr>
                <a:schemeClr val="dk1"/>
              </a:buClr>
              <a:buSzPts val="1200"/>
              <a:buFont typeface="Arial"/>
              <a:buChar char="•"/>
              <a:defRPr b="0" i="0" sz="1200" u="none" cap="none" strike="noStrike">
                <a:solidFill>
                  <a:schemeClr val="dk1"/>
                </a:solidFill>
                <a:latin typeface="Open Sans"/>
                <a:ea typeface="Open Sans"/>
                <a:cs typeface="Open Sans"/>
                <a:sym typeface="Open Sans"/>
              </a:defRPr>
            </a:lvl3pPr>
            <a:lvl4pPr indent="-298450" lvl="3" marL="1828800" marR="0" algn="l">
              <a:lnSpc>
                <a:spcPct val="100000"/>
              </a:lnSpc>
              <a:spcBef>
                <a:spcPts val="4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4pPr>
            <a:lvl5pPr indent="-298450" lvl="4" marL="2286000" marR="0" algn="l">
              <a:lnSpc>
                <a:spcPct val="100000"/>
              </a:lnSpc>
              <a:spcBef>
                <a:spcPts val="4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Mode Footer">
  <p:cSld name="1_Blank Slide_1_2">
    <p:bg>
      <p:bgPr>
        <a:noFill/>
      </p:bgPr>
    </p:bg>
    <p:spTree>
      <p:nvGrpSpPr>
        <p:cNvPr id="156" name="Shape 156"/>
        <p:cNvGrpSpPr/>
        <p:nvPr/>
      </p:nvGrpSpPr>
      <p:grpSpPr>
        <a:xfrm>
          <a:off x="0" y="0"/>
          <a:ext cx="0" cy="0"/>
          <a:chOff x="0" y="0"/>
          <a:chExt cx="0" cy="0"/>
        </a:xfrm>
      </p:grpSpPr>
      <p:pic>
        <p:nvPicPr>
          <p:cNvPr id="157" name="Google Shape;157;p33"/>
          <p:cNvPicPr preferRelativeResize="0"/>
          <p:nvPr/>
        </p:nvPicPr>
        <p:blipFill rotWithShape="1">
          <a:blip r:embed="rId2">
            <a:alphaModFix/>
          </a:blip>
          <a:srcRect b="150" l="0" r="0" t="150"/>
          <a:stretch/>
        </p:blipFill>
        <p:spPr>
          <a:xfrm>
            <a:off x="345956" y="4786294"/>
            <a:ext cx="745686" cy="255956"/>
          </a:xfrm>
          <a:prstGeom prst="rect">
            <a:avLst/>
          </a:prstGeom>
          <a:noFill/>
          <a:ln>
            <a:noFill/>
          </a:ln>
        </p:spPr>
      </p:pic>
      <p:sp>
        <p:nvSpPr>
          <p:cNvPr id="158" name="Google Shape;158;p33"/>
          <p:cNvSpPr txBox="1"/>
          <p:nvPr/>
        </p:nvSpPr>
        <p:spPr>
          <a:xfrm>
            <a:off x="3756938" y="4871231"/>
            <a:ext cx="1860900" cy="2154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0C0C0C"/>
                </a:solidFill>
                <a:latin typeface="DM Sans"/>
                <a:ea typeface="DM Sans"/>
                <a:cs typeface="DM Sans"/>
                <a:sym typeface="DM Sans"/>
              </a:rPr>
              <a:t>Copyright </a:t>
            </a:r>
            <a:r>
              <a:rPr b="0" i="0" lang="en" sz="500" u="none" cap="none" strike="noStrike">
                <a:solidFill>
                  <a:srgbClr val="000000"/>
                </a:solidFill>
                <a:latin typeface="DM Sans"/>
                <a:ea typeface="DM Sans"/>
                <a:cs typeface="DM Sans"/>
                <a:sym typeface="DM Sans"/>
              </a:rPr>
              <a:t>© 2024 Kyriba Corp. All rights reserved.</a:t>
            </a:r>
            <a:endParaRPr b="0" i="0" sz="500" u="none" cap="none" strike="noStrike">
              <a:solidFill>
                <a:srgbClr val="0C0C0C"/>
              </a:solidFill>
              <a:latin typeface="DM Sans"/>
              <a:ea typeface="DM Sans"/>
              <a:cs typeface="DM Sans"/>
              <a:sym typeface="DM Sans"/>
            </a:endParaRPr>
          </a:p>
        </p:txBody>
      </p:sp>
      <p:sp>
        <p:nvSpPr>
          <p:cNvPr id="159" name="Google Shape;159;p33"/>
          <p:cNvSpPr txBox="1"/>
          <p:nvPr/>
        </p:nvSpPr>
        <p:spPr>
          <a:xfrm>
            <a:off x="8687100" y="4866506"/>
            <a:ext cx="355200" cy="2154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n" sz="500" u="none" cap="none" strike="noStrike">
                <a:solidFill>
                  <a:srgbClr val="0C0C0C"/>
                </a:solidFill>
                <a:latin typeface="DM Sans"/>
                <a:ea typeface="DM Sans"/>
                <a:cs typeface="DM Sans"/>
                <a:sym typeface="DM Sans"/>
              </a:rPr>
              <a:t>‹#›</a:t>
            </a:fld>
            <a:endParaRPr b="0" i="0" sz="500" u="none" cap="none" strike="noStrike">
              <a:solidFill>
                <a:srgbClr val="0C0C0C"/>
              </a:solidFill>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163" name="Shape 163"/>
        <p:cNvGrpSpPr/>
        <p:nvPr/>
      </p:nvGrpSpPr>
      <p:grpSpPr>
        <a:xfrm>
          <a:off x="0" y="0"/>
          <a:ext cx="0" cy="0"/>
          <a:chOff x="0" y="0"/>
          <a:chExt cx="0" cy="0"/>
        </a:xfrm>
      </p:grpSpPr>
      <p:sp>
        <p:nvSpPr>
          <p:cNvPr id="164" name="Google Shape;164;p35"/>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65" name="Google Shape;165;p35"/>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66" name="Google Shape;166;p35"/>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67" name="Google Shape;167;p35"/>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168" name="Shape 168"/>
        <p:cNvGrpSpPr/>
        <p:nvPr/>
      </p:nvGrpSpPr>
      <p:grpSpPr>
        <a:xfrm>
          <a:off x="0" y="0"/>
          <a:ext cx="0" cy="0"/>
          <a:chOff x="0" y="0"/>
          <a:chExt cx="0" cy="0"/>
        </a:xfrm>
      </p:grpSpPr>
      <p:pic>
        <p:nvPicPr>
          <p:cNvPr id="169" name="Google Shape;169;p3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70" name="Shape 170"/>
        <p:cNvGrpSpPr/>
        <p:nvPr/>
      </p:nvGrpSpPr>
      <p:grpSpPr>
        <a:xfrm>
          <a:off x="0" y="0"/>
          <a:ext cx="0" cy="0"/>
          <a:chOff x="0" y="0"/>
          <a:chExt cx="0" cy="0"/>
        </a:xfrm>
      </p:grpSpPr>
      <p:sp>
        <p:nvSpPr>
          <p:cNvPr id="171" name="Google Shape;171;p37"/>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72" name="Google Shape;172;p37"/>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73" name="Google Shape;173;p3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
        <p:nvSpPr>
          <p:cNvPr id="174" name="Google Shape;174;p3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75" name="Google Shape;175;p3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176" name="Shape 176"/>
        <p:cNvGrpSpPr/>
        <p:nvPr/>
      </p:nvGrpSpPr>
      <p:grpSpPr>
        <a:xfrm>
          <a:off x="0" y="0"/>
          <a:ext cx="0" cy="0"/>
          <a:chOff x="0" y="0"/>
          <a:chExt cx="0" cy="0"/>
        </a:xfrm>
      </p:grpSpPr>
      <p:sp>
        <p:nvSpPr>
          <p:cNvPr id="177" name="Google Shape;177;p38"/>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3600"/>
              <a:buFont typeface="DM Mono"/>
              <a:buNone/>
              <a:defRPr sz="3600">
                <a:latin typeface="DM Mono"/>
                <a:ea typeface="DM Mono"/>
                <a:cs typeface="DM Mono"/>
                <a:sym typeface="DM Mono"/>
              </a:defRPr>
            </a:lvl1pPr>
            <a:lvl2pPr lvl="1" algn="l">
              <a:lnSpc>
                <a:spcPct val="80000"/>
              </a:lnSpc>
              <a:spcBef>
                <a:spcPts val="0"/>
              </a:spcBef>
              <a:spcAft>
                <a:spcPts val="0"/>
              </a:spcAft>
              <a:buSzPts val="3600"/>
              <a:buNone/>
              <a:defRPr sz="3600"/>
            </a:lvl2pPr>
            <a:lvl3pPr lvl="2" algn="l">
              <a:lnSpc>
                <a:spcPct val="80000"/>
              </a:lnSpc>
              <a:spcBef>
                <a:spcPts val="0"/>
              </a:spcBef>
              <a:spcAft>
                <a:spcPts val="0"/>
              </a:spcAft>
              <a:buSzPts val="3600"/>
              <a:buNone/>
              <a:defRPr sz="3600"/>
            </a:lvl3pPr>
            <a:lvl4pPr lvl="3" algn="l">
              <a:lnSpc>
                <a:spcPct val="80000"/>
              </a:lnSpc>
              <a:spcBef>
                <a:spcPts val="0"/>
              </a:spcBef>
              <a:spcAft>
                <a:spcPts val="0"/>
              </a:spcAft>
              <a:buSzPts val="3600"/>
              <a:buNone/>
              <a:defRPr sz="3600"/>
            </a:lvl4pPr>
            <a:lvl5pPr lvl="4" algn="l">
              <a:lnSpc>
                <a:spcPct val="80000"/>
              </a:lnSpc>
              <a:spcBef>
                <a:spcPts val="0"/>
              </a:spcBef>
              <a:spcAft>
                <a:spcPts val="0"/>
              </a:spcAft>
              <a:buSzPts val="3600"/>
              <a:buNone/>
              <a:defRPr sz="3600"/>
            </a:lvl5pPr>
            <a:lvl6pPr lvl="5" algn="l">
              <a:lnSpc>
                <a:spcPct val="80000"/>
              </a:lnSpc>
              <a:spcBef>
                <a:spcPts val="0"/>
              </a:spcBef>
              <a:spcAft>
                <a:spcPts val="0"/>
              </a:spcAft>
              <a:buSzPts val="3600"/>
              <a:buNone/>
              <a:defRPr sz="3600"/>
            </a:lvl6pPr>
            <a:lvl7pPr lvl="6" algn="l">
              <a:lnSpc>
                <a:spcPct val="80000"/>
              </a:lnSpc>
              <a:spcBef>
                <a:spcPts val="0"/>
              </a:spcBef>
              <a:spcAft>
                <a:spcPts val="0"/>
              </a:spcAft>
              <a:buSzPts val="3600"/>
              <a:buNone/>
              <a:defRPr sz="3600"/>
            </a:lvl7pPr>
            <a:lvl8pPr lvl="7" algn="l">
              <a:lnSpc>
                <a:spcPct val="80000"/>
              </a:lnSpc>
              <a:spcBef>
                <a:spcPts val="0"/>
              </a:spcBef>
              <a:spcAft>
                <a:spcPts val="0"/>
              </a:spcAft>
              <a:buSzPts val="3600"/>
              <a:buNone/>
              <a:defRPr sz="3600"/>
            </a:lvl8pPr>
            <a:lvl9pPr lvl="8" algn="l">
              <a:lnSpc>
                <a:spcPct val="80000"/>
              </a:lnSpc>
              <a:spcBef>
                <a:spcPts val="0"/>
              </a:spcBef>
              <a:spcAft>
                <a:spcPts val="0"/>
              </a:spcAft>
              <a:buSzPts val="3600"/>
              <a:buNone/>
              <a:defRPr sz="3600"/>
            </a:lvl9pPr>
          </a:lstStyle>
          <a:p/>
        </p:txBody>
      </p:sp>
      <p:sp>
        <p:nvSpPr>
          <p:cNvPr id="178" name="Google Shape;178;p38"/>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Font typeface="DM Sans"/>
              <a:buNone/>
              <a:defRPr sz="1700">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79" name="Google Shape;179;p38"/>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80" name="Google Shape;180;p3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181" name="Google Shape;181;p3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182" name="Shape 182"/>
        <p:cNvGrpSpPr/>
        <p:nvPr/>
      </p:nvGrpSpPr>
      <p:grpSpPr>
        <a:xfrm>
          <a:off x="0" y="0"/>
          <a:ext cx="0" cy="0"/>
          <a:chOff x="0" y="0"/>
          <a:chExt cx="0" cy="0"/>
        </a:xfrm>
      </p:grpSpPr>
      <p:sp>
        <p:nvSpPr>
          <p:cNvPr id="183" name="Google Shape;183;p39"/>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800"/>
              <a:buFont typeface="DM Mono"/>
              <a:buNone/>
              <a:defRPr>
                <a:latin typeface="DM Mono"/>
                <a:ea typeface="DM Mono"/>
                <a:cs typeface="DM Mono"/>
                <a:sym typeface="DM Mono"/>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algn="l">
              <a:lnSpc>
                <a:spcPct val="80000"/>
              </a:lnSpc>
              <a:spcBef>
                <a:spcPts val="0"/>
              </a:spcBef>
              <a:spcAft>
                <a:spcPts val="0"/>
              </a:spcAft>
              <a:buSzPts val="2800"/>
              <a:buNone/>
              <a:defRPr/>
            </a:lvl6pPr>
            <a:lvl7pPr lvl="6" algn="l">
              <a:lnSpc>
                <a:spcPct val="80000"/>
              </a:lnSpc>
              <a:spcBef>
                <a:spcPts val="0"/>
              </a:spcBef>
              <a:spcAft>
                <a:spcPts val="0"/>
              </a:spcAft>
              <a:buSzPts val="2800"/>
              <a:buNone/>
              <a:defRPr/>
            </a:lvl7pPr>
            <a:lvl8pPr lvl="7" algn="l">
              <a:lnSpc>
                <a:spcPct val="80000"/>
              </a:lnSpc>
              <a:spcBef>
                <a:spcPts val="0"/>
              </a:spcBef>
              <a:spcAft>
                <a:spcPts val="0"/>
              </a:spcAft>
              <a:buSzPts val="2800"/>
              <a:buNone/>
              <a:defRPr/>
            </a:lvl8pPr>
            <a:lvl9pPr lvl="8" algn="l">
              <a:lnSpc>
                <a:spcPct val="80000"/>
              </a:lnSpc>
              <a:spcBef>
                <a:spcPts val="0"/>
              </a:spcBef>
              <a:spcAft>
                <a:spcPts val="0"/>
              </a:spcAft>
              <a:buSzPts val="2800"/>
              <a:buNone/>
              <a:defRPr/>
            </a:lvl9pPr>
          </a:lstStyle>
          <a:p/>
        </p:txBody>
      </p:sp>
      <p:sp>
        <p:nvSpPr>
          <p:cNvPr id="184" name="Google Shape;184;p39"/>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85" name="Google Shape;185;p3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86" name="Google Shape;186;p3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87" name="Google Shape;187;p3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188" name="Shape 188"/>
        <p:cNvGrpSpPr/>
        <p:nvPr/>
      </p:nvGrpSpPr>
      <p:grpSpPr>
        <a:xfrm>
          <a:off x="0" y="0"/>
          <a:ext cx="0" cy="0"/>
          <a:chOff x="0" y="0"/>
          <a:chExt cx="0" cy="0"/>
        </a:xfrm>
      </p:grpSpPr>
      <p:sp>
        <p:nvSpPr>
          <p:cNvPr id="189" name="Google Shape;189;p40"/>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90" name="Google Shape;190;p40"/>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91" name="Google Shape;191;p4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192" name="Google Shape;192;p40"/>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193" name="Google Shape;193;p4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194" name="Shape 194"/>
        <p:cNvGrpSpPr/>
        <p:nvPr/>
      </p:nvGrpSpPr>
      <p:grpSpPr>
        <a:xfrm>
          <a:off x="0" y="0"/>
          <a:ext cx="0" cy="0"/>
          <a:chOff x="0" y="0"/>
          <a:chExt cx="0" cy="0"/>
        </a:xfrm>
      </p:grpSpPr>
      <p:sp>
        <p:nvSpPr>
          <p:cNvPr id="195" name="Google Shape;195;p41"/>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96" name="Google Shape;196;p41"/>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pic>
        <p:nvPicPr>
          <p:cNvPr id="197" name="Google Shape;197;p41"/>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198" name="Shape 198"/>
        <p:cNvGrpSpPr/>
        <p:nvPr/>
      </p:nvGrpSpPr>
      <p:grpSpPr>
        <a:xfrm>
          <a:off x="0" y="0"/>
          <a:ext cx="0" cy="0"/>
          <a:chOff x="0" y="0"/>
          <a:chExt cx="0" cy="0"/>
        </a:xfrm>
      </p:grpSpPr>
      <p:sp>
        <p:nvSpPr>
          <p:cNvPr id="199" name="Google Shape;199;p42"/>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200" name="Google Shape;200;p42"/>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201" name="Google Shape;201;p42"/>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202" name="Google Shape;202;p42"/>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03" name="Shape 203"/>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204" name="Shape 204"/>
        <p:cNvGrpSpPr/>
        <p:nvPr/>
      </p:nvGrpSpPr>
      <p:grpSpPr>
        <a:xfrm>
          <a:off x="0" y="0"/>
          <a:ext cx="0" cy="0"/>
          <a:chOff x="0" y="0"/>
          <a:chExt cx="0" cy="0"/>
        </a:xfrm>
      </p:grpSpPr>
      <p:sp>
        <p:nvSpPr>
          <p:cNvPr id="205" name="Google Shape;205;p4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206" name="Google Shape;206;p44"/>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3600"/>
              <a:buNone/>
              <a:defRPr sz="3600">
                <a:solidFill>
                  <a:schemeClr val="lt1"/>
                </a:solidFill>
              </a:defRPr>
            </a:lvl2pPr>
            <a:lvl3pPr lvl="2" algn="l">
              <a:lnSpc>
                <a:spcPct val="80000"/>
              </a:lnSpc>
              <a:spcBef>
                <a:spcPts val="0"/>
              </a:spcBef>
              <a:spcAft>
                <a:spcPts val="0"/>
              </a:spcAft>
              <a:buClr>
                <a:schemeClr val="lt1"/>
              </a:buClr>
              <a:buSzPts val="3600"/>
              <a:buNone/>
              <a:defRPr sz="3600">
                <a:solidFill>
                  <a:schemeClr val="lt1"/>
                </a:solidFill>
              </a:defRPr>
            </a:lvl3pPr>
            <a:lvl4pPr lvl="3" algn="l">
              <a:lnSpc>
                <a:spcPct val="80000"/>
              </a:lnSpc>
              <a:spcBef>
                <a:spcPts val="0"/>
              </a:spcBef>
              <a:spcAft>
                <a:spcPts val="0"/>
              </a:spcAft>
              <a:buClr>
                <a:schemeClr val="lt1"/>
              </a:buClr>
              <a:buSzPts val="3600"/>
              <a:buNone/>
              <a:defRPr sz="3600">
                <a:solidFill>
                  <a:schemeClr val="lt1"/>
                </a:solidFill>
              </a:defRPr>
            </a:lvl4pPr>
            <a:lvl5pPr lvl="4" algn="l">
              <a:lnSpc>
                <a:spcPct val="80000"/>
              </a:lnSpc>
              <a:spcBef>
                <a:spcPts val="0"/>
              </a:spcBef>
              <a:spcAft>
                <a:spcPts val="0"/>
              </a:spcAft>
              <a:buClr>
                <a:schemeClr val="lt1"/>
              </a:buClr>
              <a:buSzPts val="3600"/>
              <a:buNone/>
              <a:defRPr sz="3600">
                <a:solidFill>
                  <a:schemeClr val="lt1"/>
                </a:solidFill>
              </a:defRPr>
            </a:lvl5pPr>
            <a:lvl6pPr lvl="5" algn="l">
              <a:lnSpc>
                <a:spcPct val="80000"/>
              </a:lnSpc>
              <a:spcBef>
                <a:spcPts val="0"/>
              </a:spcBef>
              <a:spcAft>
                <a:spcPts val="0"/>
              </a:spcAft>
              <a:buClr>
                <a:schemeClr val="lt1"/>
              </a:buClr>
              <a:buSzPts val="3600"/>
              <a:buNone/>
              <a:defRPr sz="3600">
                <a:solidFill>
                  <a:schemeClr val="lt1"/>
                </a:solidFill>
              </a:defRPr>
            </a:lvl6pPr>
            <a:lvl7pPr lvl="6" algn="l">
              <a:lnSpc>
                <a:spcPct val="80000"/>
              </a:lnSpc>
              <a:spcBef>
                <a:spcPts val="0"/>
              </a:spcBef>
              <a:spcAft>
                <a:spcPts val="0"/>
              </a:spcAft>
              <a:buClr>
                <a:schemeClr val="lt1"/>
              </a:buClr>
              <a:buSzPts val="3600"/>
              <a:buNone/>
              <a:defRPr sz="3600">
                <a:solidFill>
                  <a:schemeClr val="lt1"/>
                </a:solidFill>
              </a:defRPr>
            </a:lvl7pPr>
            <a:lvl8pPr lvl="7" algn="l">
              <a:lnSpc>
                <a:spcPct val="80000"/>
              </a:lnSpc>
              <a:spcBef>
                <a:spcPts val="0"/>
              </a:spcBef>
              <a:spcAft>
                <a:spcPts val="0"/>
              </a:spcAft>
              <a:buClr>
                <a:schemeClr val="lt1"/>
              </a:buClr>
              <a:buSzPts val="3600"/>
              <a:buNone/>
              <a:defRPr sz="3600">
                <a:solidFill>
                  <a:schemeClr val="lt1"/>
                </a:solidFill>
              </a:defRPr>
            </a:lvl8pPr>
            <a:lvl9pPr lvl="8" algn="l">
              <a:lnSpc>
                <a:spcPct val="80000"/>
              </a:lnSpc>
              <a:spcBef>
                <a:spcPts val="0"/>
              </a:spcBef>
              <a:spcAft>
                <a:spcPts val="0"/>
              </a:spcAft>
              <a:buClr>
                <a:schemeClr val="lt1"/>
              </a:buClr>
              <a:buSzPts val="3600"/>
              <a:buNone/>
              <a:defRPr sz="3600">
                <a:solidFill>
                  <a:schemeClr val="lt1"/>
                </a:solidFill>
              </a:defRPr>
            </a:lvl9pPr>
          </a:lstStyle>
          <a:p/>
        </p:txBody>
      </p:sp>
      <p:sp>
        <p:nvSpPr>
          <p:cNvPr id="207" name="Google Shape;207;p44"/>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700"/>
              <a:buNone/>
              <a:defRPr sz="1700">
                <a:solidFill>
                  <a:schemeClr val="lt1"/>
                </a:solidFill>
              </a:defRPr>
            </a:lvl2pPr>
            <a:lvl3pPr lvl="2" algn="l">
              <a:lnSpc>
                <a:spcPct val="100000"/>
              </a:lnSpc>
              <a:spcBef>
                <a:spcPts val="0"/>
              </a:spcBef>
              <a:spcAft>
                <a:spcPts val="0"/>
              </a:spcAft>
              <a:buClr>
                <a:schemeClr val="lt1"/>
              </a:buClr>
              <a:buSzPts val="1700"/>
              <a:buNone/>
              <a:defRPr sz="1700">
                <a:solidFill>
                  <a:schemeClr val="lt1"/>
                </a:solidFill>
              </a:defRPr>
            </a:lvl3pPr>
            <a:lvl4pPr lvl="3" algn="l">
              <a:lnSpc>
                <a:spcPct val="100000"/>
              </a:lnSpc>
              <a:spcBef>
                <a:spcPts val="0"/>
              </a:spcBef>
              <a:spcAft>
                <a:spcPts val="0"/>
              </a:spcAft>
              <a:buClr>
                <a:schemeClr val="lt1"/>
              </a:buClr>
              <a:buSzPts val="1700"/>
              <a:buNone/>
              <a:defRPr sz="1700">
                <a:solidFill>
                  <a:schemeClr val="lt1"/>
                </a:solidFill>
              </a:defRPr>
            </a:lvl4pPr>
            <a:lvl5pPr lvl="4" algn="l">
              <a:lnSpc>
                <a:spcPct val="100000"/>
              </a:lnSpc>
              <a:spcBef>
                <a:spcPts val="0"/>
              </a:spcBef>
              <a:spcAft>
                <a:spcPts val="0"/>
              </a:spcAft>
              <a:buClr>
                <a:schemeClr val="lt1"/>
              </a:buClr>
              <a:buSzPts val="1700"/>
              <a:buNone/>
              <a:defRPr sz="1700">
                <a:solidFill>
                  <a:schemeClr val="lt1"/>
                </a:solidFill>
              </a:defRPr>
            </a:lvl5pPr>
            <a:lvl6pPr lvl="5" algn="l">
              <a:lnSpc>
                <a:spcPct val="100000"/>
              </a:lnSpc>
              <a:spcBef>
                <a:spcPts val="0"/>
              </a:spcBef>
              <a:spcAft>
                <a:spcPts val="0"/>
              </a:spcAft>
              <a:buClr>
                <a:schemeClr val="lt1"/>
              </a:buClr>
              <a:buSzPts val="1700"/>
              <a:buNone/>
              <a:defRPr sz="1700">
                <a:solidFill>
                  <a:schemeClr val="lt1"/>
                </a:solidFill>
              </a:defRPr>
            </a:lvl6pPr>
            <a:lvl7pPr lvl="6" algn="l">
              <a:lnSpc>
                <a:spcPct val="100000"/>
              </a:lnSpc>
              <a:spcBef>
                <a:spcPts val="0"/>
              </a:spcBef>
              <a:spcAft>
                <a:spcPts val="0"/>
              </a:spcAft>
              <a:buClr>
                <a:schemeClr val="lt1"/>
              </a:buClr>
              <a:buSzPts val="1700"/>
              <a:buNone/>
              <a:defRPr sz="1700">
                <a:solidFill>
                  <a:schemeClr val="lt1"/>
                </a:solidFill>
              </a:defRPr>
            </a:lvl7pPr>
            <a:lvl8pPr lvl="7" algn="l">
              <a:lnSpc>
                <a:spcPct val="100000"/>
              </a:lnSpc>
              <a:spcBef>
                <a:spcPts val="0"/>
              </a:spcBef>
              <a:spcAft>
                <a:spcPts val="0"/>
              </a:spcAft>
              <a:buClr>
                <a:schemeClr val="lt1"/>
              </a:buClr>
              <a:buSzPts val="1700"/>
              <a:buNone/>
              <a:defRPr sz="1700">
                <a:solidFill>
                  <a:schemeClr val="lt1"/>
                </a:solidFill>
              </a:defRPr>
            </a:lvl8pPr>
            <a:lvl9pPr lvl="8" algn="l">
              <a:lnSpc>
                <a:spcPct val="100000"/>
              </a:lnSpc>
              <a:spcBef>
                <a:spcPts val="0"/>
              </a:spcBef>
              <a:spcAft>
                <a:spcPts val="0"/>
              </a:spcAft>
              <a:buClr>
                <a:schemeClr val="lt1"/>
              </a:buClr>
              <a:buSzPts val="1700"/>
              <a:buNone/>
              <a:defRPr sz="1700">
                <a:solidFill>
                  <a:schemeClr val="lt1"/>
                </a:solidFill>
              </a:defRPr>
            </a:lvl9pPr>
          </a:lstStyle>
          <a:p/>
        </p:txBody>
      </p:sp>
      <p:pic>
        <p:nvPicPr>
          <p:cNvPr id="208" name="Google Shape;208;p44"/>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209" name="Google Shape;209;p4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210" name="Shape 210"/>
        <p:cNvGrpSpPr/>
        <p:nvPr/>
      </p:nvGrpSpPr>
      <p:grpSpPr>
        <a:xfrm>
          <a:off x="0" y="0"/>
          <a:ext cx="0" cy="0"/>
          <a:chOff x="0" y="0"/>
          <a:chExt cx="0" cy="0"/>
        </a:xfrm>
      </p:grpSpPr>
      <p:sp>
        <p:nvSpPr>
          <p:cNvPr id="211" name="Google Shape;211;p45"/>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12" name="Google Shape;212;p45"/>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13" name="Google Shape;213;p45"/>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14" name="Google Shape;214;p4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15" name="Google Shape;215;p4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16" name="Google Shape;216;p4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217" name="Shape 217"/>
        <p:cNvGrpSpPr/>
        <p:nvPr/>
      </p:nvGrpSpPr>
      <p:grpSpPr>
        <a:xfrm>
          <a:off x="0" y="0"/>
          <a:ext cx="0" cy="0"/>
          <a:chOff x="0" y="0"/>
          <a:chExt cx="0" cy="0"/>
        </a:xfrm>
      </p:grpSpPr>
      <p:sp>
        <p:nvSpPr>
          <p:cNvPr id="218" name="Google Shape;218;p46"/>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19" name="Google Shape;219;p46"/>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220" name="Shape 220"/>
        <p:cNvGrpSpPr/>
        <p:nvPr/>
      </p:nvGrpSpPr>
      <p:grpSpPr>
        <a:xfrm>
          <a:off x="0" y="0"/>
          <a:ext cx="0" cy="0"/>
          <a:chOff x="0" y="0"/>
          <a:chExt cx="0" cy="0"/>
        </a:xfrm>
      </p:grpSpPr>
      <p:sp>
        <p:nvSpPr>
          <p:cNvPr id="221" name="Google Shape;221;p47"/>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22" name="Google Shape;222;p47"/>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223" name="Shape 223"/>
        <p:cNvGrpSpPr/>
        <p:nvPr/>
      </p:nvGrpSpPr>
      <p:grpSpPr>
        <a:xfrm>
          <a:off x="0" y="0"/>
          <a:ext cx="0" cy="0"/>
          <a:chOff x="0" y="0"/>
          <a:chExt cx="0" cy="0"/>
        </a:xfrm>
      </p:grpSpPr>
      <p:sp>
        <p:nvSpPr>
          <p:cNvPr id="224" name="Google Shape;224;p48"/>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25" name="Google Shape;225;p48"/>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226" name="Shape 226"/>
        <p:cNvGrpSpPr/>
        <p:nvPr/>
      </p:nvGrpSpPr>
      <p:grpSpPr>
        <a:xfrm>
          <a:off x="0" y="0"/>
          <a:ext cx="0" cy="0"/>
          <a:chOff x="0" y="0"/>
          <a:chExt cx="0" cy="0"/>
        </a:xfrm>
      </p:grpSpPr>
      <p:sp>
        <p:nvSpPr>
          <p:cNvPr id="227" name="Google Shape;227;p49"/>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28" name="Google Shape;228;p49"/>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29" name="Google Shape;229;p4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30" name="Google Shape;230;p4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1" name="Google Shape;231;p4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32" name="Shape 232"/>
        <p:cNvGrpSpPr/>
        <p:nvPr/>
      </p:nvGrpSpPr>
      <p:grpSpPr>
        <a:xfrm>
          <a:off x="0" y="0"/>
          <a:ext cx="0" cy="0"/>
          <a:chOff x="0" y="0"/>
          <a:chExt cx="0" cy="0"/>
        </a:xfrm>
      </p:grpSpPr>
      <p:sp>
        <p:nvSpPr>
          <p:cNvPr id="233" name="Google Shape;233;p50"/>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34" name="Google Shape;234;p5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35" name="Google Shape;235;p50"/>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36" name="Google Shape;236;p5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237" name="Shape 237"/>
        <p:cNvGrpSpPr/>
        <p:nvPr/>
      </p:nvGrpSpPr>
      <p:grpSpPr>
        <a:xfrm>
          <a:off x="0" y="0"/>
          <a:ext cx="0" cy="0"/>
          <a:chOff x="0" y="0"/>
          <a:chExt cx="0" cy="0"/>
        </a:xfrm>
      </p:grpSpPr>
      <p:sp>
        <p:nvSpPr>
          <p:cNvPr id="238" name="Google Shape;238;p5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39" name="Google Shape;239;p51"/>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240" name="Google Shape;240;p5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241" name="Shape 241"/>
        <p:cNvGrpSpPr/>
        <p:nvPr/>
      </p:nvGrpSpPr>
      <p:grpSpPr>
        <a:xfrm>
          <a:off x="0" y="0"/>
          <a:ext cx="0" cy="0"/>
          <a:chOff x="0" y="0"/>
          <a:chExt cx="0" cy="0"/>
        </a:xfrm>
      </p:grpSpPr>
      <p:sp>
        <p:nvSpPr>
          <p:cNvPr id="242" name="Google Shape;242;p52"/>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43" name="Google Shape;243;p52"/>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44" name="Google Shape;244;p52"/>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246" name="Google Shape;246;p52"/>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247" name="Shape 247"/>
        <p:cNvGrpSpPr/>
        <p:nvPr/>
      </p:nvGrpSpPr>
      <p:grpSpPr>
        <a:xfrm>
          <a:off x="0" y="0"/>
          <a:ext cx="0" cy="0"/>
          <a:chOff x="0" y="0"/>
          <a:chExt cx="0" cy="0"/>
        </a:xfrm>
      </p:grpSpPr>
      <p:sp>
        <p:nvSpPr>
          <p:cNvPr id="248" name="Google Shape;248;p5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249" name="Shape 249"/>
        <p:cNvGrpSpPr/>
        <p:nvPr/>
      </p:nvGrpSpPr>
      <p:grpSpPr>
        <a:xfrm>
          <a:off x="0" y="0"/>
          <a:ext cx="0" cy="0"/>
          <a:chOff x="0" y="0"/>
          <a:chExt cx="0" cy="0"/>
        </a:xfrm>
      </p:grpSpPr>
      <p:sp>
        <p:nvSpPr>
          <p:cNvPr id="250" name="Google Shape;250;p5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51" name="Google Shape;251;p54"/>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252" name="Google Shape;252;p5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253" name="Shape 253"/>
        <p:cNvGrpSpPr/>
        <p:nvPr/>
      </p:nvGrpSpPr>
      <p:grpSpPr>
        <a:xfrm>
          <a:off x="0" y="0"/>
          <a:ext cx="0" cy="0"/>
          <a:chOff x="0" y="0"/>
          <a:chExt cx="0" cy="0"/>
        </a:xfrm>
      </p:grpSpPr>
      <p:sp>
        <p:nvSpPr>
          <p:cNvPr id="254" name="Google Shape;254;p55"/>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255" name="Google Shape;255;p55"/>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256" name="Google Shape;256;p55"/>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257" name="Shape 257"/>
        <p:cNvGrpSpPr/>
        <p:nvPr/>
      </p:nvGrpSpPr>
      <p:grpSpPr>
        <a:xfrm>
          <a:off x="0" y="0"/>
          <a:ext cx="0" cy="0"/>
          <a:chOff x="0" y="0"/>
          <a:chExt cx="0" cy="0"/>
        </a:xfrm>
      </p:grpSpPr>
      <p:sp>
        <p:nvSpPr>
          <p:cNvPr id="258" name="Google Shape;258;p56"/>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59" name="Google Shape;259;p56"/>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60" name="Google Shape;260;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261" name="Google Shape;261;p56"/>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62" name="Google Shape;262;p5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63" name="Google Shape;263;p5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264" name="Shape 264"/>
        <p:cNvGrpSpPr/>
        <p:nvPr/>
      </p:nvGrpSpPr>
      <p:grpSpPr>
        <a:xfrm>
          <a:off x="0" y="0"/>
          <a:ext cx="0" cy="0"/>
          <a:chOff x="0" y="0"/>
          <a:chExt cx="0" cy="0"/>
        </a:xfrm>
      </p:grpSpPr>
      <p:sp>
        <p:nvSpPr>
          <p:cNvPr id="265" name="Google Shape;265;p57"/>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66" name="Google Shape;266;p57"/>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67" name="Google Shape;267;p57"/>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7"/>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269" name="Shape 269"/>
        <p:cNvGrpSpPr/>
        <p:nvPr/>
      </p:nvGrpSpPr>
      <p:grpSpPr>
        <a:xfrm>
          <a:off x="0" y="0"/>
          <a:ext cx="0" cy="0"/>
          <a:chOff x="0" y="0"/>
          <a:chExt cx="0" cy="0"/>
        </a:xfrm>
      </p:grpSpPr>
      <p:sp>
        <p:nvSpPr>
          <p:cNvPr id="270" name="Google Shape;270;p58"/>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71" name="Google Shape;271;p5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72" name="Google Shape;272;p58"/>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273" name="Shape 273"/>
        <p:cNvGrpSpPr/>
        <p:nvPr/>
      </p:nvGrpSpPr>
      <p:grpSpPr>
        <a:xfrm>
          <a:off x="0" y="0"/>
          <a:ext cx="0" cy="0"/>
          <a:chOff x="0" y="0"/>
          <a:chExt cx="0" cy="0"/>
        </a:xfrm>
      </p:grpSpPr>
      <p:sp>
        <p:nvSpPr>
          <p:cNvPr id="274" name="Google Shape;274;p5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algn="ctr">
              <a:lnSpc>
                <a:spcPct val="80000"/>
              </a:lnSpc>
              <a:spcBef>
                <a:spcPts val="0"/>
              </a:spcBef>
              <a:spcAft>
                <a:spcPts val="0"/>
              </a:spcAft>
              <a:buSzPts val="12000"/>
              <a:buNone/>
              <a:defRPr sz="12000"/>
            </a:lvl2pPr>
            <a:lvl3pPr lvl="2" algn="ctr">
              <a:lnSpc>
                <a:spcPct val="80000"/>
              </a:lnSpc>
              <a:spcBef>
                <a:spcPts val="0"/>
              </a:spcBef>
              <a:spcAft>
                <a:spcPts val="0"/>
              </a:spcAft>
              <a:buSzPts val="12000"/>
              <a:buNone/>
              <a:defRPr sz="12000"/>
            </a:lvl3pPr>
            <a:lvl4pPr lvl="3" algn="ctr">
              <a:lnSpc>
                <a:spcPct val="80000"/>
              </a:lnSpc>
              <a:spcBef>
                <a:spcPts val="0"/>
              </a:spcBef>
              <a:spcAft>
                <a:spcPts val="0"/>
              </a:spcAft>
              <a:buSzPts val="12000"/>
              <a:buNone/>
              <a:defRPr sz="12000"/>
            </a:lvl4pPr>
            <a:lvl5pPr lvl="4" algn="ctr">
              <a:lnSpc>
                <a:spcPct val="80000"/>
              </a:lnSpc>
              <a:spcBef>
                <a:spcPts val="0"/>
              </a:spcBef>
              <a:spcAft>
                <a:spcPts val="0"/>
              </a:spcAft>
              <a:buSzPts val="12000"/>
              <a:buNone/>
              <a:defRPr sz="12000"/>
            </a:lvl5pPr>
            <a:lvl6pPr lvl="5" algn="ctr">
              <a:lnSpc>
                <a:spcPct val="80000"/>
              </a:lnSpc>
              <a:spcBef>
                <a:spcPts val="0"/>
              </a:spcBef>
              <a:spcAft>
                <a:spcPts val="0"/>
              </a:spcAft>
              <a:buSzPts val="12000"/>
              <a:buNone/>
              <a:defRPr sz="12000"/>
            </a:lvl6pPr>
            <a:lvl7pPr lvl="6" algn="ctr">
              <a:lnSpc>
                <a:spcPct val="80000"/>
              </a:lnSpc>
              <a:spcBef>
                <a:spcPts val="0"/>
              </a:spcBef>
              <a:spcAft>
                <a:spcPts val="0"/>
              </a:spcAft>
              <a:buSzPts val="12000"/>
              <a:buNone/>
              <a:defRPr sz="12000"/>
            </a:lvl7pPr>
            <a:lvl8pPr lvl="7" algn="ctr">
              <a:lnSpc>
                <a:spcPct val="80000"/>
              </a:lnSpc>
              <a:spcBef>
                <a:spcPts val="0"/>
              </a:spcBef>
              <a:spcAft>
                <a:spcPts val="0"/>
              </a:spcAft>
              <a:buSzPts val="12000"/>
              <a:buNone/>
              <a:defRPr sz="12000"/>
            </a:lvl8pPr>
            <a:lvl9pPr lvl="8" algn="ctr">
              <a:lnSpc>
                <a:spcPct val="80000"/>
              </a:lnSpc>
              <a:spcBef>
                <a:spcPts val="0"/>
              </a:spcBef>
              <a:spcAft>
                <a:spcPts val="0"/>
              </a:spcAft>
              <a:buSzPts val="12000"/>
              <a:buNone/>
              <a:defRPr sz="12000"/>
            </a:lvl9pPr>
          </a:lstStyle>
          <a:p>
            <a:r>
              <a:t>xx%</a:t>
            </a:r>
          </a:p>
        </p:txBody>
      </p:sp>
      <p:sp>
        <p:nvSpPr>
          <p:cNvPr id="275" name="Google Shape;275;p59"/>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276" name="Google Shape;276;p59"/>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77" name="Google Shape;277;p5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78" name="Google Shape;278;p5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2.xml"/><Relationship Id="rId22" Type="http://schemas.openxmlformats.org/officeDocument/2006/relationships/slideLayout" Target="../slideLayouts/slideLayout54.xml"/><Relationship Id="rId21" Type="http://schemas.openxmlformats.org/officeDocument/2006/relationships/slideLayout" Target="../slideLayouts/slideLayout53.xml"/><Relationship Id="rId24" Type="http://schemas.openxmlformats.org/officeDocument/2006/relationships/slideLayout" Target="../slideLayouts/slideLayout56.xml"/><Relationship Id="rId23" Type="http://schemas.openxmlformats.org/officeDocument/2006/relationships/slideLayout" Target="../slideLayouts/slideLayout55.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26" Type="http://schemas.openxmlformats.org/officeDocument/2006/relationships/theme" Target="../theme/theme1.xml"/><Relationship Id="rId25" Type="http://schemas.openxmlformats.org/officeDocument/2006/relationships/slideLayout" Target="../slideLayouts/slideLayout57.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slideLayout" Target="../slideLayouts/slideLayout49.xml"/><Relationship Id="rId16" Type="http://schemas.openxmlformats.org/officeDocument/2006/relationships/slideLayout" Target="../slideLayouts/slideLayout48.xml"/><Relationship Id="rId19" Type="http://schemas.openxmlformats.org/officeDocument/2006/relationships/slideLayout" Target="../slideLayouts/slideLayout51.xml"/><Relationship Id="rId18"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7" name="Google Shape;7;p1"/>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60" name="Shape 160"/>
        <p:cNvGrpSpPr/>
        <p:nvPr/>
      </p:nvGrpSpPr>
      <p:grpSpPr>
        <a:xfrm>
          <a:off x="0" y="0"/>
          <a:ext cx="0" cy="0"/>
          <a:chOff x="0" y="0"/>
          <a:chExt cx="0" cy="0"/>
        </a:xfrm>
      </p:grpSpPr>
      <p:sp>
        <p:nvSpPr>
          <p:cNvPr id="161" name="Google Shape;161;p34"/>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162" name="Google Shape;162;p34"/>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 id="2147483700" r:id="rId21"/>
    <p:sldLayoutId id="2147483701" r:id="rId22"/>
    <p:sldLayoutId id="2147483702" r:id="rId23"/>
    <p:sldLayoutId id="2147483703" r:id="rId24"/>
    <p:sldLayoutId id="2147483704" r:id="rId25"/>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hyperlink" Target="https://drive.google.com/file/d/1KkoWc4-IorP2n02gBqTWHGNMlRasXLBv/view?usp=drive_link" TargetMode="External"/><Relationship Id="rId9" Type="http://schemas.openxmlformats.org/officeDocument/2006/relationships/hyperlink" Target="https://www.kyriba.com/resource/ai-agents-for-treasury-and-finance/" TargetMode="External"/><Relationship Id="rId5" Type="http://schemas.openxmlformats.org/officeDocument/2006/relationships/hyperlink" Target="https://docs.google.com/document/d/1bPfeI8HlyRuBAc3x4H0-w4MacOFewJzd/edit" TargetMode="External"/><Relationship Id="rId6" Type="http://schemas.openxmlformats.org/officeDocument/2006/relationships/hyperlink" Target="https://play.goconsensus.com/s67b94ebf" TargetMode="External"/><Relationship Id="rId7" Type="http://schemas.openxmlformats.org/officeDocument/2006/relationships/hyperlink" Target="https://play.goconsensus.com/se66e9891" TargetMode="External"/><Relationship Id="rId8" Type="http://schemas.openxmlformats.org/officeDocument/2006/relationships/hyperlink" Target="https://kyribaacademy.talentlms.com/unit/view/id:4781" TargetMode="External"/><Relationship Id="rId11" Type="http://schemas.openxmlformats.org/officeDocument/2006/relationships/hyperlink" Target="https://kyriba.slack.com/archives/C08KSCF7CE8" TargetMode="External"/><Relationship Id="rId10" Type="http://schemas.openxmlformats.org/officeDocument/2006/relationships/hyperlink" Target="https://developer.kyriba.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kyriba.com/use-cases/kyriba-trusted-ai/"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document/d/1bPfeI8HlyRuBAc3x4H0-w4MacOFewJzd/edit" TargetMode="External"/><Relationship Id="rId4" Type="http://schemas.openxmlformats.org/officeDocument/2006/relationships/hyperlink" Target="https://play.goconsensus.com/s67b94ebf" TargetMode="External"/><Relationship Id="rId5" Type="http://schemas.openxmlformats.org/officeDocument/2006/relationships/hyperlink" Target="https://play.goconsensus.com/se66e989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5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 Id="rId3" Type="http://schemas.openxmlformats.org/officeDocument/2006/relationships/hyperlink" Target="https://kyriba.lightning.force.com/lightning/r/Product2/01tSb00000NH9zJIAT/view" TargetMode="External"/><Relationship Id="rId4" Type="http://schemas.openxmlformats.org/officeDocument/2006/relationships/hyperlink" Target="https://kyriba.lightning.force.com/lightning/r/Product2/01tSb00000NH9srIAD/view" TargetMode="External"/><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image" Target="../media/image23.png"/><Relationship Id="rId5"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hyperlink" Target="https://drive.google.com/file/d/1KkoWc4-IorP2n02gBqTWHGNMlRasXLBv/view?usp=drive_link" TargetMode="External"/><Relationship Id="rId4" Type="http://schemas.openxmlformats.org/officeDocument/2006/relationships/hyperlink" Target="https://internal-kyribaacademy.talentlms.com/learner/courseinfo/id:401" TargetMode="External"/><Relationship Id="rId5" Type="http://schemas.openxmlformats.org/officeDocument/2006/relationships/hyperlink" Target="https://kyribaacademy.talentlms.com/unit/view/id:4781" TargetMode="External"/><Relationship Id="rId6" Type="http://schemas.openxmlformats.org/officeDocument/2006/relationships/hyperlink" Target="https://www.kyriba.com/resource/ai-agents-for-treasury-and-finance/" TargetMode="External"/><Relationship Id="rId7" Type="http://schemas.openxmlformats.org/officeDocument/2006/relationships/hyperlink" Target="https://kyriba.slack.com/archives/C08KSCF7CE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hyperlink" Target="https://kyriba.slack.com/archives/C08KSCF7CE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hyperlink" Target="https://kyridev.atlassian.net/wiki/spaces/DP/pages/15538552850/TAI+Logging" TargetMode="Externa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8.xml"/><Relationship Id="rId3" Type="http://schemas.openxmlformats.org/officeDocument/2006/relationships/hyperlink" Target="https://docs.google.com/document/d/1bPfeI8HlyRuBAc3x4H0-w4MacOFewJzd/edit" TargetMode="External"/><Relationship Id="rId4" Type="http://schemas.openxmlformats.org/officeDocument/2006/relationships/hyperlink" Target="https://play.goconsensus.com/s67b94ebf" TargetMode="External"/><Relationship Id="rId5" Type="http://schemas.openxmlformats.org/officeDocument/2006/relationships/hyperlink" Target="https://play.goconsensus.com/se66e9891"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0.xml"/><Relationship Id="rId3"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1.xml"/><Relationship Id="rId3" Type="http://schemas.openxmlformats.org/officeDocument/2006/relationships/image" Target="../media/image43.png"/><Relationship Id="rId4" Type="http://schemas.openxmlformats.org/officeDocument/2006/relationships/image" Target="../media/image39.png"/><Relationship Id="rId5"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 Id="rId3" Type="http://schemas.openxmlformats.org/officeDocument/2006/relationships/hyperlink" Target="https://docs.google.com/presentation/d/1xQx_lBvka_y-9Lr3CDhy-QBHRr4pep735MP5SKpLA2s/edit?slide=id.g384a76317bc_0_133#slide=id.g384a76317bc_0_133" TargetMode="External"/><Relationship Id="rId4" Type="http://schemas.openxmlformats.org/officeDocument/2006/relationships/hyperlink" Target="https://drive.google.com/file/d/1KkoWc4-IorP2n02gBqTWHGNMlRasXLBv/view?usp=drive_link" TargetMode="External"/><Relationship Id="rId9" Type="http://schemas.openxmlformats.org/officeDocument/2006/relationships/hyperlink" Target="https://www.kyriba.com/resource/ai-agents-for-treasury-and-finance/" TargetMode="External"/><Relationship Id="rId5" Type="http://schemas.openxmlformats.org/officeDocument/2006/relationships/hyperlink" Target="https://docs.google.com/document/d/1bPfeI8HlyRuBAc3x4H0-w4MacOFewJzd/edit" TargetMode="External"/><Relationship Id="rId6" Type="http://schemas.openxmlformats.org/officeDocument/2006/relationships/hyperlink" Target="https://play.goconsensus.com/s67b94ebf" TargetMode="External"/><Relationship Id="rId7" Type="http://schemas.openxmlformats.org/officeDocument/2006/relationships/hyperlink" Target="https://play.goconsensus.com/se66e9891" TargetMode="External"/><Relationship Id="rId8" Type="http://schemas.openxmlformats.org/officeDocument/2006/relationships/hyperlink" Target="https://kyribaacademy.talentlms.com/unit/view/id:4781" TargetMode="External"/><Relationship Id="rId11" Type="http://schemas.openxmlformats.org/officeDocument/2006/relationships/hyperlink" Target="https://kyriba.slack.com/archives/C08KSCF7CE8" TargetMode="External"/><Relationship Id="rId10" Type="http://schemas.openxmlformats.org/officeDocument/2006/relationships/hyperlink" Target="https://developer.kyriba.com/"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7.xml"/><Relationship Id="rId3" Type="http://schemas.openxmlformats.org/officeDocument/2006/relationships/image" Target="../media/image4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8.xml"/><Relationship Id="rId3" Type="http://schemas.openxmlformats.org/officeDocument/2006/relationships/image" Target="../media/image48.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0.xml"/><Relationship Id="rId3"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2.xml"/><Relationship Id="rId3" Type="http://schemas.openxmlformats.org/officeDocument/2006/relationships/hyperlink" Target="https://sites.google.com/kyriba.com/ps-wiki/implementation/xml-iso-20022-migration?authuser=0"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44.jpg"/><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2" name="Shape 282"/>
        <p:cNvGrpSpPr/>
        <p:nvPr/>
      </p:nvGrpSpPr>
      <p:grpSpPr>
        <a:xfrm>
          <a:off x="0" y="0"/>
          <a:ext cx="0" cy="0"/>
          <a:chOff x="0" y="0"/>
          <a:chExt cx="0" cy="0"/>
        </a:xfrm>
      </p:grpSpPr>
      <p:sp>
        <p:nvSpPr>
          <p:cNvPr id="283" name="Google Shape;283;p60"/>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5200"/>
              <a:buFont typeface="Arial"/>
              <a:buNone/>
            </a:pPr>
            <a:r>
              <a:rPr lang="en"/>
              <a:t>34th PS COE Forum</a:t>
            </a:r>
            <a:r>
              <a:rPr lang="en"/>
              <a:t> </a:t>
            </a:r>
            <a:endParaRPr/>
          </a:p>
        </p:txBody>
      </p:sp>
      <p:sp>
        <p:nvSpPr>
          <p:cNvPr id="284" name="Google Shape;284;p60"/>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700"/>
              <a:buFont typeface="Arial"/>
              <a:buNone/>
            </a:pPr>
            <a:r>
              <a:rPr lang="en"/>
              <a:t>November 20/21, 2025 </a:t>
            </a:r>
            <a:endParaRPr>
              <a:solidFill>
                <a:schemeClr val="accent1"/>
              </a:solidFill>
            </a:endParaRPr>
          </a:p>
        </p:txBody>
      </p:sp>
      <p:cxnSp>
        <p:nvCxnSpPr>
          <p:cNvPr id="285" name="Google Shape;285;p60"/>
          <p:cNvCxnSpPr/>
          <p:nvPr/>
        </p:nvCxnSpPr>
        <p:spPr>
          <a:xfrm rot="10800000">
            <a:off x="8295525" y="345875"/>
            <a:ext cx="630300" cy="0"/>
          </a:xfrm>
          <a:prstGeom prst="straightConnector1">
            <a:avLst/>
          </a:prstGeom>
          <a:noFill/>
          <a:ln cap="flat" cmpd="sng" w="9525">
            <a:solidFill>
              <a:schemeClr val="lt1"/>
            </a:solidFill>
            <a:prstDash val="solid"/>
            <a:round/>
            <a:headEnd len="sm" w="sm" type="none"/>
            <a:tailEnd len="sm" w="sm" type="none"/>
          </a:ln>
        </p:spPr>
      </p:cxnSp>
      <p:pic>
        <p:nvPicPr>
          <p:cNvPr id="286" name="Google Shape;286;p60"/>
          <p:cNvPicPr preferRelativeResize="0"/>
          <p:nvPr/>
        </p:nvPicPr>
        <p:blipFill>
          <a:blip r:embed="rId3">
            <a:alphaModFix/>
          </a:blip>
          <a:stretch>
            <a:fillRect/>
          </a:stretch>
        </p:blipFill>
        <p:spPr>
          <a:xfrm>
            <a:off x="7254450" y="3820510"/>
            <a:ext cx="1751700" cy="7962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290" name="Shape 290"/>
        <p:cNvGrpSpPr/>
        <p:nvPr/>
      </p:nvGrpSpPr>
      <p:grpSpPr>
        <a:xfrm>
          <a:off x="0" y="0"/>
          <a:ext cx="0" cy="0"/>
          <a:chOff x="0" y="0"/>
          <a:chExt cx="0" cy="0"/>
        </a:xfrm>
      </p:grpSpPr>
      <p:sp>
        <p:nvSpPr>
          <p:cNvPr id="291" name="Google Shape;291;p61"/>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Agenda </a:t>
            </a:r>
            <a:endParaRPr sz="2600"/>
          </a:p>
        </p:txBody>
      </p:sp>
      <p:sp>
        <p:nvSpPr>
          <p:cNvPr id="292" name="Google Shape;292;p61"/>
          <p:cNvSpPr txBox="1"/>
          <p:nvPr/>
        </p:nvSpPr>
        <p:spPr>
          <a:xfrm>
            <a:off x="978475" y="1207250"/>
            <a:ext cx="65289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Introduction to TAI  - Adam Bridgewater</a:t>
            </a:r>
            <a:endParaRPr b="1" sz="1200">
              <a:solidFill>
                <a:schemeClr val="dk1"/>
              </a:solidFill>
              <a:latin typeface="DM Sans"/>
              <a:ea typeface="DM Sans"/>
              <a:cs typeface="DM Sans"/>
              <a:sym typeface="DM Sans"/>
            </a:endParaRPr>
          </a:p>
        </p:txBody>
      </p:sp>
      <p:sp>
        <p:nvSpPr>
          <p:cNvPr id="293" name="Google Shape;293;p61"/>
          <p:cNvSpPr/>
          <p:nvPr/>
        </p:nvSpPr>
        <p:spPr>
          <a:xfrm>
            <a:off x="582625" y="1247150"/>
            <a:ext cx="339000" cy="2691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1</a:t>
            </a:r>
            <a:endParaRPr b="1">
              <a:latin typeface="DM Sans"/>
              <a:ea typeface="DM Sans"/>
              <a:cs typeface="DM Sans"/>
              <a:sym typeface="DM Sans"/>
            </a:endParaRPr>
          </a:p>
        </p:txBody>
      </p:sp>
      <p:sp>
        <p:nvSpPr>
          <p:cNvPr id="294" name="Google Shape;294;p61"/>
          <p:cNvSpPr/>
          <p:nvPr/>
        </p:nvSpPr>
        <p:spPr>
          <a:xfrm>
            <a:off x="582625" y="2046300"/>
            <a:ext cx="339000" cy="2691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3</a:t>
            </a:r>
            <a:endParaRPr b="1">
              <a:latin typeface="DM Sans"/>
              <a:ea typeface="DM Sans"/>
              <a:cs typeface="DM Sans"/>
              <a:sym typeface="DM Sans"/>
            </a:endParaRPr>
          </a:p>
        </p:txBody>
      </p:sp>
      <p:sp>
        <p:nvSpPr>
          <p:cNvPr id="295" name="Google Shape;295;p61"/>
          <p:cNvSpPr txBox="1"/>
          <p:nvPr/>
        </p:nvSpPr>
        <p:spPr>
          <a:xfrm>
            <a:off x="978475" y="1625400"/>
            <a:ext cx="65289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Marketplace - Christy So</a:t>
            </a:r>
            <a:endParaRPr b="1" sz="1200">
              <a:solidFill>
                <a:schemeClr val="dk1"/>
              </a:solidFill>
              <a:latin typeface="DM Sans"/>
              <a:ea typeface="DM Sans"/>
              <a:cs typeface="DM Sans"/>
              <a:sym typeface="DM Sans"/>
            </a:endParaRPr>
          </a:p>
        </p:txBody>
      </p:sp>
      <p:sp>
        <p:nvSpPr>
          <p:cNvPr id="296" name="Google Shape;296;p61"/>
          <p:cNvSpPr/>
          <p:nvPr/>
        </p:nvSpPr>
        <p:spPr>
          <a:xfrm>
            <a:off x="582625" y="1665300"/>
            <a:ext cx="339000" cy="269100"/>
          </a:xfrm>
          <a:prstGeom prst="hexagon">
            <a:avLst>
              <a:gd fmla="val 28852" name="adj"/>
              <a:gd fmla="val 115470" name="vf"/>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DM Sans"/>
                <a:ea typeface="DM Sans"/>
                <a:cs typeface="DM Sans"/>
                <a:sym typeface="DM Sans"/>
              </a:rPr>
              <a:t>2</a:t>
            </a:r>
            <a:endParaRPr b="1">
              <a:latin typeface="DM Sans"/>
              <a:ea typeface="DM Sans"/>
              <a:cs typeface="DM Sans"/>
              <a:sym typeface="DM Sans"/>
            </a:endParaRPr>
          </a:p>
        </p:txBody>
      </p:sp>
      <p:sp>
        <p:nvSpPr>
          <p:cNvPr id="297" name="Google Shape;297;p61"/>
          <p:cNvSpPr txBox="1"/>
          <p:nvPr/>
        </p:nvSpPr>
        <p:spPr>
          <a:xfrm>
            <a:off x="978475" y="2043550"/>
            <a:ext cx="65289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ISO Migration updates</a:t>
            </a:r>
            <a:endParaRPr b="1" sz="12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1" name="Shape 301"/>
        <p:cNvGrpSpPr/>
        <p:nvPr/>
      </p:nvGrpSpPr>
      <p:grpSpPr>
        <a:xfrm>
          <a:off x="0" y="0"/>
          <a:ext cx="0" cy="0"/>
          <a:chOff x="0" y="0"/>
          <a:chExt cx="0" cy="0"/>
        </a:xfrm>
      </p:grpSpPr>
      <p:sp>
        <p:nvSpPr>
          <p:cNvPr id="302" name="Google Shape;302;p62"/>
          <p:cNvSpPr txBox="1"/>
          <p:nvPr>
            <p:ph type="ctrTitle"/>
          </p:nvPr>
        </p:nvSpPr>
        <p:spPr>
          <a:xfrm>
            <a:off x="228600" y="342900"/>
            <a:ext cx="6579000" cy="22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5200"/>
              <a:buNone/>
            </a:pPr>
            <a:r>
              <a:rPr lang="en" sz="4300"/>
              <a:t>TAI</a:t>
            </a:r>
            <a:endParaRPr sz="4300"/>
          </a:p>
        </p:txBody>
      </p:sp>
      <p:pic>
        <p:nvPicPr>
          <p:cNvPr id="303" name="Google Shape;303;p62"/>
          <p:cNvPicPr preferRelativeResize="0"/>
          <p:nvPr/>
        </p:nvPicPr>
        <p:blipFill rotWithShape="1">
          <a:blip r:embed="rId3">
            <a:alphaModFix/>
          </a:blip>
          <a:srcRect b="0" l="0" r="0" t="0"/>
          <a:stretch/>
        </p:blipFill>
        <p:spPr>
          <a:xfrm>
            <a:off x="6143625" y="0"/>
            <a:ext cx="3000375" cy="5143500"/>
          </a:xfrm>
          <a:prstGeom prst="rect">
            <a:avLst/>
          </a:prstGeom>
          <a:noFill/>
          <a:ln>
            <a:noFill/>
          </a:ln>
        </p:spPr>
      </p:pic>
      <p:sp>
        <p:nvSpPr>
          <p:cNvPr id="304" name="Google Shape;304;p62"/>
          <p:cNvSpPr txBox="1"/>
          <p:nvPr/>
        </p:nvSpPr>
        <p:spPr>
          <a:xfrm>
            <a:off x="228600" y="2571750"/>
            <a:ext cx="38031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lt1"/>
                </a:solidFill>
                <a:latin typeface="DM Sans Medium"/>
                <a:ea typeface="DM Sans Medium"/>
                <a:cs typeface="DM Sans Medium"/>
                <a:sym typeface="DM Sans Medium"/>
              </a:rPr>
              <a:t>Adam Bridgewater</a:t>
            </a:r>
            <a:endParaRPr/>
          </a:p>
        </p:txBody>
      </p:sp>
      <p:sp>
        <p:nvSpPr>
          <p:cNvPr id="305" name="Google Shape;305;p62"/>
          <p:cNvSpPr txBox="1"/>
          <p:nvPr>
            <p:ph idx="1" type="subTitle"/>
          </p:nvPr>
        </p:nvSpPr>
        <p:spPr>
          <a:xfrm>
            <a:off x="228600" y="3030550"/>
            <a:ext cx="3726900" cy="44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700"/>
              <a:buNone/>
            </a:pPr>
            <a:r>
              <a:rPr lang="en"/>
              <a:t>Product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09" name="Shape 309"/>
        <p:cNvGrpSpPr/>
        <p:nvPr/>
      </p:nvGrpSpPr>
      <p:grpSpPr>
        <a:xfrm>
          <a:off x="0" y="0"/>
          <a:ext cx="0" cy="0"/>
          <a:chOff x="0" y="0"/>
          <a:chExt cx="0" cy="0"/>
        </a:xfrm>
      </p:grpSpPr>
      <p:sp>
        <p:nvSpPr>
          <p:cNvPr id="310" name="Google Shape;310;p63"/>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Presentation timing:</a:t>
            </a:r>
            <a:endParaRPr sz="2600"/>
          </a:p>
        </p:txBody>
      </p:sp>
      <p:sp>
        <p:nvSpPr>
          <p:cNvPr id="311" name="Google Shape;311;p63"/>
          <p:cNvSpPr txBox="1"/>
          <p:nvPr>
            <p:ph idx="1" type="body"/>
          </p:nvPr>
        </p:nvSpPr>
        <p:spPr>
          <a:xfrm>
            <a:off x="228600" y="1152475"/>
            <a:ext cx="8796900" cy="3024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lang="en"/>
              <a:t>Intro - 5mins (from Support demo)</a:t>
            </a:r>
            <a:endParaRPr b="1"/>
          </a:p>
          <a:p>
            <a:pPr indent="-311150" lvl="0" marL="457200" rtl="0" algn="l">
              <a:lnSpc>
                <a:spcPct val="115000"/>
              </a:lnSpc>
              <a:spcBef>
                <a:spcPts val="0"/>
              </a:spcBef>
              <a:spcAft>
                <a:spcPts val="0"/>
              </a:spcAft>
              <a:buSzPts val="1300"/>
              <a:buChar char="●"/>
            </a:pPr>
            <a:r>
              <a:rPr b="1" lang="en"/>
              <a:t>How to use TAI - 10mins</a:t>
            </a:r>
            <a:r>
              <a:rPr b="1" lang="en"/>
              <a:t> (from Support demo)</a:t>
            </a:r>
            <a:endParaRPr b="1"/>
          </a:p>
          <a:p>
            <a:pPr indent="-311150" lvl="0" marL="457200" rtl="0" algn="l">
              <a:lnSpc>
                <a:spcPct val="115000"/>
              </a:lnSpc>
              <a:spcBef>
                <a:spcPts val="0"/>
              </a:spcBef>
              <a:spcAft>
                <a:spcPts val="0"/>
              </a:spcAft>
              <a:buSzPts val="1300"/>
              <a:buChar char="●"/>
            </a:pPr>
            <a:r>
              <a:rPr b="1" lang="en"/>
              <a:t>How to set up - 10 mins</a:t>
            </a:r>
            <a:r>
              <a:rPr b="1" lang="en"/>
              <a:t> (from Support demo)</a:t>
            </a:r>
            <a:endParaRPr b="1"/>
          </a:p>
          <a:p>
            <a:pPr indent="-311150" lvl="0" marL="457200" rtl="0" algn="l">
              <a:lnSpc>
                <a:spcPct val="115000"/>
              </a:lnSpc>
              <a:spcBef>
                <a:spcPts val="0"/>
              </a:spcBef>
              <a:spcAft>
                <a:spcPts val="0"/>
              </a:spcAft>
              <a:buSzPts val="1300"/>
              <a:buChar char="●"/>
            </a:pPr>
            <a:r>
              <a:rPr b="1" lang="en"/>
              <a:t>What TAI can be used for &amp; Q&amp;A - 10mins (at a guess)</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5" name="Shape 315"/>
        <p:cNvGrpSpPr/>
        <p:nvPr/>
      </p:nvGrpSpPr>
      <p:grpSpPr>
        <a:xfrm>
          <a:off x="0" y="0"/>
          <a:ext cx="0" cy="0"/>
          <a:chOff x="0" y="0"/>
          <a:chExt cx="0" cy="0"/>
        </a:xfrm>
      </p:grpSpPr>
      <p:sp>
        <p:nvSpPr>
          <p:cNvPr id="316" name="Google Shape;316;p64"/>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Timeline:</a:t>
            </a:r>
            <a:endParaRPr sz="2600"/>
          </a:p>
        </p:txBody>
      </p:sp>
      <p:sp>
        <p:nvSpPr>
          <p:cNvPr id="317" name="Google Shape;317;p64"/>
          <p:cNvSpPr txBox="1"/>
          <p:nvPr>
            <p:ph idx="1" type="body"/>
          </p:nvPr>
        </p:nvSpPr>
        <p:spPr>
          <a:xfrm>
            <a:off x="228600" y="1152475"/>
            <a:ext cx="8796900" cy="3024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lang="en">
                <a:solidFill>
                  <a:srgbClr val="38761D"/>
                </a:solidFill>
              </a:rPr>
              <a:t>15th November: 	“</a:t>
            </a:r>
            <a:r>
              <a:rPr b="1" lang="en"/>
              <a:t>TAI” go-live on IE1-Quartz &amp; US5-Diamond</a:t>
            </a:r>
            <a:endParaRPr b="1"/>
          </a:p>
          <a:p>
            <a:pPr indent="-311150" lvl="0" marL="457200" rtl="0" algn="l">
              <a:lnSpc>
                <a:spcPct val="115000"/>
              </a:lnSpc>
              <a:spcBef>
                <a:spcPts val="0"/>
              </a:spcBef>
              <a:spcAft>
                <a:spcPts val="0"/>
              </a:spcAft>
              <a:buSzPts val="1300"/>
              <a:buChar char="●"/>
            </a:pPr>
            <a:r>
              <a:rPr b="1" lang="en">
                <a:solidFill>
                  <a:srgbClr val="38761D"/>
                </a:solidFill>
              </a:rPr>
              <a:t>Expected 22nd November: 	“</a:t>
            </a:r>
            <a:r>
              <a:rPr b="1" lang="en"/>
              <a:t>TAI” go-live on US3-Opal</a:t>
            </a:r>
            <a:endParaRPr b="1"/>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Expected 31st December:	“</a:t>
            </a:r>
            <a:r>
              <a:rPr b="1" lang="en"/>
              <a:t>TAI” go-live on all platforms except: </a:t>
            </a:r>
            <a:endParaRPr b="1"/>
          </a:p>
          <a:p>
            <a:pPr indent="-311150" lvl="6" marL="3200400" rtl="0" algn="l">
              <a:lnSpc>
                <a:spcPct val="115000"/>
              </a:lnSpc>
              <a:spcBef>
                <a:spcPts val="0"/>
              </a:spcBef>
              <a:spcAft>
                <a:spcPts val="0"/>
              </a:spcAft>
              <a:buSzPts val="1300"/>
              <a:buChar char="●"/>
            </a:pPr>
            <a:r>
              <a:rPr b="1" lang="en" sz="1300"/>
              <a:t>China, Saudi Arabia, Canada and UAE</a:t>
            </a:r>
            <a:endParaRPr b="1" sz="1300"/>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2026 Q1 next year: </a:t>
            </a:r>
            <a:r>
              <a:rPr b="1" lang="en"/>
              <a:t>		1x PC21-0001 Kyriba Units - 500 &amp; PC22-0002 TAI Agents embedded   </a:t>
            </a:r>
            <a:endParaRPr b="1"/>
          </a:p>
          <a:p>
            <a:pPr indent="0" lvl="0" marL="2743200" rtl="0" algn="l">
              <a:lnSpc>
                <a:spcPct val="115000"/>
              </a:lnSpc>
              <a:spcBef>
                <a:spcPts val="0"/>
              </a:spcBef>
              <a:spcAft>
                <a:spcPts val="0"/>
              </a:spcAft>
              <a:buNone/>
            </a:pPr>
            <a:r>
              <a:rPr b="1" lang="en"/>
              <a:t>into c</a:t>
            </a:r>
            <a:r>
              <a:rPr b="1" lang="en" sz="1300"/>
              <a:t>ash management renewals</a:t>
            </a:r>
            <a:r>
              <a:rPr b="1" lang="en"/>
              <a:t>. (Expected mid-January)</a:t>
            </a:r>
            <a:endParaRPr b="1" sz="1300"/>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b="1" sz="1100">
              <a:solidFill>
                <a:srgbClr val="000000"/>
              </a:solidFill>
            </a:endParaRPr>
          </a:p>
          <a:p>
            <a:pPr indent="0" lvl="0" marL="0" rtl="0" algn="l">
              <a:lnSpc>
                <a:spcPct val="115000"/>
              </a:lnSpc>
              <a:spcBef>
                <a:spcPts val="0"/>
              </a:spcBef>
              <a:spcAft>
                <a:spcPts val="0"/>
              </a:spcAft>
              <a:buClr>
                <a:schemeClr val="hlink"/>
              </a:buClr>
              <a:buSzPts val="1100"/>
              <a:buFont typeface="Arial"/>
              <a:buNone/>
            </a:pPr>
            <a:r>
              <a:t/>
            </a:r>
            <a:endParaRPr b="1"/>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p65"/>
          <p:cNvSpPr txBox="1"/>
          <p:nvPr>
            <p:ph type="title"/>
          </p:nvPr>
        </p:nvSpPr>
        <p:spPr>
          <a:xfrm>
            <a:off x="228600" y="342900"/>
            <a:ext cx="78345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COE Forum: TAI 1-Pager</a:t>
            </a:r>
            <a:endParaRPr sz="2600"/>
          </a:p>
        </p:txBody>
      </p:sp>
      <p:sp>
        <p:nvSpPr>
          <p:cNvPr id="323" name="Google Shape;323;p65"/>
          <p:cNvSpPr txBox="1"/>
          <p:nvPr>
            <p:ph idx="1" type="body"/>
          </p:nvPr>
        </p:nvSpPr>
        <p:spPr>
          <a:xfrm>
            <a:off x="228600" y="832625"/>
            <a:ext cx="4278300" cy="36024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Clr>
                <a:schemeClr val="hlink"/>
              </a:buClr>
              <a:buSzPts val="1100"/>
              <a:buFont typeface="Arial"/>
              <a:buNone/>
            </a:pPr>
            <a:r>
              <a:rPr b="1" lang="en"/>
              <a:t>Interface demo</a:t>
            </a:r>
            <a:endParaRPr b="1"/>
          </a:p>
          <a:p>
            <a:pPr indent="-298450" lvl="0" marL="457200" rtl="0" algn="l">
              <a:spcBef>
                <a:spcPts val="0"/>
              </a:spcBef>
              <a:spcAft>
                <a:spcPts val="0"/>
              </a:spcAft>
              <a:buSzPts val="1100"/>
              <a:buChar char="●"/>
            </a:pPr>
            <a:r>
              <a:rPr lang="en" sz="1100"/>
              <a:t>Navigation, conversations &amp; limitations, context &amp; clearing, charting, reasoning</a:t>
            </a:r>
            <a:endParaRPr sz="1100"/>
          </a:p>
          <a:p>
            <a:pPr indent="-298450" lvl="0" marL="457200" rtl="0" algn="l">
              <a:spcBef>
                <a:spcPts val="0"/>
              </a:spcBef>
              <a:spcAft>
                <a:spcPts val="0"/>
              </a:spcAft>
              <a:buSzPts val="1100"/>
              <a:buChar char="●"/>
            </a:pPr>
            <a:r>
              <a:rPr lang="en" sz="1100"/>
              <a:t>Help agent, How units work, clearing cache trick</a:t>
            </a:r>
            <a:endParaRPr sz="1100"/>
          </a:p>
          <a:p>
            <a:pPr indent="0" lvl="0" marL="0" rtl="0" algn="l">
              <a:spcBef>
                <a:spcPts val="1000"/>
              </a:spcBef>
              <a:spcAft>
                <a:spcPts val="0"/>
              </a:spcAft>
              <a:buClr>
                <a:schemeClr val="hlink"/>
              </a:buClr>
              <a:buSzPts val="1100"/>
              <a:buFont typeface="Arial"/>
              <a:buNone/>
            </a:pPr>
            <a:r>
              <a:rPr b="1" lang="en"/>
              <a:t>Scope of data used by TAI</a:t>
            </a:r>
            <a:endParaRPr b="1"/>
          </a:p>
          <a:p>
            <a:pPr indent="-298450" lvl="0" marL="457200" rtl="0" algn="l">
              <a:spcBef>
                <a:spcPts val="0"/>
              </a:spcBef>
              <a:spcAft>
                <a:spcPts val="0"/>
              </a:spcAft>
              <a:buSzPts val="1100"/>
              <a:buChar char="●"/>
            </a:pPr>
            <a:r>
              <a:rPr lang="en" sz="1100"/>
              <a:t>Treasury agent: MCP &amp; reports</a:t>
            </a:r>
            <a:endParaRPr sz="1100"/>
          </a:p>
          <a:p>
            <a:pPr indent="-171450" lvl="1" marL="628650" rtl="0" algn="l">
              <a:spcBef>
                <a:spcPts val="0"/>
              </a:spcBef>
              <a:spcAft>
                <a:spcPts val="0"/>
              </a:spcAft>
              <a:buSzPts val="900"/>
              <a:buChar char="○"/>
            </a:pPr>
            <a:r>
              <a:rPr lang="en"/>
              <a:t>How to setup reports for TAI - descriptions and TAI1</a:t>
            </a:r>
            <a:endParaRPr/>
          </a:p>
          <a:p>
            <a:pPr indent="-298450" lvl="0" marL="457200" rtl="0" algn="l">
              <a:spcBef>
                <a:spcPts val="0"/>
              </a:spcBef>
              <a:spcAft>
                <a:spcPts val="0"/>
              </a:spcAft>
              <a:buSzPts val="1100"/>
              <a:buChar char="●"/>
            </a:pPr>
            <a:r>
              <a:rPr lang="en" sz="1100"/>
              <a:t>Help agent: Online help</a:t>
            </a:r>
            <a:endParaRPr sz="1100"/>
          </a:p>
          <a:p>
            <a:pPr indent="0" lvl="0" marL="0" rtl="0" algn="l">
              <a:lnSpc>
                <a:spcPct val="115000"/>
              </a:lnSpc>
              <a:spcBef>
                <a:spcPts val="1000"/>
              </a:spcBef>
              <a:spcAft>
                <a:spcPts val="0"/>
              </a:spcAft>
              <a:buClr>
                <a:schemeClr val="hlink"/>
              </a:buClr>
              <a:buSzPts val="1100"/>
              <a:buFont typeface="Arial"/>
              <a:buNone/>
            </a:pPr>
            <a:r>
              <a:rPr b="1" lang="en"/>
              <a:t>PS implementation:</a:t>
            </a:r>
            <a:endParaRPr b="1"/>
          </a:p>
          <a:p>
            <a:pPr indent="-298450" lvl="0" marL="457200" rtl="0" algn="l">
              <a:spcBef>
                <a:spcPts val="0"/>
              </a:spcBef>
              <a:spcAft>
                <a:spcPts val="0"/>
              </a:spcAft>
              <a:buSzPts val="1100"/>
              <a:buChar char="●"/>
            </a:pPr>
            <a:r>
              <a:rPr lang="en" sz="1100"/>
              <a:t>How does TAI get data?</a:t>
            </a:r>
            <a:endParaRPr sz="1100"/>
          </a:p>
          <a:p>
            <a:pPr indent="-298450" lvl="0" marL="457200" rtl="0" algn="l">
              <a:spcBef>
                <a:spcPts val="0"/>
              </a:spcBef>
              <a:spcAft>
                <a:spcPts val="0"/>
              </a:spcAft>
              <a:buSzPts val="1100"/>
              <a:buChar char="●"/>
            </a:pPr>
            <a:r>
              <a:rPr lang="en" sz="1100"/>
              <a:t>How to enable TAI: </a:t>
            </a:r>
            <a:r>
              <a:rPr lang="en" sz="1100" u="sng">
                <a:solidFill>
                  <a:srgbClr val="247094"/>
                </a:solidFill>
                <a:latin typeface="Arial"/>
                <a:ea typeface="Arial"/>
                <a:cs typeface="Arial"/>
                <a:sym typeface="Arial"/>
                <a:hlinkClick r:id="rId3">
                  <a:extLst>
                    <a:ext uri="{A12FA001-AC4F-418D-AE19-62706E023703}">
                      <ahyp:hlinkClr val="tx"/>
                    </a:ext>
                  </a:extLst>
                </a:hlinkClick>
              </a:rPr>
              <a:t>TAI - Agentic AI - Handbook</a:t>
            </a:r>
            <a:endParaRPr sz="1100">
              <a:solidFill>
                <a:srgbClr val="247094"/>
              </a:solidFill>
            </a:endParaRPr>
          </a:p>
          <a:p>
            <a:pPr indent="-298450" lvl="0" marL="457200" rtl="0" algn="l">
              <a:spcBef>
                <a:spcPts val="0"/>
              </a:spcBef>
              <a:spcAft>
                <a:spcPts val="0"/>
              </a:spcAft>
              <a:buSzPts val="1100"/>
              <a:buChar char="●"/>
            </a:pPr>
            <a:r>
              <a:rPr lang="en" sz="1100"/>
              <a:t>Describing reports fully</a:t>
            </a:r>
            <a:endParaRPr sz="1100"/>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rPr b="1" lang="en"/>
              <a:t>Managing customer expectations</a:t>
            </a:r>
            <a:endParaRPr b="1"/>
          </a:p>
          <a:p>
            <a:pPr indent="-298450" lvl="0" marL="457200" rtl="0" algn="l">
              <a:spcBef>
                <a:spcPts val="0"/>
              </a:spcBef>
              <a:spcAft>
                <a:spcPts val="0"/>
              </a:spcAft>
              <a:buSzPts val="1100"/>
              <a:buChar char="●"/>
            </a:pPr>
            <a:r>
              <a:rPr lang="en" sz="1100"/>
              <a:t>Provide customers with:</a:t>
            </a:r>
            <a:r>
              <a:rPr lang="en"/>
              <a:t> </a:t>
            </a:r>
            <a:r>
              <a:rPr lang="en" sz="1100" u="sng">
                <a:solidFill>
                  <a:srgbClr val="247094"/>
                </a:solidFill>
                <a:hlinkClick r:id="rId4">
                  <a:extLst>
                    <a:ext uri="{A12FA001-AC4F-418D-AE19-62706E023703}">
                      <ahyp:hlinkClr val="tx"/>
                    </a:ext>
                  </a:extLst>
                </a:hlinkClick>
              </a:rPr>
              <a:t>Factsheet TAI Capabilities</a:t>
            </a:r>
            <a:endParaRPr sz="1100">
              <a:solidFill>
                <a:srgbClr val="247094"/>
              </a:solidFill>
            </a:endParaRPr>
          </a:p>
          <a:p>
            <a:pPr indent="-298450" lvl="0" marL="457200" rtl="0" algn="l">
              <a:spcBef>
                <a:spcPts val="0"/>
              </a:spcBef>
              <a:spcAft>
                <a:spcPts val="0"/>
              </a:spcAft>
              <a:buSzPts val="1100"/>
              <a:buChar char="●"/>
            </a:pPr>
            <a:r>
              <a:rPr lang="en" sz="1100"/>
              <a:t>Limitations: Read not yet write. API list will expand. More documentation and agent building will be added.</a:t>
            </a:r>
            <a:endParaRPr sz="1100"/>
          </a:p>
        </p:txBody>
      </p:sp>
      <p:sp>
        <p:nvSpPr>
          <p:cNvPr id="324" name="Google Shape;324;p65"/>
          <p:cNvSpPr txBox="1"/>
          <p:nvPr>
            <p:ph idx="1" type="body"/>
          </p:nvPr>
        </p:nvSpPr>
        <p:spPr>
          <a:xfrm>
            <a:off x="4506900" y="832500"/>
            <a:ext cx="4637100" cy="413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a:t>What TAI can be used for:</a:t>
            </a:r>
            <a:endParaRPr b="1"/>
          </a:p>
          <a:p>
            <a:pPr indent="-298450" lvl="0" marL="457200" rtl="0" algn="l">
              <a:spcBef>
                <a:spcPts val="0"/>
              </a:spcBef>
              <a:spcAft>
                <a:spcPts val="0"/>
              </a:spcAft>
              <a:buSzPts val="1100"/>
              <a:buChar char="●"/>
            </a:pPr>
            <a:r>
              <a:rPr lang="en" sz="1100"/>
              <a:t>Example queries: </a:t>
            </a:r>
            <a:r>
              <a:rPr lang="en" sz="1100" u="sng">
                <a:solidFill>
                  <a:srgbClr val="247094"/>
                </a:solidFill>
                <a:hlinkClick r:id="rId5">
                  <a:extLst>
                    <a:ext uri="{A12FA001-AC4F-418D-AE19-62706E023703}">
                      <ahyp:hlinkClr val="tx"/>
                    </a:ext>
                  </a:extLst>
                </a:hlinkClick>
              </a:rPr>
              <a:t>Factsheet: TAI Capabilities</a:t>
            </a:r>
            <a:endParaRPr sz="1100"/>
          </a:p>
          <a:p>
            <a:pPr indent="-298450" lvl="0" marL="457200" rtl="0" algn="l">
              <a:spcBef>
                <a:spcPts val="0"/>
              </a:spcBef>
              <a:spcAft>
                <a:spcPts val="0"/>
              </a:spcAft>
              <a:buSzPts val="1100"/>
              <a:buChar char="●"/>
            </a:pPr>
            <a:r>
              <a:rPr lang="en" sz="1100"/>
              <a:t>Presales demos:</a:t>
            </a:r>
            <a:endParaRPr sz="1100"/>
          </a:p>
          <a:p>
            <a:pPr indent="-298450" lvl="1" marL="914400" rtl="0" algn="l">
              <a:spcBef>
                <a:spcPts val="0"/>
              </a:spcBef>
              <a:spcAft>
                <a:spcPts val="0"/>
              </a:spcAft>
              <a:buClr>
                <a:srgbClr val="247094"/>
              </a:buClr>
              <a:buSzPts val="1100"/>
              <a:buChar char="○"/>
            </a:pPr>
            <a:r>
              <a:rPr lang="en" sz="1100" u="sng">
                <a:solidFill>
                  <a:srgbClr val="247094"/>
                </a:solidFill>
                <a:hlinkClick r:id="rId6">
                  <a:extLst>
                    <a:ext uri="{A12FA001-AC4F-418D-AE19-62706E023703}">
                      <ahyp:hlinkClr val="tx"/>
                    </a:ext>
                  </a:extLst>
                </a:hlinkClick>
              </a:rPr>
              <a:t>Meet TAI: The Next Leap in AI-Powered Treasury</a:t>
            </a:r>
            <a:endParaRPr sz="1100">
              <a:solidFill>
                <a:srgbClr val="247094"/>
              </a:solidFill>
            </a:endParaRPr>
          </a:p>
          <a:p>
            <a:pPr indent="-298450" lvl="1" marL="914400" rtl="0" algn="l">
              <a:spcBef>
                <a:spcPts val="0"/>
              </a:spcBef>
              <a:spcAft>
                <a:spcPts val="0"/>
              </a:spcAft>
              <a:buClr>
                <a:srgbClr val="247094"/>
              </a:buClr>
              <a:buSzPts val="1100"/>
              <a:buChar char="○"/>
            </a:pPr>
            <a:r>
              <a:rPr lang="en" sz="1100" u="sng">
                <a:solidFill>
                  <a:srgbClr val="247094"/>
                </a:solidFill>
                <a:hlinkClick r:id="rId7">
                  <a:extLst>
                    <a:ext uri="{A12FA001-AC4F-418D-AE19-62706E023703}">
                      <ahyp:hlinkClr val="tx"/>
                    </a:ext>
                  </a:extLst>
                </a:hlinkClick>
              </a:rPr>
              <a:t>2025 - Module Intro - TAI 2 (EN)</a:t>
            </a:r>
            <a:endParaRPr>
              <a:solidFill>
                <a:srgbClr val="247094"/>
              </a:solidFill>
            </a:endParaRPr>
          </a:p>
          <a:p>
            <a:pPr indent="-298450" lvl="0" marL="457200" rtl="0" algn="l">
              <a:spcBef>
                <a:spcPts val="0"/>
              </a:spcBef>
              <a:spcAft>
                <a:spcPts val="0"/>
              </a:spcAft>
              <a:buSzPts val="1100"/>
              <a:buChar char="●"/>
            </a:pPr>
            <a:r>
              <a:rPr lang="en" sz="1100"/>
              <a:t>Primarily expected that:</a:t>
            </a:r>
            <a:endParaRPr sz="1100"/>
          </a:p>
          <a:p>
            <a:pPr indent="-298450" lvl="1" marL="914400" rtl="0" algn="l">
              <a:spcBef>
                <a:spcPts val="0"/>
              </a:spcBef>
              <a:spcAft>
                <a:spcPts val="0"/>
              </a:spcAft>
              <a:buSzPts val="1100"/>
              <a:buChar char="○"/>
            </a:pPr>
            <a:r>
              <a:rPr lang="en" sz="1100"/>
              <a:t>Treasury agent:</a:t>
            </a:r>
            <a:endParaRPr sz="1100"/>
          </a:p>
          <a:p>
            <a:pPr indent="-285750" lvl="2" marL="1371600" rtl="0" algn="l">
              <a:spcBef>
                <a:spcPts val="0"/>
              </a:spcBef>
              <a:spcAft>
                <a:spcPts val="0"/>
              </a:spcAft>
              <a:buSzPts val="900"/>
              <a:buChar char="■"/>
            </a:pPr>
            <a:r>
              <a:rPr lang="en"/>
              <a:t>Producing reporting/analysis</a:t>
            </a:r>
            <a:endParaRPr/>
          </a:p>
          <a:p>
            <a:pPr indent="-285750" lvl="2" marL="1371600" rtl="0" algn="l">
              <a:spcBef>
                <a:spcPts val="0"/>
              </a:spcBef>
              <a:spcAft>
                <a:spcPts val="0"/>
              </a:spcAft>
              <a:buSzPts val="900"/>
              <a:buChar char="■"/>
            </a:pPr>
            <a:r>
              <a:rPr lang="en"/>
              <a:t>Reducing time to investigate breaks</a:t>
            </a:r>
            <a:endParaRPr/>
          </a:p>
          <a:p>
            <a:pPr indent="-298450" lvl="1" marL="914400" rtl="0" algn="l">
              <a:spcBef>
                <a:spcPts val="0"/>
              </a:spcBef>
              <a:spcAft>
                <a:spcPts val="0"/>
              </a:spcAft>
              <a:buSzPts val="1100"/>
              <a:buChar char="○"/>
            </a:pPr>
            <a:r>
              <a:rPr lang="en" sz="1100"/>
              <a:t>Help agent:</a:t>
            </a:r>
            <a:endParaRPr sz="1100"/>
          </a:p>
          <a:p>
            <a:pPr indent="-285750" lvl="2" marL="1371600" rtl="0" algn="l">
              <a:spcBef>
                <a:spcPts val="0"/>
              </a:spcBef>
              <a:spcAft>
                <a:spcPts val="0"/>
              </a:spcAft>
              <a:buSzPts val="900"/>
              <a:buChar char="■"/>
            </a:pPr>
            <a:r>
              <a:rPr lang="en"/>
              <a:t>Implementation support</a:t>
            </a:r>
            <a:endParaRPr/>
          </a:p>
          <a:p>
            <a:pPr indent="-285750" lvl="3" marL="1828800" rtl="0" algn="l">
              <a:spcBef>
                <a:spcPts val="0"/>
              </a:spcBef>
              <a:spcAft>
                <a:spcPts val="0"/>
              </a:spcAft>
              <a:buSzPts val="900"/>
              <a:buChar char="●"/>
            </a:pPr>
            <a:r>
              <a:rPr lang="en"/>
              <a:t>Start and day to day e.g new bank)</a:t>
            </a:r>
            <a:endParaRPr/>
          </a:p>
          <a:p>
            <a:pPr indent="-285750" lvl="2" marL="1371600" rtl="0" algn="l">
              <a:spcBef>
                <a:spcPts val="0"/>
              </a:spcBef>
              <a:spcAft>
                <a:spcPts val="0"/>
              </a:spcAft>
              <a:buSzPts val="900"/>
              <a:buChar char="■"/>
            </a:pPr>
            <a:r>
              <a:rPr lang="en"/>
              <a:t>Reducing internal questions</a:t>
            </a:r>
            <a:endParaRPr/>
          </a:p>
          <a:p>
            <a:pPr indent="0" lvl="0" marL="0" rtl="0" algn="l">
              <a:spcBef>
                <a:spcPts val="1000"/>
              </a:spcBef>
              <a:spcAft>
                <a:spcPts val="0"/>
              </a:spcAft>
              <a:buNone/>
            </a:pPr>
            <a:r>
              <a:rPr b="1" lang="en"/>
              <a:t>Where to go for:</a:t>
            </a:r>
            <a:endParaRPr b="1"/>
          </a:p>
          <a:p>
            <a:pPr indent="-298450" lvl="0" marL="457200" rtl="0" algn="l">
              <a:spcBef>
                <a:spcPts val="0"/>
              </a:spcBef>
              <a:spcAft>
                <a:spcPts val="0"/>
              </a:spcAft>
              <a:buSzPts val="1100"/>
              <a:buChar char="●"/>
            </a:pPr>
            <a:r>
              <a:rPr lang="en" sz="1100"/>
              <a:t>Training: Kyriba Elevate TAI course: </a:t>
            </a:r>
            <a:r>
              <a:rPr lang="en" sz="1100" u="sng">
                <a:solidFill>
                  <a:srgbClr val="247094"/>
                </a:solidFill>
                <a:hlinkClick r:id="rId8">
                  <a:extLst>
                    <a:ext uri="{A12FA001-AC4F-418D-AE19-62706E023703}">
                      <ahyp:hlinkClr val="tx"/>
                    </a:ext>
                  </a:extLst>
                </a:hlinkClick>
              </a:rPr>
              <a:t>Optimizing TAI</a:t>
            </a:r>
            <a:endParaRPr sz="1100">
              <a:highlight>
                <a:srgbClr val="FF9900"/>
              </a:highlight>
            </a:endParaRPr>
          </a:p>
          <a:p>
            <a:pPr indent="-298450" lvl="0" marL="457200" rtl="0" algn="l">
              <a:spcBef>
                <a:spcPts val="0"/>
              </a:spcBef>
              <a:spcAft>
                <a:spcPts val="0"/>
              </a:spcAft>
              <a:buSzPts val="1100"/>
              <a:buChar char="●"/>
            </a:pPr>
            <a:r>
              <a:rPr lang="en" sz="1100"/>
              <a:t>Deeper information: </a:t>
            </a:r>
            <a:endParaRPr/>
          </a:p>
          <a:p>
            <a:pPr indent="-171450" lvl="1" marL="628650" rtl="0" algn="l">
              <a:spcBef>
                <a:spcPts val="0"/>
              </a:spcBef>
              <a:spcAft>
                <a:spcPts val="0"/>
              </a:spcAft>
              <a:buSzPts val="900"/>
              <a:buChar char="○"/>
            </a:pPr>
            <a:r>
              <a:rPr lang="en" u="sng">
                <a:solidFill>
                  <a:srgbClr val="247094"/>
                </a:solidFill>
                <a:hlinkClick r:id="rId9">
                  <a:extLst>
                    <a:ext uri="{A12FA001-AC4F-418D-AE19-62706E023703}">
                      <ahyp:hlinkClr val="tx"/>
                    </a:ext>
                  </a:extLst>
                </a:hlinkClick>
              </a:rPr>
              <a:t>How AI Agents Actually Work - A Practical Guide for Treasury &amp; Finance</a:t>
            </a:r>
            <a:endParaRPr/>
          </a:p>
          <a:p>
            <a:pPr indent="-171450" lvl="1" marL="628650" rtl="0" algn="l">
              <a:spcBef>
                <a:spcPts val="0"/>
              </a:spcBef>
              <a:spcAft>
                <a:spcPts val="0"/>
              </a:spcAft>
              <a:buSzPts val="900"/>
              <a:buChar char="○"/>
            </a:pPr>
            <a:r>
              <a:rPr lang="en"/>
              <a:t>Release note &amp; Online help</a:t>
            </a:r>
            <a:endParaRPr/>
          </a:p>
          <a:p>
            <a:pPr indent="-171450" lvl="1" marL="628650" rtl="0" algn="l">
              <a:spcBef>
                <a:spcPts val="0"/>
              </a:spcBef>
              <a:spcAft>
                <a:spcPts val="0"/>
              </a:spcAft>
              <a:buSzPts val="900"/>
              <a:buChar char="○"/>
            </a:pPr>
            <a:r>
              <a:rPr lang="en" u="sng">
                <a:solidFill>
                  <a:srgbClr val="247094"/>
                </a:solidFill>
                <a:hlinkClick r:id="rId10">
                  <a:extLst>
                    <a:ext uri="{A12FA001-AC4F-418D-AE19-62706E023703}">
                      <ahyp:hlinkClr val="tx"/>
                    </a:ext>
                  </a:extLst>
                </a:hlinkClick>
              </a:rPr>
              <a:t>Kyriba developer portal</a:t>
            </a:r>
            <a:r>
              <a:rPr lang="en"/>
              <a:t> for APIs </a:t>
            </a:r>
            <a:endParaRPr/>
          </a:p>
          <a:p>
            <a:pPr indent="-298450" lvl="0" marL="457200" rtl="0" algn="l">
              <a:spcBef>
                <a:spcPts val="0"/>
              </a:spcBef>
              <a:spcAft>
                <a:spcPts val="0"/>
              </a:spcAft>
              <a:buSzPts val="1100"/>
              <a:buChar char="●"/>
            </a:pPr>
            <a:r>
              <a:rPr lang="en" sz="1100"/>
              <a:t>Feedback: </a:t>
            </a:r>
            <a:r>
              <a:rPr lang="en" sz="1100" u="sng">
                <a:solidFill>
                  <a:srgbClr val="247094"/>
                </a:solidFill>
                <a:latin typeface="Arial"/>
                <a:ea typeface="Arial"/>
                <a:cs typeface="Arial"/>
                <a:sym typeface="Arial"/>
                <a:hlinkClick r:id="rId11">
                  <a:extLst>
                    <a:ext uri="{A12FA001-AC4F-418D-AE19-62706E023703}">
                      <ahyp:hlinkClr val="tx"/>
                    </a:ext>
                  </a:extLst>
                </a:hlinkClick>
              </a:rPr>
              <a:t>#TAI-Feedback</a:t>
            </a: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8" name="Shape 328"/>
        <p:cNvGrpSpPr/>
        <p:nvPr/>
      </p:nvGrpSpPr>
      <p:grpSpPr>
        <a:xfrm>
          <a:off x="0" y="0"/>
          <a:ext cx="0" cy="0"/>
          <a:chOff x="0" y="0"/>
          <a:chExt cx="0" cy="0"/>
        </a:xfrm>
      </p:grpSpPr>
      <p:sp>
        <p:nvSpPr>
          <p:cNvPr id="329" name="Google Shape;329;p66"/>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How to explain what TAI is to customers</a:t>
            </a:r>
            <a:endParaRPr sz="2600"/>
          </a:p>
          <a:p>
            <a:pPr indent="0" lvl="0" marL="0" rtl="0" algn="l">
              <a:lnSpc>
                <a:spcPct val="80000"/>
              </a:lnSpc>
              <a:spcBef>
                <a:spcPts val="0"/>
              </a:spcBef>
              <a:spcAft>
                <a:spcPts val="0"/>
              </a:spcAft>
              <a:buSzPts val="2000"/>
              <a:buNone/>
            </a:pPr>
            <a:r>
              <a:t/>
            </a:r>
            <a:endParaRPr sz="2600"/>
          </a:p>
        </p:txBody>
      </p:sp>
      <p:sp>
        <p:nvSpPr>
          <p:cNvPr id="330" name="Google Shape;330;p66"/>
          <p:cNvSpPr txBox="1"/>
          <p:nvPr/>
        </p:nvSpPr>
        <p:spPr>
          <a:xfrm>
            <a:off x="1800750" y="1404688"/>
            <a:ext cx="5542500" cy="1681500"/>
          </a:xfrm>
          <a:prstGeom prst="rect">
            <a:avLst/>
          </a:prstGeom>
          <a:solidFill>
            <a:srgbClr val="ECEDE5"/>
          </a:solidFill>
          <a:ln cap="flat" cmpd="sng" w="9525">
            <a:solidFill>
              <a:srgbClr val="F4F4F4"/>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1A252A"/>
                </a:solidFill>
                <a:latin typeface="DM Sans"/>
                <a:ea typeface="DM Sans"/>
                <a:cs typeface="DM Sans"/>
                <a:sym typeface="DM Sans"/>
              </a:rPr>
              <a:t>TAI is an agentic AI because it will plan and execute governed, multi‑step treasury workflows on trusted Kyriba data—with explainability, role‑based controls, and full auditability—rather than merely a AI chatbot responding to prompts.</a:t>
            </a:r>
            <a:endParaRPr b="1" sz="1300">
              <a:solidFill>
                <a:srgbClr val="1A252A"/>
              </a:solidFill>
              <a:latin typeface="DM Sans"/>
              <a:ea typeface="DM Sans"/>
              <a:cs typeface="DM Sans"/>
              <a:sym typeface="DM Sans"/>
            </a:endParaRPr>
          </a:p>
          <a:p>
            <a:pPr indent="0" lvl="0" marL="0" rtl="0" algn="l">
              <a:spcBef>
                <a:spcPts val="0"/>
              </a:spcBef>
              <a:spcAft>
                <a:spcPts val="0"/>
              </a:spcAft>
              <a:buNone/>
            </a:pPr>
            <a:r>
              <a:t/>
            </a:r>
            <a:endParaRPr b="1" sz="1000">
              <a:solidFill>
                <a:srgbClr val="1A252A"/>
              </a:solidFill>
              <a:latin typeface="DM Sans"/>
              <a:ea typeface="DM Sans"/>
              <a:cs typeface="DM Sans"/>
              <a:sym typeface="DM Sans"/>
            </a:endParaRPr>
          </a:p>
        </p:txBody>
      </p:sp>
      <p:sp>
        <p:nvSpPr>
          <p:cNvPr id="331" name="Google Shape;331;p66"/>
          <p:cNvSpPr txBox="1"/>
          <p:nvPr/>
        </p:nvSpPr>
        <p:spPr>
          <a:xfrm>
            <a:off x="228600" y="3414225"/>
            <a:ext cx="8686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For a full explanation of “Trusted AI portfolio”, “TAI” etc, please review the Kyriba website:</a:t>
            </a:r>
            <a:endParaRPr/>
          </a:p>
          <a:p>
            <a:pPr indent="0" lvl="0" marL="0" rtl="0" algn="ctr">
              <a:spcBef>
                <a:spcPts val="0"/>
              </a:spcBef>
              <a:spcAft>
                <a:spcPts val="0"/>
              </a:spcAft>
              <a:buNone/>
            </a:pPr>
            <a:r>
              <a:rPr lang="en" u="sng">
                <a:solidFill>
                  <a:srgbClr val="247094"/>
                </a:solidFill>
                <a:hlinkClick r:id="rId3">
                  <a:extLst>
                    <a:ext uri="{A12FA001-AC4F-418D-AE19-62706E023703}">
                      <ahyp:hlinkClr val="tx"/>
                    </a:ext>
                  </a:extLst>
                </a:hlinkClick>
              </a:rPr>
              <a:t>https://www.kyriba.com/use-cases/kyriba-trusted-ai/</a:t>
            </a:r>
            <a:endParaRPr>
              <a:solidFill>
                <a:srgbClr val="24709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67"/>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What is “TAI”?</a:t>
            </a:r>
            <a:endParaRPr sz="2600"/>
          </a:p>
          <a:p>
            <a:pPr indent="0" lvl="0" marL="0" rtl="0" algn="l">
              <a:lnSpc>
                <a:spcPct val="80000"/>
              </a:lnSpc>
              <a:spcBef>
                <a:spcPts val="0"/>
              </a:spcBef>
              <a:spcAft>
                <a:spcPts val="0"/>
              </a:spcAft>
              <a:buSzPts val="2000"/>
              <a:buNone/>
            </a:pPr>
            <a:r>
              <a:t/>
            </a:r>
            <a:endParaRPr sz="2600"/>
          </a:p>
        </p:txBody>
      </p:sp>
      <p:sp>
        <p:nvSpPr>
          <p:cNvPr id="337" name="Google Shape;337;p67"/>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“TAI” is Kyriba’s agentic AI. </a:t>
            </a:r>
            <a:endParaRPr sz="1100"/>
          </a:p>
          <a:p>
            <a:pPr indent="0" lvl="0" marL="0" rtl="0" algn="l">
              <a:spcBef>
                <a:spcPts val="1200"/>
              </a:spcBef>
              <a:spcAft>
                <a:spcPts val="0"/>
              </a:spcAft>
              <a:buNone/>
            </a:pPr>
            <a:r>
              <a:rPr lang="en" sz="1100"/>
              <a:t>Currently there are two “</a:t>
            </a:r>
            <a:r>
              <a:rPr lang="en" sz="1100"/>
              <a:t>agents</a:t>
            </a:r>
            <a:r>
              <a:rPr lang="en" sz="1100"/>
              <a:t>” within ‘TAI agents’:</a:t>
            </a:r>
            <a:endParaRPr sz="1100"/>
          </a:p>
          <a:p>
            <a:pPr indent="-298450" lvl="0" marL="457200" marR="0" rtl="0" algn="l">
              <a:lnSpc>
                <a:spcPct val="115000"/>
              </a:lnSpc>
              <a:spcBef>
                <a:spcPts val="1200"/>
              </a:spcBef>
              <a:spcAft>
                <a:spcPts val="0"/>
              </a:spcAft>
              <a:buSzPts val="1100"/>
              <a:buChar char="●"/>
            </a:pPr>
            <a:r>
              <a:rPr lang="en" sz="1100"/>
              <a:t>Treasury agent:</a:t>
            </a:r>
            <a:endParaRPr sz="1100"/>
          </a:p>
          <a:p>
            <a:pPr indent="-298450" lvl="1" marL="914400" marR="0" rtl="0" algn="l">
              <a:lnSpc>
                <a:spcPct val="115000"/>
              </a:lnSpc>
              <a:spcBef>
                <a:spcPts val="0"/>
              </a:spcBef>
              <a:spcAft>
                <a:spcPts val="0"/>
              </a:spcAft>
              <a:buSzPts val="1100"/>
              <a:buChar char="○"/>
            </a:pPr>
            <a:r>
              <a:rPr lang="en" sz="1100"/>
              <a:t>Producing reporting/analysis</a:t>
            </a:r>
            <a:endParaRPr sz="1100"/>
          </a:p>
          <a:p>
            <a:pPr indent="-298450" lvl="1" marL="914400" marR="0" rtl="0" algn="l">
              <a:lnSpc>
                <a:spcPct val="115000"/>
              </a:lnSpc>
              <a:spcBef>
                <a:spcPts val="0"/>
              </a:spcBef>
              <a:spcAft>
                <a:spcPts val="0"/>
              </a:spcAft>
              <a:buSzPts val="1100"/>
              <a:buChar char="○"/>
            </a:pPr>
            <a:r>
              <a:rPr lang="en" sz="1100"/>
              <a:t>Reduce customer time investigating breaks</a:t>
            </a:r>
            <a:endParaRPr sz="1100"/>
          </a:p>
          <a:p>
            <a:pPr indent="-298450" lvl="0" marL="457200" marR="0" rtl="0" algn="l">
              <a:lnSpc>
                <a:spcPct val="115000"/>
              </a:lnSpc>
              <a:spcBef>
                <a:spcPts val="0"/>
              </a:spcBef>
              <a:spcAft>
                <a:spcPts val="0"/>
              </a:spcAft>
              <a:buSzPts val="1100"/>
              <a:buChar char="●"/>
            </a:pPr>
            <a:r>
              <a:rPr lang="en" sz="1100"/>
              <a:t>Help agent:</a:t>
            </a:r>
            <a:endParaRPr sz="1100"/>
          </a:p>
          <a:p>
            <a:pPr indent="-298450" lvl="1" marL="914400" marR="0" rtl="0" algn="l">
              <a:lnSpc>
                <a:spcPct val="115000"/>
              </a:lnSpc>
              <a:spcBef>
                <a:spcPts val="0"/>
              </a:spcBef>
              <a:spcAft>
                <a:spcPts val="0"/>
              </a:spcAft>
              <a:buSzPts val="1100"/>
              <a:buChar char="○"/>
            </a:pPr>
            <a:r>
              <a:rPr lang="en" sz="1100"/>
              <a:t>Asking questions on how to use Kyriba from Kyriba’s Online Help.</a:t>
            </a:r>
            <a:endParaRPr sz="1100"/>
          </a:p>
          <a:p>
            <a:pPr indent="-298450" lvl="1" marL="914400" marR="0" rtl="0" algn="l">
              <a:lnSpc>
                <a:spcPct val="115000"/>
              </a:lnSpc>
              <a:spcBef>
                <a:spcPts val="0"/>
              </a:spcBef>
              <a:spcAft>
                <a:spcPts val="0"/>
              </a:spcAft>
              <a:buSzPts val="1100"/>
              <a:buChar char="○"/>
            </a:pPr>
            <a:r>
              <a:rPr lang="en" sz="1100"/>
              <a:t>Supports new user at implementation, as well as during day-to-day maintenance operations, reducing the number of user questions to Kyriba experts and support.</a:t>
            </a:r>
            <a:endParaRPr sz="1100"/>
          </a:p>
          <a:p>
            <a:pPr indent="0" lvl="0" marL="0" marR="0" rtl="0" algn="l">
              <a:lnSpc>
                <a:spcPct val="115000"/>
              </a:lnSpc>
              <a:spcBef>
                <a:spcPts val="1200"/>
              </a:spcBef>
              <a:spcAft>
                <a:spcPts val="0"/>
              </a:spcAft>
              <a:buNone/>
            </a:pPr>
            <a:r>
              <a:rPr lang="en" sz="1100"/>
              <a:t>The scope on how TAI can be used is endless. Examples are available at these resources:</a:t>
            </a:r>
            <a:endParaRPr sz="1100"/>
          </a:p>
          <a:p>
            <a:pPr indent="-298450" lvl="0" marL="457200" rtl="0" algn="l">
              <a:spcBef>
                <a:spcPts val="1200"/>
              </a:spcBef>
              <a:spcAft>
                <a:spcPts val="0"/>
              </a:spcAft>
              <a:buSzPts val="1100"/>
              <a:buChar char="●"/>
            </a:pPr>
            <a:r>
              <a:rPr lang="en" sz="1100"/>
              <a:t>Example queries: </a:t>
            </a:r>
            <a:r>
              <a:rPr lang="en" sz="1100" u="sng">
                <a:solidFill>
                  <a:srgbClr val="247094"/>
                </a:solidFill>
                <a:hlinkClick r:id="rId3">
                  <a:extLst>
                    <a:ext uri="{A12FA001-AC4F-418D-AE19-62706E023703}">
                      <ahyp:hlinkClr val="tx"/>
                    </a:ext>
                  </a:extLst>
                </a:hlinkClick>
              </a:rPr>
              <a:t>Factsheet: TAI Capabilities</a:t>
            </a:r>
            <a:endParaRPr sz="1100">
              <a:solidFill>
                <a:srgbClr val="247094"/>
              </a:solidFill>
            </a:endParaRPr>
          </a:p>
          <a:p>
            <a:pPr indent="-298450" lvl="0" marL="457200" rtl="0" algn="l">
              <a:spcBef>
                <a:spcPts val="0"/>
              </a:spcBef>
              <a:spcAft>
                <a:spcPts val="0"/>
              </a:spcAft>
              <a:buSzPts val="1100"/>
              <a:buChar char="●"/>
            </a:pPr>
            <a:r>
              <a:rPr lang="en" sz="1100"/>
              <a:t>Pre sales demos:</a:t>
            </a:r>
            <a:endParaRPr sz="1100"/>
          </a:p>
          <a:p>
            <a:pPr indent="-298450" lvl="1" marL="914400" rtl="0" algn="l">
              <a:spcBef>
                <a:spcPts val="0"/>
              </a:spcBef>
              <a:spcAft>
                <a:spcPts val="0"/>
              </a:spcAft>
              <a:buClr>
                <a:srgbClr val="247094"/>
              </a:buClr>
              <a:buSzPts val="1100"/>
              <a:buChar char="○"/>
            </a:pPr>
            <a:r>
              <a:rPr lang="en" sz="1100" u="sng">
                <a:solidFill>
                  <a:srgbClr val="247094"/>
                </a:solidFill>
                <a:hlinkClick r:id="rId4">
                  <a:extLst>
                    <a:ext uri="{A12FA001-AC4F-418D-AE19-62706E023703}">
                      <ahyp:hlinkClr val="tx"/>
                    </a:ext>
                  </a:extLst>
                </a:hlinkClick>
              </a:rPr>
              <a:t>Meet TAI: The Next Leap in AI-Powered Treasury</a:t>
            </a:r>
            <a:endParaRPr sz="1100">
              <a:solidFill>
                <a:srgbClr val="247094"/>
              </a:solidFill>
            </a:endParaRPr>
          </a:p>
          <a:p>
            <a:pPr indent="-298450" lvl="1" marL="914400" rtl="0" algn="l">
              <a:spcBef>
                <a:spcPts val="0"/>
              </a:spcBef>
              <a:spcAft>
                <a:spcPts val="0"/>
              </a:spcAft>
              <a:buClr>
                <a:srgbClr val="247094"/>
              </a:buClr>
              <a:buSzPts val="1100"/>
              <a:buChar char="○"/>
            </a:pPr>
            <a:r>
              <a:rPr lang="en" sz="1100" u="sng">
                <a:solidFill>
                  <a:srgbClr val="247094"/>
                </a:solidFill>
                <a:hlinkClick r:id="rId5">
                  <a:extLst>
                    <a:ext uri="{A12FA001-AC4F-418D-AE19-62706E023703}">
                      <ahyp:hlinkClr val="tx"/>
                    </a:ext>
                  </a:extLst>
                </a:hlinkClick>
              </a:rPr>
              <a:t>2025 - Module Intro - TAI 2 (EN)</a:t>
            </a:r>
            <a:endParaRPr/>
          </a:p>
        </p:txBody>
      </p:sp>
      <p:sp>
        <p:nvSpPr>
          <p:cNvPr id="338" name="Google Shape;338;p67"/>
          <p:cNvSpPr txBox="1"/>
          <p:nvPr>
            <p:ph idx="1" type="body"/>
          </p:nvPr>
        </p:nvSpPr>
        <p:spPr>
          <a:xfrm>
            <a:off x="4741200" y="556950"/>
            <a:ext cx="3984000" cy="1742100"/>
          </a:xfrm>
          <a:prstGeom prst="rect">
            <a:avLst/>
          </a:prstGeom>
          <a:noFill/>
          <a:ln cap="flat" cmpd="sng" w="2857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100"/>
              <a:t>An agent interprets the user’s request and then engages in a chain of thought, a reasoning process where it breaks down the problem into steps. </a:t>
            </a:r>
            <a:endParaRPr sz="1100"/>
          </a:p>
          <a:p>
            <a:pPr indent="0" lvl="0" marL="0" rtl="0" algn="l">
              <a:spcBef>
                <a:spcPts val="1200"/>
              </a:spcBef>
              <a:spcAft>
                <a:spcPts val="1200"/>
              </a:spcAft>
              <a:buNone/>
            </a:pPr>
            <a:r>
              <a:rPr lang="en" sz="1100"/>
              <a:t>Based on this reasoning, the agent identifies which tools or data sources might help, calls them, observes the results, and adapts its plan if needed. This loop continues until the agent can provide a complete, reliable answer to the user.</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42" name="Shape 342"/>
        <p:cNvGrpSpPr/>
        <p:nvPr/>
      </p:nvGrpSpPr>
      <p:grpSpPr>
        <a:xfrm>
          <a:off x="0" y="0"/>
          <a:ext cx="0" cy="0"/>
          <a:chOff x="0" y="0"/>
          <a:chExt cx="0" cy="0"/>
        </a:xfrm>
      </p:grpSpPr>
      <p:sp>
        <p:nvSpPr>
          <p:cNvPr id="343" name="Google Shape;343;p68"/>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to use TAI</a:t>
            </a:r>
            <a:endParaRPr/>
          </a:p>
        </p:txBody>
      </p:sp>
      <p:pic>
        <p:nvPicPr>
          <p:cNvPr id="344" name="Google Shape;344;p68"/>
          <p:cNvPicPr preferRelativeResize="0"/>
          <p:nvPr/>
        </p:nvPicPr>
        <p:blipFill>
          <a:blip r:embed="rId3">
            <a:alphaModFix/>
          </a:blip>
          <a:stretch>
            <a:fillRect/>
          </a:stretch>
        </p:blipFill>
        <p:spPr>
          <a:xfrm>
            <a:off x="7281801" y="3012100"/>
            <a:ext cx="962337" cy="1074926"/>
          </a:xfrm>
          <a:prstGeom prst="rect">
            <a:avLst/>
          </a:prstGeom>
          <a:noFill/>
          <a:ln>
            <a:noFill/>
          </a:ln>
        </p:spPr>
      </p:pic>
      <p:sp>
        <p:nvSpPr>
          <p:cNvPr id="345" name="Google Shape;345;p68"/>
          <p:cNvSpPr txBox="1"/>
          <p:nvPr/>
        </p:nvSpPr>
        <p:spPr>
          <a:xfrm>
            <a:off x="6717475" y="4087025"/>
            <a:ext cx="2091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DM Sans"/>
                <a:ea typeface="DM Sans"/>
                <a:cs typeface="DM Sans"/>
                <a:sym typeface="DM Sans"/>
              </a:rPr>
              <a:t>Adam Bridgewater</a:t>
            </a:r>
            <a:endParaRPr sz="1300">
              <a:solidFill>
                <a:schemeClr val="dk1"/>
              </a:solidFill>
              <a:latin typeface="DM Sans"/>
              <a:ea typeface="DM Sans"/>
              <a:cs typeface="DM Sans"/>
              <a:sym typeface="DM Sans"/>
            </a:endParaRPr>
          </a:p>
          <a:p>
            <a:pPr indent="0" lvl="0" marL="0" rtl="0" algn="ctr">
              <a:spcBef>
                <a:spcPts val="0"/>
              </a:spcBef>
              <a:spcAft>
                <a:spcPts val="0"/>
              </a:spcAft>
              <a:buNone/>
            </a:pPr>
            <a:r>
              <a:rPr lang="en" sz="1300">
                <a:solidFill>
                  <a:schemeClr val="dk1"/>
                </a:solidFill>
                <a:latin typeface="DM Sans"/>
                <a:ea typeface="DM Sans"/>
                <a:cs typeface="DM Sans"/>
                <a:sym typeface="DM Sans"/>
              </a:rPr>
              <a:t>A.I. Innovation Manager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49" name="Shape 349"/>
        <p:cNvGrpSpPr/>
        <p:nvPr/>
      </p:nvGrpSpPr>
      <p:grpSpPr>
        <a:xfrm>
          <a:off x="0" y="0"/>
          <a:ext cx="0" cy="0"/>
          <a:chOff x="0" y="0"/>
          <a:chExt cx="0" cy="0"/>
        </a:xfrm>
      </p:grpSpPr>
      <p:sp>
        <p:nvSpPr>
          <p:cNvPr id="350" name="Google Shape;350;p69"/>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solidFill>
                  <a:schemeClr val="accent2"/>
                </a:solidFill>
              </a:rPr>
              <a:t>INTERFACE DEMO</a:t>
            </a:r>
            <a:endParaRPr>
              <a:solidFill>
                <a:schemeClr val="accent2"/>
              </a:solidFill>
            </a:endParaRPr>
          </a:p>
        </p:txBody>
      </p:sp>
      <p:sp>
        <p:nvSpPr>
          <p:cNvPr id="351" name="Google Shape;351;p69"/>
          <p:cNvSpPr txBox="1"/>
          <p:nvPr>
            <p:ph idx="1" type="subTitle"/>
          </p:nvPr>
        </p:nvSpPr>
        <p:spPr>
          <a:xfrm>
            <a:off x="228600" y="2834125"/>
            <a:ext cx="5627100" cy="176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t>Contents:</a:t>
            </a:r>
            <a:endParaRPr sz="1100"/>
          </a:p>
          <a:p>
            <a:pPr indent="-298450" lvl="0" marL="457200" rtl="0" algn="l">
              <a:lnSpc>
                <a:spcPct val="115000"/>
              </a:lnSpc>
              <a:spcBef>
                <a:spcPts val="0"/>
              </a:spcBef>
              <a:spcAft>
                <a:spcPts val="0"/>
              </a:spcAft>
              <a:buSzPts val="1100"/>
              <a:buChar char="●"/>
            </a:pPr>
            <a:r>
              <a:rPr lang="en" sz="1100"/>
              <a:t>UI navigation</a:t>
            </a:r>
            <a:endParaRPr sz="1100"/>
          </a:p>
          <a:p>
            <a:pPr indent="-298450" lvl="0" marL="457200" rtl="0" algn="l">
              <a:lnSpc>
                <a:spcPct val="115000"/>
              </a:lnSpc>
              <a:spcBef>
                <a:spcPts val="0"/>
              </a:spcBef>
              <a:spcAft>
                <a:spcPts val="0"/>
              </a:spcAft>
              <a:buSzPts val="1100"/>
              <a:buChar char="●"/>
            </a:pPr>
            <a:r>
              <a:rPr lang="en" sz="1100"/>
              <a:t>Charting</a:t>
            </a:r>
            <a:endParaRPr sz="1100"/>
          </a:p>
          <a:p>
            <a:pPr indent="-298450" lvl="0" marL="457200" rtl="0" algn="l">
              <a:lnSpc>
                <a:spcPct val="115000"/>
              </a:lnSpc>
              <a:spcBef>
                <a:spcPts val="0"/>
              </a:spcBef>
              <a:spcAft>
                <a:spcPts val="0"/>
              </a:spcAft>
              <a:buSzPts val="1100"/>
              <a:buChar char="●"/>
            </a:pPr>
            <a:r>
              <a:rPr lang="en" sz="1100"/>
              <a:t>Conversations &amp; limitations on conversations with soft-limit warning at 60k</a:t>
            </a:r>
            <a:endParaRPr sz="1100"/>
          </a:p>
          <a:p>
            <a:pPr indent="-298450" lvl="0" marL="457200" rtl="0" algn="l">
              <a:lnSpc>
                <a:spcPct val="115000"/>
              </a:lnSpc>
              <a:spcBef>
                <a:spcPts val="0"/>
              </a:spcBef>
              <a:spcAft>
                <a:spcPts val="0"/>
              </a:spcAft>
              <a:buSzPts val="1100"/>
              <a:buChar char="●"/>
            </a:pPr>
            <a:r>
              <a:rPr lang="en" sz="1100"/>
              <a:t>Guardrails, history, context &amp; clearing conversations</a:t>
            </a:r>
            <a:endParaRPr sz="1100"/>
          </a:p>
          <a:p>
            <a:pPr indent="-298450" lvl="0" marL="457200" rtl="0" algn="l">
              <a:lnSpc>
                <a:spcPct val="115000"/>
              </a:lnSpc>
              <a:spcBef>
                <a:spcPts val="0"/>
              </a:spcBef>
              <a:spcAft>
                <a:spcPts val="0"/>
              </a:spcAft>
              <a:buSzPts val="1100"/>
              <a:buChar char="●"/>
            </a:pPr>
            <a:r>
              <a:rPr lang="en" sz="1100"/>
              <a:t>Copy/paste, feedback, replay.</a:t>
            </a:r>
            <a:endParaRPr sz="1100"/>
          </a:p>
          <a:p>
            <a:pPr indent="-298450" lvl="0" marL="457200" rtl="0" algn="l">
              <a:lnSpc>
                <a:spcPct val="115000"/>
              </a:lnSpc>
              <a:spcBef>
                <a:spcPts val="0"/>
              </a:spcBef>
              <a:spcAft>
                <a:spcPts val="0"/>
              </a:spcAft>
              <a:buSzPts val="1100"/>
              <a:buChar char="●"/>
            </a:pPr>
            <a:r>
              <a:rPr lang="en" sz="1100"/>
              <a:t>Reasoning</a:t>
            </a:r>
            <a:endParaRPr sz="1100"/>
          </a:p>
          <a:p>
            <a:pPr indent="-298450" lvl="0" marL="457200" rtl="0" algn="l">
              <a:lnSpc>
                <a:spcPct val="115000"/>
              </a:lnSpc>
              <a:spcBef>
                <a:spcPts val="0"/>
              </a:spcBef>
              <a:spcAft>
                <a:spcPts val="0"/>
              </a:spcAft>
              <a:buSzPts val="1100"/>
              <a:buChar char="●"/>
            </a:pPr>
            <a:r>
              <a:rPr lang="en" sz="1100"/>
              <a:t>Help agent</a:t>
            </a:r>
            <a:endParaRPr sz="1100"/>
          </a:p>
          <a:p>
            <a:pPr indent="-298450" lvl="0" marL="457200" rtl="0" algn="l">
              <a:lnSpc>
                <a:spcPct val="115000"/>
              </a:lnSpc>
              <a:spcBef>
                <a:spcPts val="0"/>
              </a:spcBef>
              <a:spcAft>
                <a:spcPts val="0"/>
              </a:spcAft>
              <a:buSzPts val="1100"/>
              <a:buChar char="●"/>
            </a:pPr>
            <a:r>
              <a:rPr lang="en" sz="1100"/>
              <a:t>Clearing cache trick</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 name="Shape 355"/>
        <p:cNvGrpSpPr/>
        <p:nvPr/>
      </p:nvGrpSpPr>
      <p:grpSpPr>
        <a:xfrm>
          <a:off x="0" y="0"/>
          <a:ext cx="0" cy="0"/>
          <a:chOff x="0" y="0"/>
          <a:chExt cx="0" cy="0"/>
        </a:xfrm>
      </p:grpSpPr>
      <p:sp>
        <p:nvSpPr>
          <p:cNvPr id="356" name="Google Shape;356;p70"/>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How units work</a:t>
            </a:r>
            <a:endParaRPr sz="2600"/>
          </a:p>
          <a:p>
            <a:pPr indent="0" lvl="0" marL="0" rtl="0" algn="l">
              <a:lnSpc>
                <a:spcPct val="80000"/>
              </a:lnSpc>
              <a:spcBef>
                <a:spcPts val="0"/>
              </a:spcBef>
              <a:spcAft>
                <a:spcPts val="0"/>
              </a:spcAft>
              <a:buSzPts val="2000"/>
              <a:buNone/>
            </a:pPr>
            <a:r>
              <a:t/>
            </a:r>
            <a:endParaRPr sz="2600"/>
          </a:p>
        </p:txBody>
      </p:sp>
      <p:sp>
        <p:nvSpPr>
          <p:cNvPr id="357" name="Google Shape;357;p70"/>
          <p:cNvSpPr txBox="1"/>
          <p:nvPr>
            <p:ph idx="1" type="body"/>
          </p:nvPr>
        </p:nvSpPr>
        <p:spPr>
          <a:xfrm>
            <a:off x="173550" y="849025"/>
            <a:ext cx="8595900" cy="41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Customers purchasing </a:t>
            </a:r>
            <a:r>
              <a:rPr lang="en" sz="1100" u="sng">
                <a:solidFill>
                  <a:srgbClr val="1155CC"/>
                </a:solidFill>
                <a:latin typeface="Arial"/>
                <a:ea typeface="Arial"/>
                <a:cs typeface="Arial"/>
                <a:sym typeface="Arial"/>
                <a:hlinkClick r:id="rId3">
                  <a:extLst>
                    <a:ext uri="{A12FA001-AC4F-418D-AE19-62706E023703}">
                      <ahyp:hlinkClr val="tx"/>
                    </a:ext>
                  </a:extLst>
                </a:hlinkClick>
              </a:rPr>
              <a:t>PC01-0022 TAI Agents</a:t>
            </a:r>
            <a:r>
              <a:rPr lang="en" sz="1100">
                <a:solidFill>
                  <a:srgbClr val="000000"/>
                </a:solidFill>
                <a:latin typeface="Arial"/>
                <a:ea typeface="Arial"/>
                <a:cs typeface="Arial"/>
                <a:sym typeface="Arial"/>
              </a:rPr>
              <a:t> at zero cost will get access to the TAI interface.</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Customers will need to also purchase </a:t>
            </a:r>
            <a:r>
              <a:rPr lang="en" sz="1100" u="sng">
                <a:solidFill>
                  <a:srgbClr val="1155CC"/>
                </a:solidFill>
                <a:latin typeface="Arial"/>
                <a:ea typeface="Arial"/>
                <a:cs typeface="Arial"/>
                <a:sym typeface="Arial"/>
                <a:hlinkClick r:id="rId4">
                  <a:extLst>
                    <a:ext uri="{A12FA001-AC4F-418D-AE19-62706E023703}">
                      <ahyp:hlinkClr val="tx"/>
                    </a:ext>
                  </a:extLst>
                </a:hlinkClick>
              </a:rPr>
              <a:t>PC01-0021 Kyriba Units - 500</a:t>
            </a:r>
            <a:r>
              <a:rPr lang="en" sz="1100">
                <a:solidFill>
                  <a:srgbClr val="000000"/>
                </a:solidFill>
                <a:latin typeface="Arial"/>
                <a:ea typeface="Arial"/>
                <a:cs typeface="Arial"/>
                <a:sym typeface="Arial"/>
              </a:rPr>
              <a:t> to have ‘Kyriba units’ to use in TAI.</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If a customer runs out of Kyriba units, then they need to purchase more units, or wait until the </a:t>
            </a:r>
            <a:r>
              <a:rPr lang="en" sz="1100">
                <a:solidFill>
                  <a:srgbClr val="000000"/>
                </a:solidFill>
                <a:latin typeface="Arial"/>
                <a:ea typeface="Arial"/>
                <a:cs typeface="Arial"/>
                <a:sym typeface="Arial"/>
              </a:rPr>
              <a:t>1st of the </a:t>
            </a:r>
            <a:r>
              <a:rPr lang="en" sz="1100">
                <a:solidFill>
                  <a:srgbClr val="000000"/>
                </a:solidFill>
                <a:latin typeface="Arial"/>
                <a:ea typeface="Arial"/>
                <a:cs typeface="Arial"/>
                <a:sym typeface="Arial"/>
              </a:rPr>
              <a:t>next month for the unit usage counter to reset.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500 units is </a:t>
            </a:r>
            <a:r>
              <a:rPr b="1" lang="en" sz="1100" u="sng">
                <a:solidFill>
                  <a:srgbClr val="000000"/>
                </a:solidFill>
                <a:latin typeface="Arial"/>
                <a:ea typeface="Arial"/>
                <a:cs typeface="Arial"/>
                <a:sym typeface="Arial"/>
              </a:rPr>
              <a:t>roughly</a:t>
            </a:r>
            <a:r>
              <a:rPr b="1"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equivalent to 100 queries a month, which is </a:t>
            </a:r>
            <a:r>
              <a:rPr b="1" lang="en" sz="1100" u="sng">
                <a:solidFill>
                  <a:srgbClr val="000000"/>
                </a:solidFill>
                <a:latin typeface="Arial"/>
                <a:ea typeface="Arial"/>
                <a:cs typeface="Arial"/>
                <a:sym typeface="Arial"/>
              </a:rPr>
              <a:t>roughly</a:t>
            </a:r>
            <a:r>
              <a:rPr lang="en" sz="1100">
                <a:solidFill>
                  <a:srgbClr val="000000"/>
                </a:solidFill>
                <a:latin typeface="Arial"/>
                <a:ea typeface="Arial"/>
                <a:cs typeface="Arial"/>
                <a:sym typeface="Arial"/>
              </a:rPr>
              <a:t> expected to be the average usage of 1x user.</a:t>
            </a:r>
            <a:endParaRPr sz="1100">
              <a:solidFill>
                <a:srgbClr val="000000"/>
              </a:solidFill>
              <a:latin typeface="Arial"/>
              <a:ea typeface="Arial"/>
              <a:cs typeface="Arial"/>
              <a:sym typeface="Arial"/>
            </a:endParaRPr>
          </a:p>
          <a:p>
            <a:pPr indent="-292100" lvl="1" marL="914400" rtl="0" algn="l">
              <a:spcBef>
                <a:spcPts val="0"/>
              </a:spcBef>
              <a:spcAft>
                <a:spcPts val="0"/>
              </a:spcAft>
              <a:buClr>
                <a:srgbClr val="000000"/>
              </a:buClr>
              <a:buSzPts val="1000"/>
              <a:buFont typeface="Arial"/>
              <a:buChar char="○"/>
            </a:pPr>
            <a:r>
              <a:rPr b="1" lang="en" sz="1000" u="sng">
                <a:solidFill>
                  <a:srgbClr val="000000"/>
                </a:solidFill>
                <a:latin typeface="Arial"/>
                <a:ea typeface="Arial"/>
                <a:cs typeface="Arial"/>
                <a:sym typeface="Arial"/>
              </a:rPr>
              <a:t>Cost per query varies as different questions/answers will result in more/fewer reasoning steps on more/less data as well as resulting in longer/shorter answers</a:t>
            </a:r>
            <a:endParaRPr sz="10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number of units a customer can have access to is the quantity of PC01-0021 x 500 and displayed as below</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units are pooled across all of the customer’s users.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unit tracker can take 20 mins to 1 hour to update.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 the near future, Kyriba Units may be used for other Kyriba services.</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a:p>
        </p:txBody>
      </p:sp>
      <p:sp>
        <p:nvSpPr>
          <p:cNvPr id="358" name="Google Shape;358;p70"/>
          <p:cNvSpPr txBox="1"/>
          <p:nvPr>
            <p:ph idx="1" type="body"/>
          </p:nvPr>
        </p:nvSpPr>
        <p:spPr>
          <a:xfrm>
            <a:off x="173550" y="3149175"/>
            <a:ext cx="4618800" cy="17691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Use of TAI by </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CONSULTANT01 &amp; CONSULTANT02 </a:t>
            </a:r>
            <a:r>
              <a:rPr b="1" lang="en" sz="1100" u="sng">
                <a:solidFill>
                  <a:srgbClr val="000000"/>
                </a:solidFill>
                <a:latin typeface="Arial"/>
                <a:ea typeface="Arial"/>
                <a:cs typeface="Arial"/>
                <a:sym typeface="Arial"/>
              </a:rPr>
              <a:t>will decrease</a:t>
            </a:r>
            <a:r>
              <a:rPr lang="en" sz="1100">
                <a:solidFill>
                  <a:srgbClr val="000000"/>
                </a:solidFill>
                <a:latin typeface="Arial"/>
                <a:ea typeface="Arial"/>
                <a:cs typeface="Arial"/>
                <a:sym typeface="Arial"/>
              </a:rPr>
              <a:t> the number of Kyriba units available to the customer.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SUPPORT01 &amp; SUPPORT02 &amp; HOTLINE is </a:t>
            </a:r>
            <a:r>
              <a:rPr b="1" lang="en" sz="1100" u="sng">
                <a:solidFill>
                  <a:srgbClr val="000000"/>
                </a:solidFill>
                <a:latin typeface="Arial"/>
                <a:ea typeface="Arial"/>
                <a:cs typeface="Arial"/>
                <a:sym typeface="Arial"/>
              </a:rPr>
              <a:t>monitored</a:t>
            </a:r>
            <a:r>
              <a:rPr lang="en" sz="1100">
                <a:solidFill>
                  <a:srgbClr val="000000"/>
                </a:solidFill>
                <a:latin typeface="Arial"/>
                <a:ea typeface="Arial"/>
                <a:cs typeface="Arial"/>
                <a:sym typeface="Arial"/>
              </a:rPr>
              <a:t> but does </a:t>
            </a:r>
            <a:r>
              <a:rPr b="1" lang="en" sz="1100" u="sng">
                <a:solidFill>
                  <a:srgbClr val="000000"/>
                </a:solidFill>
                <a:latin typeface="Arial"/>
                <a:ea typeface="Arial"/>
                <a:cs typeface="Arial"/>
                <a:sym typeface="Arial"/>
              </a:rPr>
              <a:t>not decrease</a:t>
            </a:r>
            <a:r>
              <a:rPr lang="en" sz="1100">
                <a:solidFill>
                  <a:srgbClr val="000000"/>
                </a:solidFill>
                <a:latin typeface="Arial"/>
                <a:ea typeface="Arial"/>
                <a:cs typeface="Arial"/>
                <a:sym typeface="Arial"/>
              </a:rPr>
              <a:t> the number of Kyriba units available to the customer.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500 units a month has been added to each production CMP11 environment which is available now.</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a:p>
        </p:txBody>
      </p:sp>
      <p:pic>
        <p:nvPicPr>
          <p:cNvPr id="359" name="Google Shape;359;p70"/>
          <p:cNvPicPr preferRelativeResize="0"/>
          <p:nvPr/>
        </p:nvPicPr>
        <p:blipFill>
          <a:blip r:embed="rId5">
            <a:alphaModFix/>
          </a:blip>
          <a:stretch>
            <a:fillRect/>
          </a:stretch>
        </p:blipFill>
        <p:spPr>
          <a:xfrm>
            <a:off x="5159586" y="3075850"/>
            <a:ext cx="3793366" cy="1724750"/>
          </a:xfrm>
          <a:prstGeom prst="rect">
            <a:avLst/>
          </a:prstGeom>
          <a:noFill/>
          <a:ln>
            <a:noFill/>
          </a:ln>
        </p:spPr>
      </p:pic>
      <p:sp>
        <p:nvSpPr>
          <p:cNvPr id="360" name="Google Shape;360;p70"/>
          <p:cNvSpPr/>
          <p:nvPr/>
        </p:nvSpPr>
        <p:spPr>
          <a:xfrm>
            <a:off x="5227750" y="3409100"/>
            <a:ext cx="980400" cy="2337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sp>
        <p:nvSpPr>
          <p:cNvPr id="365" name="Google Shape;365;p7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500"/>
              <a:t>How to Monitor TAI Usage in SFDC (Account)</a:t>
            </a:r>
            <a:endParaRPr sz="2500"/>
          </a:p>
        </p:txBody>
      </p:sp>
      <p:pic>
        <p:nvPicPr>
          <p:cNvPr id="366" name="Google Shape;366;p71" title="image (5).png"/>
          <p:cNvPicPr preferRelativeResize="0"/>
          <p:nvPr/>
        </p:nvPicPr>
        <p:blipFill>
          <a:blip r:embed="rId3">
            <a:alphaModFix/>
          </a:blip>
          <a:stretch>
            <a:fillRect/>
          </a:stretch>
        </p:blipFill>
        <p:spPr>
          <a:xfrm>
            <a:off x="2945898" y="862400"/>
            <a:ext cx="2917746" cy="3620425"/>
          </a:xfrm>
          <a:prstGeom prst="rect">
            <a:avLst/>
          </a:prstGeom>
          <a:noFill/>
          <a:ln>
            <a:noFill/>
          </a:ln>
        </p:spPr>
      </p:pic>
      <p:sp>
        <p:nvSpPr>
          <p:cNvPr id="367" name="Google Shape;367;p71"/>
          <p:cNvSpPr txBox="1"/>
          <p:nvPr/>
        </p:nvSpPr>
        <p:spPr>
          <a:xfrm>
            <a:off x="780675" y="121647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TAI consumption rate by month</a:t>
            </a:r>
            <a:endParaRPr sz="831">
              <a:solidFill>
                <a:schemeClr val="dk1"/>
              </a:solidFill>
              <a:latin typeface="DM Sans"/>
              <a:ea typeface="DM Sans"/>
              <a:cs typeface="DM Sans"/>
              <a:sym typeface="DM Sans"/>
            </a:endParaRPr>
          </a:p>
        </p:txBody>
      </p:sp>
      <p:cxnSp>
        <p:nvCxnSpPr>
          <p:cNvPr id="368" name="Google Shape;368;p71"/>
          <p:cNvCxnSpPr>
            <a:stCxn id="367" idx="3"/>
          </p:cNvCxnSpPr>
          <p:nvPr/>
        </p:nvCxnSpPr>
        <p:spPr>
          <a:xfrm>
            <a:off x="2559375" y="1351924"/>
            <a:ext cx="1162800" cy="3795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69" name="Google Shape;369;p71"/>
          <p:cNvSpPr txBox="1"/>
          <p:nvPr/>
        </p:nvSpPr>
        <p:spPr>
          <a:xfrm>
            <a:off x="6403409" y="1812703"/>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Total Number of Units Purchased</a:t>
            </a:r>
            <a:endParaRPr sz="831">
              <a:solidFill>
                <a:schemeClr val="dk1"/>
              </a:solidFill>
              <a:latin typeface="DM Sans"/>
              <a:ea typeface="DM Sans"/>
              <a:cs typeface="DM Sans"/>
              <a:sym typeface="DM Sans"/>
            </a:endParaRPr>
          </a:p>
        </p:txBody>
      </p:sp>
      <p:cxnSp>
        <p:nvCxnSpPr>
          <p:cNvPr id="370" name="Google Shape;370;p71"/>
          <p:cNvCxnSpPr>
            <a:stCxn id="369" idx="1"/>
          </p:cNvCxnSpPr>
          <p:nvPr/>
        </p:nvCxnSpPr>
        <p:spPr>
          <a:xfrm flipH="1">
            <a:off x="4778909" y="1948153"/>
            <a:ext cx="1624500" cy="5691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71" name="Google Shape;371;p71"/>
          <p:cNvSpPr txBox="1"/>
          <p:nvPr/>
        </p:nvSpPr>
        <p:spPr>
          <a:xfrm>
            <a:off x="780675" y="233360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Total Number of Units Remaining</a:t>
            </a:r>
            <a:endParaRPr sz="831">
              <a:solidFill>
                <a:schemeClr val="dk1"/>
              </a:solidFill>
              <a:latin typeface="DM Sans"/>
              <a:ea typeface="DM Sans"/>
              <a:cs typeface="DM Sans"/>
              <a:sym typeface="DM Sans"/>
            </a:endParaRPr>
          </a:p>
        </p:txBody>
      </p:sp>
      <p:sp>
        <p:nvSpPr>
          <p:cNvPr id="372" name="Google Shape;372;p71"/>
          <p:cNvSpPr txBox="1"/>
          <p:nvPr/>
        </p:nvSpPr>
        <p:spPr>
          <a:xfrm>
            <a:off x="6376877" y="2765705"/>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Days Left in the Month</a:t>
            </a:r>
            <a:endParaRPr sz="831">
              <a:solidFill>
                <a:schemeClr val="dk1"/>
              </a:solidFill>
              <a:latin typeface="DM Sans"/>
              <a:ea typeface="DM Sans"/>
              <a:cs typeface="DM Sans"/>
              <a:sym typeface="DM Sans"/>
            </a:endParaRPr>
          </a:p>
        </p:txBody>
      </p:sp>
      <p:cxnSp>
        <p:nvCxnSpPr>
          <p:cNvPr id="373" name="Google Shape;373;p71"/>
          <p:cNvCxnSpPr>
            <a:stCxn id="372" idx="1"/>
          </p:cNvCxnSpPr>
          <p:nvPr/>
        </p:nvCxnSpPr>
        <p:spPr>
          <a:xfrm flipH="1">
            <a:off x="5076077" y="2901155"/>
            <a:ext cx="1300800" cy="99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74" name="Google Shape;374;p71"/>
          <p:cNvSpPr txBox="1"/>
          <p:nvPr/>
        </p:nvSpPr>
        <p:spPr>
          <a:xfrm>
            <a:off x="6376877" y="2289204"/>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Add-on Units Purchased (Packs)</a:t>
            </a:r>
            <a:endParaRPr sz="831">
              <a:solidFill>
                <a:schemeClr val="dk1"/>
              </a:solidFill>
              <a:latin typeface="DM Sans"/>
              <a:ea typeface="DM Sans"/>
              <a:cs typeface="DM Sans"/>
              <a:sym typeface="DM Sans"/>
            </a:endParaRPr>
          </a:p>
        </p:txBody>
      </p:sp>
      <p:cxnSp>
        <p:nvCxnSpPr>
          <p:cNvPr id="375" name="Google Shape;375;p71"/>
          <p:cNvCxnSpPr>
            <a:stCxn id="374" idx="1"/>
          </p:cNvCxnSpPr>
          <p:nvPr/>
        </p:nvCxnSpPr>
        <p:spPr>
          <a:xfrm flipH="1">
            <a:off x="4943177" y="2424654"/>
            <a:ext cx="1433700" cy="3264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76" name="Google Shape;376;p71"/>
          <p:cNvSpPr txBox="1"/>
          <p:nvPr/>
        </p:nvSpPr>
        <p:spPr>
          <a:xfrm>
            <a:off x="6376877" y="3362949"/>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Days Left for Subscription</a:t>
            </a:r>
            <a:endParaRPr sz="831">
              <a:solidFill>
                <a:schemeClr val="dk1"/>
              </a:solidFill>
              <a:latin typeface="DM Sans"/>
              <a:ea typeface="DM Sans"/>
              <a:cs typeface="DM Sans"/>
              <a:sym typeface="DM Sans"/>
            </a:endParaRPr>
          </a:p>
        </p:txBody>
      </p:sp>
      <p:cxnSp>
        <p:nvCxnSpPr>
          <p:cNvPr id="377" name="Google Shape;377;p71"/>
          <p:cNvCxnSpPr>
            <a:stCxn id="376" idx="1"/>
          </p:cNvCxnSpPr>
          <p:nvPr/>
        </p:nvCxnSpPr>
        <p:spPr>
          <a:xfrm rot="10800000">
            <a:off x="5187377" y="3234099"/>
            <a:ext cx="1189500" cy="264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78" name="Google Shape;378;p71"/>
          <p:cNvSpPr txBox="1"/>
          <p:nvPr/>
        </p:nvSpPr>
        <p:spPr>
          <a:xfrm>
            <a:off x="6376877" y="3885858"/>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Daily Usage Average</a:t>
            </a:r>
            <a:endParaRPr sz="831">
              <a:solidFill>
                <a:schemeClr val="dk1"/>
              </a:solidFill>
              <a:latin typeface="DM Sans"/>
              <a:ea typeface="DM Sans"/>
              <a:cs typeface="DM Sans"/>
              <a:sym typeface="DM Sans"/>
            </a:endParaRPr>
          </a:p>
        </p:txBody>
      </p:sp>
      <p:cxnSp>
        <p:nvCxnSpPr>
          <p:cNvPr id="379" name="Google Shape;379;p71"/>
          <p:cNvCxnSpPr>
            <a:stCxn id="378" idx="1"/>
          </p:cNvCxnSpPr>
          <p:nvPr/>
        </p:nvCxnSpPr>
        <p:spPr>
          <a:xfrm rot="10800000">
            <a:off x="5065277" y="3505008"/>
            <a:ext cx="1311600" cy="5163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80" name="Google Shape;380;p71"/>
          <p:cNvSpPr txBox="1"/>
          <p:nvPr/>
        </p:nvSpPr>
        <p:spPr>
          <a:xfrm>
            <a:off x="780675" y="3478328"/>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Units Usage In Month So Far</a:t>
            </a:r>
            <a:endParaRPr sz="831">
              <a:solidFill>
                <a:schemeClr val="dk1"/>
              </a:solidFill>
              <a:latin typeface="DM Sans"/>
              <a:ea typeface="DM Sans"/>
              <a:cs typeface="DM Sans"/>
              <a:sym typeface="DM Sans"/>
            </a:endParaRPr>
          </a:p>
        </p:txBody>
      </p:sp>
      <p:cxnSp>
        <p:nvCxnSpPr>
          <p:cNvPr id="381" name="Google Shape;381;p71"/>
          <p:cNvCxnSpPr>
            <a:stCxn id="380" idx="3"/>
          </p:cNvCxnSpPr>
          <p:nvPr/>
        </p:nvCxnSpPr>
        <p:spPr>
          <a:xfrm flipH="1" rot="10800000">
            <a:off x="2559375" y="3488978"/>
            <a:ext cx="520200" cy="1248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82" name="Google Shape;382;p71"/>
          <p:cNvSpPr txBox="1"/>
          <p:nvPr/>
        </p:nvSpPr>
        <p:spPr>
          <a:xfrm>
            <a:off x="780675" y="2911226"/>
            <a:ext cx="1778700" cy="270900"/>
          </a:xfrm>
          <a:prstGeom prst="rect">
            <a:avLst/>
          </a:prstGeom>
          <a:noFill/>
          <a:ln cap="flat" cmpd="sng" w="8800">
            <a:solidFill>
              <a:srgbClr val="000000"/>
            </a:solidFill>
            <a:prstDash val="solid"/>
            <a:round/>
            <a:headEnd len="sm" w="sm" type="none"/>
            <a:tailEnd len="sm" w="sm" type="none"/>
          </a:ln>
        </p:spPr>
        <p:txBody>
          <a:bodyPr anchorCtr="0" anchor="ctr" bIns="84375" lIns="84375" spcFirstLastPara="1" rIns="84375" wrap="square" tIns="84375">
            <a:noAutofit/>
          </a:bodyPr>
          <a:lstStyle/>
          <a:p>
            <a:pPr indent="0" lvl="0" marL="0" rtl="0" algn="ctr">
              <a:spcBef>
                <a:spcPts val="0"/>
              </a:spcBef>
              <a:spcAft>
                <a:spcPts val="0"/>
              </a:spcAft>
              <a:buNone/>
            </a:pPr>
            <a:r>
              <a:rPr lang="en" sz="831">
                <a:solidFill>
                  <a:schemeClr val="dk1"/>
                </a:solidFill>
                <a:latin typeface="DM Sans"/>
                <a:ea typeface="DM Sans"/>
                <a:cs typeface="DM Sans"/>
                <a:sym typeface="DM Sans"/>
              </a:rPr>
              <a:t>Given Unit Consumption, How Many Units Will Be Used</a:t>
            </a:r>
            <a:endParaRPr sz="831">
              <a:solidFill>
                <a:schemeClr val="dk1"/>
              </a:solidFill>
              <a:latin typeface="DM Sans"/>
              <a:ea typeface="DM Sans"/>
              <a:cs typeface="DM Sans"/>
              <a:sym typeface="DM Sans"/>
            </a:endParaRPr>
          </a:p>
        </p:txBody>
      </p:sp>
      <p:cxnSp>
        <p:nvCxnSpPr>
          <p:cNvPr id="383" name="Google Shape;383;p71"/>
          <p:cNvCxnSpPr>
            <a:stCxn id="382" idx="3"/>
          </p:cNvCxnSpPr>
          <p:nvPr/>
        </p:nvCxnSpPr>
        <p:spPr>
          <a:xfrm>
            <a:off x="2559375" y="3046676"/>
            <a:ext cx="472200" cy="213900"/>
          </a:xfrm>
          <a:prstGeom prst="bentConnector3">
            <a:avLst>
              <a:gd fmla="val 50000" name="adj1"/>
            </a:avLst>
          </a:prstGeom>
          <a:noFill/>
          <a:ln cap="flat" cmpd="sng" w="8800">
            <a:solidFill>
              <a:schemeClr val="dk2"/>
            </a:solidFill>
            <a:prstDash val="solid"/>
            <a:round/>
            <a:headEnd len="med" w="med" type="none"/>
            <a:tailEnd len="med" w="med" type="none"/>
          </a:ln>
        </p:spPr>
      </p:cxnSp>
      <p:sp>
        <p:nvSpPr>
          <p:cNvPr id="384" name="Google Shape;384;p71"/>
          <p:cNvSpPr/>
          <p:nvPr/>
        </p:nvSpPr>
        <p:spPr>
          <a:xfrm>
            <a:off x="891450" y="4544200"/>
            <a:ext cx="7794600" cy="5223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This is in Salesforce for Support/Account management, but long term is likely also be presented to </a:t>
            </a:r>
            <a:r>
              <a:rPr lang="en" sz="1200">
                <a:solidFill>
                  <a:schemeClr val="dk1"/>
                </a:solidFill>
                <a:latin typeface="DM Mono"/>
                <a:ea typeface="DM Mono"/>
                <a:cs typeface="DM Mono"/>
                <a:sym typeface="DM Mono"/>
              </a:rPr>
              <a:t>customers</a:t>
            </a:r>
            <a:r>
              <a:rPr lang="en" sz="1200">
                <a:solidFill>
                  <a:schemeClr val="dk1"/>
                </a:solidFill>
                <a:latin typeface="DM Mono"/>
                <a:ea typeface="DM Mono"/>
                <a:cs typeface="DM Mono"/>
                <a:sym typeface="DM Mono"/>
              </a:rPr>
              <a:t> in Salesforce.</a:t>
            </a:r>
            <a:endParaRPr b="0" i="0" sz="1200" u="none" cap="none" strike="noStrike">
              <a:solidFill>
                <a:schemeClr val="dk1"/>
              </a:solidFill>
              <a:latin typeface="DM Mono"/>
              <a:ea typeface="DM Mono"/>
              <a:cs typeface="DM Mono"/>
              <a:sym typeface="DM Mono"/>
            </a:endParaRPr>
          </a:p>
        </p:txBody>
      </p:sp>
      <p:cxnSp>
        <p:nvCxnSpPr>
          <p:cNvPr id="385" name="Google Shape;385;p71"/>
          <p:cNvCxnSpPr/>
          <p:nvPr/>
        </p:nvCxnSpPr>
        <p:spPr>
          <a:xfrm>
            <a:off x="2559375" y="2424651"/>
            <a:ext cx="519300" cy="105000"/>
          </a:xfrm>
          <a:prstGeom prst="bentConnector3">
            <a:avLst>
              <a:gd fmla="val 50000" name="adj1"/>
            </a:avLst>
          </a:prstGeom>
          <a:noFill/>
          <a:ln cap="flat" cmpd="sng" w="8800">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89" name="Shape 389"/>
        <p:cNvGrpSpPr/>
        <p:nvPr/>
      </p:nvGrpSpPr>
      <p:grpSpPr>
        <a:xfrm>
          <a:off x="0" y="0"/>
          <a:ext cx="0" cy="0"/>
          <a:chOff x="0" y="0"/>
          <a:chExt cx="0" cy="0"/>
        </a:xfrm>
      </p:grpSpPr>
      <p:sp>
        <p:nvSpPr>
          <p:cNvPr id="390" name="Google Shape;390;p72"/>
          <p:cNvSpPr txBox="1"/>
          <p:nvPr>
            <p:ph type="title"/>
          </p:nvPr>
        </p:nvSpPr>
        <p:spPr>
          <a:xfrm>
            <a:off x="228600" y="1751875"/>
            <a:ext cx="52578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SzPts val="3600"/>
              <a:buNone/>
            </a:pPr>
            <a:r>
              <a:rPr lang="en"/>
              <a:t>How to setup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4" name="Shape 394"/>
        <p:cNvGrpSpPr/>
        <p:nvPr/>
      </p:nvGrpSpPr>
      <p:grpSpPr>
        <a:xfrm>
          <a:off x="0" y="0"/>
          <a:ext cx="0" cy="0"/>
          <a:chOff x="0" y="0"/>
          <a:chExt cx="0" cy="0"/>
        </a:xfrm>
      </p:grpSpPr>
      <p:sp>
        <p:nvSpPr>
          <p:cNvPr id="395" name="Google Shape;395;p73"/>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PS implementation: How to activate</a:t>
            </a:r>
            <a:endParaRPr sz="2600"/>
          </a:p>
        </p:txBody>
      </p:sp>
      <p:sp>
        <p:nvSpPr>
          <p:cNvPr id="396" name="Google Shape;396;p73"/>
          <p:cNvSpPr txBox="1"/>
          <p:nvPr>
            <p:ph idx="1" type="body"/>
          </p:nvPr>
        </p:nvSpPr>
        <p:spPr>
          <a:xfrm>
            <a:off x="173550" y="1038050"/>
            <a:ext cx="5629800" cy="36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hlink"/>
              </a:buClr>
              <a:buSzPts val="1100"/>
              <a:buFont typeface="Arial"/>
              <a:buNone/>
            </a:pPr>
            <a:r>
              <a:rPr lang="en"/>
              <a:t>TAI will be enabled  either be via the Access profile or Product subscription bundles. </a:t>
            </a:r>
            <a:endParaRPr/>
          </a:p>
          <a:p>
            <a:pPr indent="-311150" lvl="0" marL="457200" rtl="0" algn="l">
              <a:lnSpc>
                <a:spcPct val="115000"/>
              </a:lnSpc>
              <a:spcBef>
                <a:spcPts val="0"/>
              </a:spcBef>
              <a:spcAft>
                <a:spcPts val="0"/>
              </a:spcAft>
              <a:buSzPts val="1300"/>
              <a:buChar char="●"/>
            </a:pPr>
            <a:r>
              <a:rPr lang="en"/>
              <a:t>See </a:t>
            </a:r>
            <a:r>
              <a:rPr lang="en" u="sng">
                <a:solidFill>
                  <a:srgbClr val="247094"/>
                </a:solidFill>
                <a:hlinkClick r:id="rId3">
                  <a:extLst>
                    <a:ext uri="{A12FA001-AC4F-418D-AE19-62706E023703}">
                      <ahyp:hlinkClr val="tx"/>
                    </a:ext>
                  </a:extLst>
                </a:hlinkClick>
              </a:rPr>
              <a:t>TAI - Agentic AI - Handbook</a:t>
            </a:r>
            <a:r>
              <a:rPr lang="en"/>
              <a:t> for more information</a:t>
            </a:r>
            <a:endParaRPr/>
          </a:p>
        </p:txBody>
      </p:sp>
      <p:pic>
        <p:nvPicPr>
          <p:cNvPr id="397" name="Google Shape;397;p73"/>
          <p:cNvPicPr preferRelativeResize="0"/>
          <p:nvPr/>
        </p:nvPicPr>
        <p:blipFill>
          <a:blip r:embed="rId4">
            <a:alphaModFix/>
          </a:blip>
          <a:stretch>
            <a:fillRect/>
          </a:stretch>
        </p:blipFill>
        <p:spPr>
          <a:xfrm>
            <a:off x="5967927" y="974700"/>
            <a:ext cx="2723975" cy="3852500"/>
          </a:xfrm>
          <a:prstGeom prst="rect">
            <a:avLst/>
          </a:prstGeom>
          <a:noFill/>
          <a:ln>
            <a:noFill/>
          </a:ln>
        </p:spPr>
      </p:pic>
      <p:pic>
        <p:nvPicPr>
          <p:cNvPr id="398" name="Google Shape;398;p73"/>
          <p:cNvPicPr preferRelativeResize="0"/>
          <p:nvPr/>
        </p:nvPicPr>
        <p:blipFill>
          <a:blip r:embed="rId5">
            <a:alphaModFix/>
          </a:blip>
          <a:stretch>
            <a:fillRect/>
          </a:stretch>
        </p:blipFill>
        <p:spPr>
          <a:xfrm>
            <a:off x="801499" y="1830400"/>
            <a:ext cx="4444701" cy="28416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2" name="Shape 402"/>
        <p:cNvGrpSpPr/>
        <p:nvPr/>
      </p:nvGrpSpPr>
      <p:grpSpPr>
        <a:xfrm>
          <a:off x="0" y="0"/>
          <a:ext cx="0" cy="0"/>
          <a:chOff x="0" y="0"/>
          <a:chExt cx="0" cy="0"/>
        </a:xfrm>
      </p:grpSpPr>
      <p:sp>
        <p:nvSpPr>
          <p:cNvPr id="403" name="Google Shape;403;p74"/>
          <p:cNvSpPr txBox="1"/>
          <p:nvPr>
            <p:ph type="title"/>
          </p:nvPr>
        </p:nvSpPr>
        <p:spPr>
          <a:xfrm>
            <a:off x="228600" y="342900"/>
            <a:ext cx="8915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PS implementation: How to activate</a:t>
            </a:r>
            <a:endParaRPr sz="2600"/>
          </a:p>
        </p:txBody>
      </p:sp>
      <p:sp>
        <p:nvSpPr>
          <p:cNvPr id="404" name="Google Shape;404;p74"/>
          <p:cNvSpPr txBox="1"/>
          <p:nvPr>
            <p:ph idx="1" type="body"/>
          </p:nvPr>
        </p:nvSpPr>
        <p:spPr>
          <a:xfrm>
            <a:off x="173550" y="1038050"/>
            <a:ext cx="8970600" cy="3636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Whether Product subscription or Access Profile is needed to enable TAI is dependant on the</a:t>
            </a:r>
            <a:endParaRPr/>
          </a:p>
          <a:p>
            <a:pPr indent="-298450" lvl="1" marL="914400" rtl="0" algn="l">
              <a:lnSpc>
                <a:spcPct val="115000"/>
              </a:lnSpc>
              <a:spcBef>
                <a:spcPts val="0"/>
              </a:spcBef>
              <a:spcAft>
                <a:spcPts val="0"/>
              </a:spcAft>
              <a:buSzPts val="1100"/>
              <a:buChar char="○"/>
            </a:pPr>
            <a:r>
              <a:rPr b="1" lang="en" sz="1100"/>
              <a:t>Automatic subscription assignment</a:t>
            </a:r>
            <a:r>
              <a:rPr lang="en" sz="1100"/>
              <a:t> setting in processing options</a:t>
            </a:r>
            <a:endParaRPr sz="1100"/>
          </a:p>
          <a:p>
            <a:pPr indent="0" lvl="0" marL="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The number of users available is currently tied to the number of Cash Management users.</a:t>
            </a:r>
            <a:endParaRPr/>
          </a:p>
          <a:p>
            <a:pPr indent="0" lvl="0" marL="457200" rtl="0" algn="l">
              <a:lnSpc>
                <a:spcPct val="115000"/>
              </a:lnSpc>
              <a:spcBef>
                <a:spcPts val="0"/>
              </a:spcBef>
              <a:spcAft>
                <a:spcPts val="0"/>
              </a:spcAft>
              <a:buNone/>
            </a:pPr>
            <a:r>
              <a:t/>
            </a:r>
            <a:endParaRPr/>
          </a:p>
        </p:txBody>
      </p:sp>
      <p:pic>
        <p:nvPicPr>
          <p:cNvPr id="405" name="Google Shape;405;p74"/>
          <p:cNvPicPr preferRelativeResize="0"/>
          <p:nvPr/>
        </p:nvPicPr>
        <p:blipFill>
          <a:blip r:embed="rId3">
            <a:alphaModFix/>
          </a:blip>
          <a:stretch>
            <a:fillRect/>
          </a:stretch>
        </p:blipFill>
        <p:spPr>
          <a:xfrm>
            <a:off x="1140525" y="1688683"/>
            <a:ext cx="5129674" cy="1652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9" name="Shape 409"/>
        <p:cNvGrpSpPr/>
        <p:nvPr/>
      </p:nvGrpSpPr>
      <p:grpSpPr>
        <a:xfrm>
          <a:off x="0" y="0"/>
          <a:ext cx="0" cy="0"/>
          <a:chOff x="0" y="0"/>
          <a:chExt cx="0" cy="0"/>
        </a:xfrm>
      </p:grpSpPr>
      <p:sp>
        <p:nvSpPr>
          <p:cNvPr id="410" name="Google Shape;410;p75"/>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PS implementation: How does TAI get data?</a:t>
            </a:r>
            <a:endParaRPr sz="2600"/>
          </a:p>
          <a:p>
            <a:pPr indent="0" lvl="0" marL="0" rtl="0" algn="l">
              <a:lnSpc>
                <a:spcPct val="80000"/>
              </a:lnSpc>
              <a:spcBef>
                <a:spcPts val="0"/>
              </a:spcBef>
              <a:spcAft>
                <a:spcPts val="0"/>
              </a:spcAft>
              <a:buSzPts val="2000"/>
              <a:buNone/>
            </a:pPr>
            <a:r>
              <a:t/>
            </a:r>
            <a:endParaRPr sz="2600"/>
          </a:p>
        </p:txBody>
      </p:sp>
      <p:sp>
        <p:nvSpPr>
          <p:cNvPr id="411" name="Google Shape;411;p75"/>
          <p:cNvSpPr txBox="1"/>
          <p:nvPr>
            <p:ph idx="1" type="body"/>
          </p:nvPr>
        </p:nvSpPr>
        <p:spPr>
          <a:xfrm>
            <a:off x="173550" y="1038050"/>
            <a:ext cx="8595900" cy="17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TAI has access to a number of the Kyriba APIs </a:t>
            </a:r>
            <a:endParaRPr/>
          </a:p>
          <a:p>
            <a:pPr indent="0" lvl="0" marL="0" rtl="0" algn="l">
              <a:lnSpc>
                <a:spcPct val="115000"/>
              </a:lnSpc>
              <a:spcBef>
                <a:spcPts val="0"/>
              </a:spcBef>
              <a:spcAft>
                <a:spcPts val="0"/>
              </a:spcAft>
              <a:buNone/>
            </a:pPr>
            <a:r>
              <a:t/>
            </a:r>
            <a:endParaRPr/>
          </a:p>
          <a:p>
            <a:pPr indent="-311150" lvl="0" marL="457200" rtl="0" algn="l">
              <a:lnSpc>
                <a:spcPct val="115000"/>
              </a:lnSpc>
              <a:spcBef>
                <a:spcPts val="0"/>
              </a:spcBef>
              <a:spcAft>
                <a:spcPts val="0"/>
              </a:spcAft>
              <a:buSzPts val="1300"/>
              <a:buChar char="●"/>
            </a:pPr>
            <a:r>
              <a:rPr lang="en"/>
              <a:t>TAI </a:t>
            </a:r>
            <a:r>
              <a:rPr lang="en"/>
              <a:t>connects</a:t>
            </a:r>
            <a:r>
              <a:rPr lang="en"/>
              <a:t> to Kyriba APIs via the API team’s Model Context Protocole (MCP server)</a:t>
            </a:r>
            <a:endParaRPr>
              <a:solidFill>
                <a:srgbClr val="247094"/>
              </a:solidFill>
            </a:endParaRPr>
          </a:p>
          <a:p>
            <a:pPr indent="0" lvl="0" marL="457200" rtl="0" algn="l">
              <a:lnSpc>
                <a:spcPct val="115000"/>
              </a:lnSpc>
              <a:spcBef>
                <a:spcPts val="0"/>
              </a:spcBef>
              <a:spcAft>
                <a:spcPts val="0"/>
              </a:spcAft>
              <a:buNone/>
            </a:pPr>
            <a:r>
              <a:t/>
            </a:r>
            <a:endParaRPr/>
          </a:p>
        </p:txBody>
      </p:sp>
      <p:sp>
        <p:nvSpPr>
          <p:cNvPr id="412" name="Google Shape;412;p75"/>
          <p:cNvSpPr/>
          <p:nvPr/>
        </p:nvSpPr>
        <p:spPr>
          <a:xfrm>
            <a:off x="295675" y="2007250"/>
            <a:ext cx="8228100" cy="5223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Model Context Protocol (MCP), an emerging open protocol that lets AI applications (clients) securely connect to external tools, data sources, and actions.</a:t>
            </a:r>
            <a:endParaRPr b="0" i="0" sz="1200" u="none" cap="none" strike="noStrike">
              <a:solidFill>
                <a:schemeClr val="dk1"/>
              </a:solidFill>
              <a:latin typeface="DM Mono"/>
              <a:ea typeface="DM Mono"/>
              <a:cs typeface="DM Mono"/>
              <a:sym typeface="DM Mono"/>
            </a:endParaRPr>
          </a:p>
        </p:txBody>
      </p:sp>
      <p:grpSp>
        <p:nvGrpSpPr>
          <p:cNvPr id="413" name="Google Shape;413;p75"/>
          <p:cNvGrpSpPr/>
          <p:nvPr/>
        </p:nvGrpSpPr>
        <p:grpSpPr>
          <a:xfrm>
            <a:off x="1180175" y="2740538"/>
            <a:ext cx="2228400" cy="2058013"/>
            <a:chOff x="3457800" y="2790013"/>
            <a:chExt cx="2228400" cy="2058013"/>
          </a:xfrm>
        </p:grpSpPr>
        <p:sp>
          <p:nvSpPr>
            <p:cNvPr id="414" name="Google Shape;414;p75"/>
            <p:cNvSpPr/>
            <p:nvPr/>
          </p:nvSpPr>
          <p:spPr>
            <a:xfrm>
              <a:off x="3457800" y="2790013"/>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TAI treasury agent</a:t>
              </a:r>
              <a:endParaRPr b="0" i="0" sz="1200" u="none" cap="none" strike="noStrike">
                <a:solidFill>
                  <a:schemeClr val="dk1"/>
                </a:solidFill>
                <a:latin typeface="DM Mono"/>
                <a:ea typeface="DM Mono"/>
                <a:cs typeface="DM Mono"/>
                <a:sym typeface="DM Mono"/>
              </a:endParaRPr>
            </a:p>
          </p:txBody>
        </p:sp>
        <p:sp>
          <p:nvSpPr>
            <p:cNvPr id="415" name="Google Shape;415;p75"/>
            <p:cNvSpPr/>
            <p:nvPr/>
          </p:nvSpPr>
          <p:spPr>
            <a:xfrm>
              <a:off x="3457800" y="33421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MCP Server</a:t>
              </a:r>
              <a:endParaRPr b="0" i="0" sz="1200" u="none" cap="none" strike="noStrike">
                <a:solidFill>
                  <a:schemeClr val="dk1"/>
                </a:solidFill>
                <a:latin typeface="DM Mono"/>
                <a:ea typeface="DM Mono"/>
                <a:cs typeface="DM Mono"/>
                <a:sym typeface="DM Mono"/>
              </a:endParaRPr>
            </a:p>
          </p:txBody>
        </p:sp>
        <p:sp>
          <p:nvSpPr>
            <p:cNvPr id="416" name="Google Shape;416;p75"/>
            <p:cNvSpPr/>
            <p:nvPr/>
          </p:nvSpPr>
          <p:spPr>
            <a:xfrm>
              <a:off x="3457800" y="38942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Kyriba APIs</a:t>
              </a:r>
              <a:endParaRPr b="0" i="0" sz="1200" u="none" cap="none" strike="noStrike">
                <a:solidFill>
                  <a:schemeClr val="dk1"/>
                </a:solidFill>
                <a:latin typeface="DM Mono"/>
                <a:ea typeface="DM Mono"/>
                <a:cs typeface="DM Mono"/>
                <a:sym typeface="DM Mono"/>
              </a:endParaRPr>
            </a:p>
          </p:txBody>
        </p:sp>
        <p:sp>
          <p:nvSpPr>
            <p:cNvPr id="417" name="Google Shape;417;p75"/>
            <p:cNvSpPr/>
            <p:nvPr/>
          </p:nvSpPr>
          <p:spPr>
            <a:xfrm>
              <a:off x="3457800" y="4446325"/>
              <a:ext cx="2228400" cy="4017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Customer Database</a:t>
              </a:r>
              <a:endParaRPr b="0" i="0" sz="1200" u="none" cap="none" strike="noStrike">
                <a:solidFill>
                  <a:schemeClr val="dk1"/>
                </a:solidFill>
                <a:latin typeface="DM Mono"/>
                <a:ea typeface="DM Mono"/>
                <a:cs typeface="DM Mono"/>
                <a:sym typeface="DM Mono"/>
              </a:endParaRPr>
            </a:p>
          </p:txBody>
        </p:sp>
        <p:cxnSp>
          <p:nvCxnSpPr>
            <p:cNvPr id="418" name="Google Shape;418;p75"/>
            <p:cNvCxnSpPr/>
            <p:nvPr/>
          </p:nvCxnSpPr>
          <p:spPr>
            <a:xfrm>
              <a:off x="4358375" y="3185650"/>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19" name="Google Shape;419;p75"/>
            <p:cNvCxnSpPr/>
            <p:nvPr/>
          </p:nvCxnSpPr>
          <p:spPr>
            <a:xfrm>
              <a:off x="4358375" y="3740725"/>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20" name="Google Shape;420;p75"/>
            <p:cNvCxnSpPr/>
            <p:nvPr/>
          </p:nvCxnSpPr>
          <p:spPr>
            <a:xfrm>
              <a:off x="4358375" y="4295925"/>
              <a:ext cx="0" cy="156600"/>
            </a:xfrm>
            <a:prstGeom prst="straightConnector1">
              <a:avLst/>
            </a:prstGeom>
            <a:noFill/>
            <a:ln cap="flat" cmpd="sng" w="9525">
              <a:solidFill>
                <a:schemeClr val="dk2"/>
              </a:solidFill>
              <a:prstDash val="solid"/>
              <a:round/>
              <a:headEnd len="med" w="med" type="none"/>
              <a:tailEnd len="med" w="med" type="stealth"/>
            </a:ln>
          </p:spPr>
        </p:cxnSp>
        <p:cxnSp>
          <p:nvCxnSpPr>
            <p:cNvPr id="421" name="Google Shape;421;p75"/>
            <p:cNvCxnSpPr/>
            <p:nvPr/>
          </p:nvCxnSpPr>
          <p:spPr>
            <a:xfrm>
              <a:off x="4714400" y="3185650"/>
              <a:ext cx="0" cy="156600"/>
            </a:xfrm>
            <a:prstGeom prst="straightConnector1">
              <a:avLst/>
            </a:prstGeom>
            <a:noFill/>
            <a:ln cap="flat" cmpd="sng" w="9525">
              <a:solidFill>
                <a:schemeClr val="dk2"/>
              </a:solidFill>
              <a:prstDash val="solid"/>
              <a:round/>
              <a:headEnd len="med" w="med" type="stealth"/>
              <a:tailEnd len="med" w="med" type="none"/>
            </a:ln>
          </p:spPr>
        </p:cxnSp>
        <p:cxnSp>
          <p:nvCxnSpPr>
            <p:cNvPr id="422" name="Google Shape;422;p75"/>
            <p:cNvCxnSpPr/>
            <p:nvPr/>
          </p:nvCxnSpPr>
          <p:spPr>
            <a:xfrm>
              <a:off x="4714400" y="3740725"/>
              <a:ext cx="0" cy="156600"/>
            </a:xfrm>
            <a:prstGeom prst="straightConnector1">
              <a:avLst/>
            </a:prstGeom>
            <a:noFill/>
            <a:ln cap="flat" cmpd="sng" w="9525">
              <a:solidFill>
                <a:schemeClr val="dk2"/>
              </a:solidFill>
              <a:prstDash val="solid"/>
              <a:round/>
              <a:headEnd len="med" w="med" type="stealth"/>
              <a:tailEnd len="med" w="med" type="none"/>
            </a:ln>
          </p:spPr>
        </p:cxnSp>
        <p:cxnSp>
          <p:nvCxnSpPr>
            <p:cNvPr id="423" name="Google Shape;423;p75"/>
            <p:cNvCxnSpPr/>
            <p:nvPr/>
          </p:nvCxnSpPr>
          <p:spPr>
            <a:xfrm>
              <a:off x="4753675" y="4295925"/>
              <a:ext cx="0" cy="156600"/>
            </a:xfrm>
            <a:prstGeom prst="straightConnector1">
              <a:avLst/>
            </a:prstGeom>
            <a:noFill/>
            <a:ln cap="flat" cmpd="sng" w="9525">
              <a:solidFill>
                <a:schemeClr val="dk2"/>
              </a:solidFill>
              <a:prstDash val="solid"/>
              <a:round/>
              <a:headEnd len="med" w="med" type="stealth"/>
              <a:tailEnd len="med" w="med" type="none"/>
            </a:ln>
          </p:spPr>
        </p:cxnSp>
      </p:grpSp>
      <p:sp>
        <p:nvSpPr>
          <p:cNvPr id="424" name="Google Shape;424;p75"/>
          <p:cNvSpPr txBox="1"/>
          <p:nvPr>
            <p:ph idx="1" type="body"/>
          </p:nvPr>
        </p:nvSpPr>
        <p:spPr>
          <a:xfrm>
            <a:off x="3855350" y="2740550"/>
            <a:ext cx="5014800" cy="193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When a user asks a question of the TAI treasury agent, it uses the access and permissions of that user on the API calls.</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A user can only see the reports and data they normally have permission for in Kyriba.</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TAI connects to mcp/API out of the box - no PS effort required</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8" name="Shape 428"/>
        <p:cNvGrpSpPr/>
        <p:nvPr/>
      </p:nvGrpSpPr>
      <p:grpSpPr>
        <a:xfrm>
          <a:off x="0" y="0"/>
          <a:ext cx="0" cy="0"/>
          <a:chOff x="0" y="0"/>
          <a:chExt cx="0" cy="0"/>
        </a:xfrm>
      </p:grpSpPr>
      <p:sp>
        <p:nvSpPr>
          <p:cNvPr id="429" name="Google Shape;429;p76"/>
          <p:cNvSpPr txBox="1"/>
          <p:nvPr>
            <p:ph type="title"/>
          </p:nvPr>
        </p:nvSpPr>
        <p:spPr>
          <a:xfrm>
            <a:off x="228600" y="342900"/>
            <a:ext cx="7893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2000"/>
              <a:buFont typeface="Arial"/>
              <a:buNone/>
            </a:pPr>
            <a:r>
              <a:rPr lang="en" sz="2600"/>
              <a:t>Scope of data used by TAI: APIs</a:t>
            </a:r>
            <a:endParaRPr sz="2600"/>
          </a:p>
        </p:txBody>
      </p:sp>
      <p:pic>
        <p:nvPicPr>
          <p:cNvPr id="430" name="Google Shape;430;p76"/>
          <p:cNvPicPr preferRelativeResize="0"/>
          <p:nvPr/>
        </p:nvPicPr>
        <p:blipFill rotWithShape="1">
          <a:blip r:embed="rId3">
            <a:alphaModFix/>
          </a:blip>
          <a:srcRect b="22318" l="0" r="6341" t="0"/>
          <a:stretch/>
        </p:blipFill>
        <p:spPr>
          <a:xfrm>
            <a:off x="228600" y="1072750"/>
            <a:ext cx="4035125" cy="3228475"/>
          </a:xfrm>
          <a:prstGeom prst="rect">
            <a:avLst/>
          </a:prstGeom>
          <a:noFill/>
          <a:ln cap="flat" cmpd="sng" w="28575">
            <a:solidFill>
              <a:schemeClr val="accent2"/>
            </a:solidFill>
            <a:prstDash val="solid"/>
            <a:round/>
            <a:headEnd len="sm" w="sm" type="none"/>
            <a:tailEnd len="sm" w="sm" type="none"/>
          </a:ln>
        </p:spPr>
      </p:pic>
      <p:pic>
        <p:nvPicPr>
          <p:cNvPr id="431" name="Google Shape;431;p76"/>
          <p:cNvPicPr preferRelativeResize="0"/>
          <p:nvPr/>
        </p:nvPicPr>
        <p:blipFill rotWithShape="1">
          <a:blip r:embed="rId4">
            <a:alphaModFix/>
          </a:blip>
          <a:srcRect b="0" l="0" r="7433" t="0"/>
          <a:stretch/>
        </p:blipFill>
        <p:spPr>
          <a:xfrm>
            <a:off x="4407501" y="1072750"/>
            <a:ext cx="4376225" cy="3228475"/>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5" name="Shape 435"/>
        <p:cNvGrpSpPr/>
        <p:nvPr/>
      </p:nvGrpSpPr>
      <p:grpSpPr>
        <a:xfrm>
          <a:off x="0" y="0"/>
          <a:ext cx="0" cy="0"/>
          <a:chOff x="0" y="0"/>
          <a:chExt cx="0" cy="0"/>
        </a:xfrm>
      </p:grpSpPr>
      <p:sp>
        <p:nvSpPr>
          <p:cNvPr id="436" name="Google Shape;436;p77"/>
          <p:cNvSpPr txBox="1"/>
          <p:nvPr>
            <p:ph type="title"/>
          </p:nvPr>
        </p:nvSpPr>
        <p:spPr>
          <a:xfrm>
            <a:off x="1857825" y="342900"/>
            <a:ext cx="72861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Clr>
                <a:srgbClr val="000000"/>
              </a:buClr>
              <a:buSzPts val="2000"/>
              <a:buFont typeface="Arial"/>
              <a:buNone/>
            </a:pPr>
            <a:r>
              <a:rPr lang="en" sz="2600"/>
              <a:t>Scope of data used by TAI:Reports</a:t>
            </a:r>
            <a:endParaRPr sz="2600"/>
          </a:p>
        </p:txBody>
      </p:sp>
      <p:pic>
        <p:nvPicPr>
          <p:cNvPr id="437" name="Google Shape;437;p77"/>
          <p:cNvPicPr preferRelativeResize="0"/>
          <p:nvPr/>
        </p:nvPicPr>
        <p:blipFill>
          <a:blip r:embed="rId3">
            <a:alphaModFix/>
          </a:blip>
          <a:stretch>
            <a:fillRect/>
          </a:stretch>
        </p:blipFill>
        <p:spPr>
          <a:xfrm>
            <a:off x="87725" y="60275"/>
            <a:ext cx="1278900" cy="5016251"/>
          </a:xfrm>
          <a:prstGeom prst="rect">
            <a:avLst/>
          </a:prstGeom>
          <a:noFill/>
          <a:ln cap="flat" cmpd="sng" w="28575">
            <a:solidFill>
              <a:schemeClr val="accent1"/>
            </a:solidFill>
            <a:prstDash val="solid"/>
            <a:round/>
            <a:headEnd len="sm" w="sm" type="none"/>
            <a:tailEnd len="sm" w="sm" type="none"/>
          </a:ln>
        </p:spPr>
      </p:pic>
      <p:pic>
        <p:nvPicPr>
          <p:cNvPr id="438" name="Google Shape;438;p77"/>
          <p:cNvPicPr preferRelativeResize="0"/>
          <p:nvPr/>
        </p:nvPicPr>
        <p:blipFill>
          <a:blip r:embed="rId4">
            <a:alphaModFix/>
          </a:blip>
          <a:stretch>
            <a:fillRect/>
          </a:stretch>
        </p:blipFill>
        <p:spPr>
          <a:xfrm>
            <a:off x="1857825" y="877500"/>
            <a:ext cx="3297548" cy="3923099"/>
          </a:xfrm>
          <a:prstGeom prst="rect">
            <a:avLst/>
          </a:prstGeom>
          <a:noFill/>
          <a:ln cap="flat" cmpd="sng" w="28575">
            <a:solidFill>
              <a:schemeClr val="accent2"/>
            </a:solidFill>
            <a:prstDash val="solid"/>
            <a:round/>
            <a:headEnd len="sm" w="sm" type="none"/>
            <a:tailEnd len="sm" w="sm" type="none"/>
          </a:ln>
        </p:spPr>
      </p:pic>
      <p:pic>
        <p:nvPicPr>
          <p:cNvPr id="439" name="Google Shape;439;p77"/>
          <p:cNvPicPr preferRelativeResize="0"/>
          <p:nvPr/>
        </p:nvPicPr>
        <p:blipFill>
          <a:blip r:embed="rId5">
            <a:alphaModFix/>
          </a:blip>
          <a:stretch>
            <a:fillRect/>
          </a:stretch>
        </p:blipFill>
        <p:spPr>
          <a:xfrm>
            <a:off x="5431973" y="877500"/>
            <a:ext cx="3287761" cy="3923098"/>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3" name="Shape 443"/>
        <p:cNvGrpSpPr/>
        <p:nvPr/>
      </p:nvGrpSpPr>
      <p:grpSpPr>
        <a:xfrm>
          <a:off x="0" y="0"/>
          <a:ext cx="0" cy="0"/>
          <a:chOff x="0" y="0"/>
          <a:chExt cx="0" cy="0"/>
        </a:xfrm>
      </p:grpSpPr>
      <p:sp>
        <p:nvSpPr>
          <p:cNvPr id="444" name="Google Shape;444;p78"/>
          <p:cNvSpPr txBox="1"/>
          <p:nvPr>
            <p:ph type="title"/>
          </p:nvPr>
        </p:nvSpPr>
        <p:spPr>
          <a:xfrm>
            <a:off x="228600" y="342900"/>
            <a:ext cx="8915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PS</a:t>
            </a:r>
            <a:r>
              <a:rPr lang="en" sz="1500"/>
              <a:t> </a:t>
            </a:r>
            <a:r>
              <a:rPr lang="en" sz="2600"/>
              <a:t>implementation:</a:t>
            </a:r>
            <a:r>
              <a:rPr lang="en" sz="1500"/>
              <a:t> </a:t>
            </a:r>
            <a:r>
              <a:rPr lang="en" sz="2600"/>
              <a:t>Describing</a:t>
            </a:r>
            <a:r>
              <a:rPr lang="en" sz="1500"/>
              <a:t> </a:t>
            </a:r>
            <a:r>
              <a:rPr lang="en" sz="2600"/>
              <a:t>reports</a:t>
            </a:r>
            <a:r>
              <a:rPr lang="en" sz="1500"/>
              <a:t> </a:t>
            </a:r>
            <a:r>
              <a:rPr lang="en" sz="2600"/>
              <a:t>fully</a:t>
            </a:r>
            <a:endParaRPr sz="2600"/>
          </a:p>
          <a:p>
            <a:pPr indent="0" lvl="0" marL="0" rtl="0" algn="l">
              <a:lnSpc>
                <a:spcPct val="80000"/>
              </a:lnSpc>
              <a:spcBef>
                <a:spcPts val="0"/>
              </a:spcBef>
              <a:spcAft>
                <a:spcPts val="0"/>
              </a:spcAft>
              <a:buSzPts val="2000"/>
              <a:buNone/>
            </a:pPr>
            <a:r>
              <a:t/>
            </a:r>
            <a:endParaRPr sz="2600"/>
          </a:p>
        </p:txBody>
      </p:sp>
      <p:sp>
        <p:nvSpPr>
          <p:cNvPr id="445" name="Google Shape;445;p78"/>
          <p:cNvSpPr txBox="1"/>
          <p:nvPr>
            <p:ph idx="1" type="body"/>
          </p:nvPr>
        </p:nvSpPr>
        <p:spPr>
          <a:xfrm>
            <a:off x="173550" y="1038050"/>
            <a:ext cx="8595900" cy="348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TAI uses the “search_report_library” to find the right report to run.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If all the reports have a descriptions such as “Cash_1”, </a:t>
            </a:r>
            <a:r>
              <a:rPr lang="en"/>
              <a:t>“Cash_2” then TAI won’t know which report is best for the question.</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To help TAI , it would be best if reports are well described so that they are selected by TAI more efficiently:</a:t>
            </a:r>
            <a:endParaRPr/>
          </a:p>
          <a:p>
            <a:pPr indent="-311150" lvl="0" marL="457200" rtl="0" algn="l">
              <a:lnSpc>
                <a:spcPct val="115000"/>
              </a:lnSpc>
              <a:spcBef>
                <a:spcPts val="0"/>
              </a:spcBef>
              <a:spcAft>
                <a:spcPts val="0"/>
              </a:spcAft>
              <a:buSzPts val="1300"/>
              <a:buChar char="●"/>
            </a:pPr>
            <a:r>
              <a:rPr lang="en"/>
              <a:t>E.g. “Cash position worksheet by subsidiary in USD, actuals &amp; forecasts by budget code”</a:t>
            </a:r>
            <a:endParaRPr/>
          </a:p>
          <a:p>
            <a:pPr indent="-311150" lvl="0" marL="457200" rtl="0" algn="l">
              <a:lnSpc>
                <a:spcPct val="115000"/>
              </a:lnSpc>
              <a:spcBef>
                <a:spcPts val="0"/>
              </a:spcBef>
              <a:spcAft>
                <a:spcPts val="0"/>
              </a:spcAft>
              <a:buSzPts val="1300"/>
              <a:buChar char="●"/>
            </a:pPr>
            <a:r>
              <a:rPr lang="en"/>
              <a:t>In general up to 100 characters available.</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This will allow TAI to more easily find and choose the right report for the question asked.</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Note: </a:t>
            </a:r>
            <a:r>
              <a:rPr lang="en"/>
              <a:t>TAI already knows the type of report.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 addition, adding “ TAI” or “TAI ” or in the description will prioritise the report over similar reports.</a:t>
            </a:r>
            <a:endParaRPr/>
          </a:p>
          <a:p>
            <a:pPr indent="0" lvl="0" marL="457200" rtl="0" algn="l">
              <a:lnSpc>
                <a:spcPct val="115000"/>
              </a:lnSpc>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49" name="Shape 449"/>
        <p:cNvGrpSpPr/>
        <p:nvPr/>
      </p:nvGrpSpPr>
      <p:grpSpPr>
        <a:xfrm>
          <a:off x="0" y="0"/>
          <a:ext cx="0" cy="0"/>
          <a:chOff x="0" y="0"/>
          <a:chExt cx="0" cy="0"/>
        </a:xfrm>
      </p:grpSpPr>
      <p:sp>
        <p:nvSpPr>
          <p:cNvPr id="450" name="Google Shape;450;p79"/>
          <p:cNvSpPr txBox="1"/>
          <p:nvPr>
            <p:ph type="title"/>
          </p:nvPr>
        </p:nvSpPr>
        <p:spPr>
          <a:xfrm>
            <a:off x="228600" y="1751875"/>
            <a:ext cx="73986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Clr>
                <a:srgbClr val="000000"/>
              </a:buClr>
              <a:buSzPts val="3600"/>
              <a:buFont typeface="Arial"/>
              <a:buNone/>
            </a:pPr>
            <a:r>
              <a:rPr lang="en"/>
              <a:t>What problems might occur?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4" name="Shape 454"/>
        <p:cNvGrpSpPr/>
        <p:nvPr/>
      </p:nvGrpSpPr>
      <p:grpSpPr>
        <a:xfrm>
          <a:off x="0" y="0"/>
          <a:ext cx="0" cy="0"/>
          <a:chOff x="0" y="0"/>
          <a:chExt cx="0" cy="0"/>
        </a:xfrm>
      </p:grpSpPr>
      <p:sp>
        <p:nvSpPr>
          <p:cNvPr id="455" name="Google Shape;455;p80"/>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How should PS use TAI</a:t>
            </a:r>
            <a:r>
              <a:rPr lang="en" sz="2600"/>
              <a:t>?</a:t>
            </a:r>
            <a:endParaRPr sz="2600"/>
          </a:p>
          <a:p>
            <a:pPr indent="0" lvl="0" marL="0" rtl="0" algn="l">
              <a:lnSpc>
                <a:spcPct val="80000"/>
              </a:lnSpc>
              <a:spcBef>
                <a:spcPts val="0"/>
              </a:spcBef>
              <a:spcAft>
                <a:spcPts val="0"/>
              </a:spcAft>
              <a:buSzPts val="2000"/>
              <a:buNone/>
            </a:pPr>
            <a:r>
              <a:t/>
            </a:r>
            <a:endParaRPr sz="2600"/>
          </a:p>
        </p:txBody>
      </p:sp>
      <p:sp>
        <p:nvSpPr>
          <p:cNvPr id="456" name="Google Shape;456;p80"/>
          <p:cNvSpPr txBox="1"/>
          <p:nvPr>
            <p:ph idx="1" type="body"/>
          </p:nvPr>
        </p:nvSpPr>
        <p:spPr>
          <a:xfrm>
            <a:off x="173550" y="915600"/>
            <a:ext cx="8827200" cy="37593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highlight>
                  <a:schemeClr val="lt1"/>
                </a:highlight>
              </a:rPr>
              <a:t>Bad Prompt Example: "Are there errors in my forecasts?"</a:t>
            </a:r>
            <a:endParaRPr>
              <a:highlight>
                <a:schemeClr val="lt1"/>
              </a:highlight>
            </a:endParaRPr>
          </a:p>
          <a:p>
            <a:pPr indent="-285750" lvl="1" marL="914400" marR="0" rtl="0" algn="l">
              <a:lnSpc>
                <a:spcPct val="150000"/>
              </a:lnSpc>
              <a:spcBef>
                <a:spcPts val="0"/>
              </a:spcBef>
              <a:spcAft>
                <a:spcPts val="0"/>
              </a:spcAft>
              <a:buSzPts val="900"/>
              <a:buChar char="○"/>
            </a:pPr>
            <a:r>
              <a:rPr lang="en">
                <a:highlight>
                  <a:schemeClr val="lt1"/>
                </a:highlight>
              </a:rPr>
              <a:t>Problems:</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Ambiguous: What is an "error"?</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No Scope: Which forecasts? Which time period? Which subsidiary?</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Unclear Data Source: Where should the data come from?</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Vague Terminology: "Forecasts" could mean different things (cashflows, budgets, etc.)</a:t>
            </a:r>
            <a:endParaRPr>
              <a:highlight>
                <a:schemeClr val="lt1"/>
              </a:highlight>
            </a:endParaRPr>
          </a:p>
          <a:p>
            <a:pPr indent="-311150" lvl="0" marL="457200" marR="0" rtl="0" algn="l">
              <a:lnSpc>
                <a:spcPct val="150000"/>
              </a:lnSpc>
              <a:spcBef>
                <a:spcPts val="1000"/>
              </a:spcBef>
              <a:spcAft>
                <a:spcPts val="0"/>
              </a:spcAft>
              <a:buSzPts val="1300"/>
              <a:buChar char="●"/>
            </a:pPr>
            <a:r>
              <a:rPr lang="en">
                <a:highlight>
                  <a:schemeClr val="lt1"/>
                </a:highlight>
              </a:rPr>
              <a:t>Good Prompt Example:</a:t>
            </a:r>
            <a:endParaRPr>
              <a:highlight>
                <a:schemeClr val="lt1"/>
              </a:highlight>
            </a:endParaRPr>
          </a:p>
          <a:p>
            <a:pPr indent="-285750" lvl="1" marL="914400" marR="0" rtl="0" algn="l">
              <a:lnSpc>
                <a:spcPct val="100000"/>
              </a:lnSpc>
              <a:spcBef>
                <a:spcPts val="0"/>
              </a:spcBef>
              <a:spcAft>
                <a:spcPts val="0"/>
              </a:spcAft>
              <a:buSzPts val="900"/>
              <a:buChar char="○"/>
            </a:pPr>
            <a:r>
              <a:rPr lang="en">
                <a:highlight>
                  <a:schemeClr val="lt1"/>
                </a:highlight>
              </a:rPr>
              <a:t>"For subsidiary ABC Corp, for the last week, identify all cashflows with status 'Confirmed Forecast' that do not have a matching cashflow with status 'Actual' in the same period. Use the 'Cashflow Forecast vs Actuals' r</a:t>
            </a:r>
            <a:r>
              <a:rPr lang="en">
                <a:highlight>
                  <a:schemeClr val="lt1"/>
                </a:highlight>
              </a:rPr>
              <a:t>eport as the primary source</a:t>
            </a:r>
            <a:r>
              <a:rPr lang="en">
                <a:highlight>
                  <a:schemeClr val="lt1"/>
                </a:highlight>
              </a:rPr>
              <a:t>. List these unmatched forecasts as potential errors."</a:t>
            </a:r>
            <a:endParaRPr>
              <a:highlight>
                <a:schemeClr val="lt1"/>
              </a:highlight>
            </a:endParaRPr>
          </a:p>
          <a:p>
            <a:pPr indent="-285750" lvl="1" marL="914400" marR="0" rtl="0" algn="l">
              <a:lnSpc>
                <a:spcPct val="150000"/>
              </a:lnSpc>
              <a:spcBef>
                <a:spcPts val="1000"/>
              </a:spcBef>
              <a:spcAft>
                <a:spcPts val="0"/>
              </a:spcAft>
              <a:buSzPts val="900"/>
              <a:buChar char="○"/>
            </a:pPr>
            <a:r>
              <a:rPr lang="en">
                <a:highlight>
                  <a:schemeClr val="lt1"/>
                </a:highlight>
              </a:rPr>
              <a:t>Best Practices Applied:</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Clear Scope: Specifies subsidiary and date range.</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Precise Terminology: Defines "forecasts" as cashflows with status 'Confirmed Forecast'.</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Defines "Error": Unmatched to cashflows with status 'Actual'.</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Data Source Stated: Specifies which report to use.</a:t>
            </a:r>
            <a:endParaRPr>
              <a:highlight>
                <a:schemeClr val="lt1"/>
              </a:highlight>
            </a:endParaRPr>
          </a:p>
          <a:p>
            <a:pPr indent="-285750" lvl="2" marL="1371600" marR="0" rtl="0" algn="l">
              <a:lnSpc>
                <a:spcPct val="100000"/>
              </a:lnSpc>
              <a:spcBef>
                <a:spcPts val="0"/>
              </a:spcBef>
              <a:spcAft>
                <a:spcPts val="0"/>
              </a:spcAft>
              <a:buSzPts val="900"/>
              <a:buChar char="■"/>
            </a:pPr>
            <a:r>
              <a:rPr lang="en">
                <a:highlight>
                  <a:schemeClr val="lt1"/>
                </a:highlight>
              </a:rPr>
              <a:t>Actionable Output: Requests a list of unmatched forecasts.</a:t>
            </a:r>
            <a:endParaRPr>
              <a:highlight>
                <a:schemeClr val="lt1"/>
              </a:highlight>
            </a:endParaRPr>
          </a:p>
          <a:p>
            <a:pPr indent="0" lvl="0" marL="0" rtl="0" algn="l">
              <a:lnSpc>
                <a:spcPct val="115000"/>
              </a:lnSpc>
              <a:spcBef>
                <a:spcPts val="1200"/>
              </a:spcBef>
              <a:spcAft>
                <a:spcPts val="0"/>
              </a:spcAft>
              <a:buNone/>
            </a:pPr>
            <a:r>
              <a:rPr lang="en">
                <a:solidFill>
                  <a:schemeClr val="accent2"/>
                </a:solidFill>
              </a:rPr>
              <a:t>A well-designed prompt is specific, unambiguous, and context-rich—leading to accurate, actionable AI answers.</a:t>
            </a:r>
            <a:endParaRPr>
              <a:solidFill>
                <a:schemeClr val="accent2"/>
              </a:solidFill>
            </a:endParaRPr>
          </a:p>
        </p:txBody>
      </p:sp>
      <p:sp>
        <p:nvSpPr>
          <p:cNvPr id="457" name="Google Shape;457;p80"/>
          <p:cNvSpPr/>
          <p:nvPr/>
        </p:nvSpPr>
        <p:spPr>
          <a:xfrm>
            <a:off x="63450" y="4414200"/>
            <a:ext cx="8937300" cy="6690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Note, writing long prompts will get tiresome for customers. Kyriba is working on “pre-prompting” and “agent building” for customers to resolve. </a:t>
            </a:r>
            <a:endParaRPr sz="1200">
              <a:solidFill>
                <a:schemeClr val="dk1"/>
              </a:solidFill>
              <a:latin typeface="DM Mono"/>
              <a:ea typeface="DM Mono"/>
              <a:cs typeface="DM Mono"/>
              <a:sym typeface="DM Mono"/>
            </a:endParaRPr>
          </a:p>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In the interim, advise customers to copy good prompts to a text file so they can be reused.</a:t>
            </a:r>
            <a:endParaRPr b="0" i="0" sz="1200" u="none" cap="none" strike="noStrike">
              <a:solidFill>
                <a:schemeClr val="dk1"/>
              </a:solidFill>
              <a:latin typeface="DM Mono"/>
              <a:ea typeface="DM Mono"/>
              <a:cs typeface="DM Mono"/>
              <a:sym typeface="DM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1" name="Shape 461"/>
        <p:cNvGrpSpPr/>
        <p:nvPr/>
      </p:nvGrpSpPr>
      <p:grpSpPr>
        <a:xfrm>
          <a:off x="0" y="0"/>
          <a:ext cx="0" cy="0"/>
          <a:chOff x="0" y="0"/>
          <a:chExt cx="0" cy="0"/>
        </a:xfrm>
      </p:grpSpPr>
      <p:sp>
        <p:nvSpPr>
          <p:cNvPr id="462" name="Google Shape;462;p8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Managing customer expectations</a:t>
            </a:r>
            <a:endParaRPr sz="2600"/>
          </a:p>
          <a:p>
            <a:pPr indent="0" lvl="0" marL="0" rtl="0" algn="l">
              <a:lnSpc>
                <a:spcPct val="80000"/>
              </a:lnSpc>
              <a:spcBef>
                <a:spcPts val="0"/>
              </a:spcBef>
              <a:spcAft>
                <a:spcPts val="0"/>
              </a:spcAft>
              <a:buSzPts val="2000"/>
              <a:buNone/>
            </a:pPr>
            <a:r>
              <a:t/>
            </a:r>
            <a:endParaRPr sz="2600"/>
          </a:p>
        </p:txBody>
      </p:sp>
      <p:sp>
        <p:nvSpPr>
          <p:cNvPr id="463" name="Google Shape;463;p81"/>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t>There are risks that customers:</a:t>
            </a:r>
            <a:endParaRPr sz="1100"/>
          </a:p>
          <a:p>
            <a:pPr indent="-298450" lvl="0" marL="457200" rtl="0" algn="l">
              <a:spcBef>
                <a:spcPts val="1200"/>
              </a:spcBef>
              <a:spcAft>
                <a:spcPts val="0"/>
              </a:spcAft>
              <a:buSzPts val="1100"/>
              <a:buChar char="●"/>
            </a:pPr>
            <a:r>
              <a:rPr lang="en" sz="1100"/>
              <a:t>Assume</a:t>
            </a:r>
            <a:r>
              <a:rPr lang="en" sz="1100"/>
              <a:t> AI can do anything and everything</a:t>
            </a:r>
            <a:endParaRPr sz="1100"/>
          </a:p>
          <a:p>
            <a:pPr indent="-298450" lvl="0" marL="457200" rtl="0" algn="l">
              <a:spcBef>
                <a:spcPts val="0"/>
              </a:spcBef>
              <a:spcAft>
                <a:spcPts val="0"/>
              </a:spcAft>
              <a:buSzPts val="1100"/>
              <a:buChar char="●"/>
            </a:pPr>
            <a:r>
              <a:rPr lang="en" sz="1100"/>
              <a:t>Not sure where to start </a:t>
            </a:r>
            <a:r>
              <a:rPr lang="en" sz="1100"/>
              <a:t>with</a:t>
            </a:r>
            <a:r>
              <a:rPr lang="en" sz="1100"/>
              <a:t> TAI </a:t>
            </a:r>
            <a:endParaRPr sz="1100"/>
          </a:p>
          <a:p>
            <a:pPr indent="0" lvl="0" marL="0" rtl="0" algn="l">
              <a:spcBef>
                <a:spcPts val="1200"/>
              </a:spcBef>
              <a:spcAft>
                <a:spcPts val="0"/>
              </a:spcAft>
              <a:buNone/>
            </a:pPr>
            <a:r>
              <a:rPr lang="en" sz="1100"/>
              <a:t>This PDF factsheet covers TAI capabilities to </a:t>
            </a:r>
            <a:r>
              <a:rPr lang="en" sz="1100"/>
              <a:t>support</a:t>
            </a:r>
            <a:r>
              <a:rPr lang="en" sz="1100"/>
              <a:t> and help set expectations</a:t>
            </a:r>
            <a:r>
              <a:rPr lang="en" sz="1100"/>
              <a:t>:</a:t>
            </a:r>
            <a:r>
              <a:rPr lang="en"/>
              <a:t> </a:t>
            </a:r>
            <a:r>
              <a:rPr lang="en" sz="1100" u="sng">
                <a:solidFill>
                  <a:srgbClr val="247094"/>
                </a:solidFill>
                <a:hlinkClick r:id="rId3">
                  <a:extLst>
                    <a:ext uri="{A12FA001-AC4F-418D-AE19-62706E023703}">
                      <ahyp:hlinkClr val="tx"/>
                    </a:ext>
                  </a:extLst>
                </a:hlinkClick>
              </a:rPr>
              <a:t>Factsheet TAI Capabilities</a:t>
            </a:r>
            <a:endParaRPr sz="1100">
              <a:solidFill>
                <a:srgbClr val="247094"/>
              </a:solidFill>
            </a:endParaRPr>
          </a:p>
          <a:p>
            <a:pPr indent="0" lvl="0" marL="0" marR="0" rtl="0" algn="l">
              <a:lnSpc>
                <a:spcPct val="115000"/>
              </a:lnSpc>
              <a:spcBef>
                <a:spcPts val="1200"/>
              </a:spcBef>
              <a:spcAft>
                <a:spcPts val="0"/>
              </a:spcAft>
              <a:buNone/>
            </a:pPr>
            <a:r>
              <a:rPr lang="en" sz="1100"/>
              <a:t>The following links are also useful to share:</a:t>
            </a:r>
            <a:endParaRPr sz="1100"/>
          </a:p>
          <a:p>
            <a:pPr indent="-298450" lvl="0" marL="457200" marR="0" rtl="0" algn="l">
              <a:lnSpc>
                <a:spcPct val="115000"/>
              </a:lnSpc>
              <a:spcBef>
                <a:spcPts val="1200"/>
              </a:spcBef>
              <a:spcAft>
                <a:spcPts val="0"/>
              </a:spcAft>
              <a:buSzPts val="1100"/>
              <a:buChar char="●"/>
            </a:pPr>
            <a:r>
              <a:rPr lang="en" sz="1100"/>
              <a:t>Kyriba Elevate TAI course: </a:t>
            </a:r>
            <a:r>
              <a:rPr lang="en" sz="1100" u="sng">
                <a:solidFill>
                  <a:srgbClr val="247094"/>
                </a:solidFill>
                <a:hlinkClick r:id="rId4">
                  <a:extLst>
                    <a:ext uri="{A12FA001-AC4F-418D-AE19-62706E023703}">
                      <ahyp:hlinkClr val="tx"/>
                    </a:ext>
                  </a:extLst>
                </a:hlinkClick>
              </a:rPr>
              <a:t>Optimizing TAI</a:t>
            </a:r>
            <a:r>
              <a:rPr lang="en" sz="1100"/>
              <a:t> (for internals) / </a:t>
            </a:r>
            <a:r>
              <a:rPr lang="en" sz="1100" u="sng">
                <a:solidFill>
                  <a:srgbClr val="247094"/>
                </a:solidFill>
                <a:hlinkClick r:id="rId5">
                  <a:extLst>
                    <a:ext uri="{A12FA001-AC4F-418D-AE19-62706E023703}">
                      <ahyp:hlinkClr val="tx"/>
                    </a:ext>
                  </a:extLst>
                </a:hlinkClick>
              </a:rPr>
              <a:t>Optimizing TAI</a:t>
            </a:r>
            <a:r>
              <a:rPr lang="en" sz="1100"/>
              <a:t> (for partners)</a:t>
            </a:r>
            <a:endParaRPr sz="1100">
              <a:solidFill>
                <a:srgbClr val="247094"/>
              </a:solidFill>
              <a:highlight>
                <a:srgbClr val="FF9900"/>
              </a:highlight>
            </a:endParaRPr>
          </a:p>
          <a:p>
            <a:pPr indent="-298450" lvl="0" marL="457200" rtl="0" algn="l">
              <a:spcBef>
                <a:spcPts val="0"/>
              </a:spcBef>
              <a:spcAft>
                <a:spcPts val="0"/>
              </a:spcAft>
              <a:buSzPts val="1100"/>
              <a:buChar char="●"/>
            </a:pPr>
            <a:r>
              <a:rPr lang="en" sz="1100"/>
              <a:t>Ebook: </a:t>
            </a:r>
            <a:r>
              <a:rPr lang="en" sz="1100" u="sng">
                <a:solidFill>
                  <a:srgbClr val="247094"/>
                </a:solidFill>
                <a:hlinkClick r:id="rId6">
                  <a:extLst>
                    <a:ext uri="{A12FA001-AC4F-418D-AE19-62706E023703}">
                      <ahyp:hlinkClr val="tx"/>
                    </a:ext>
                  </a:extLst>
                </a:hlinkClick>
              </a:rPr>
              <a:t>How AI Agents Actually Work - A Practical Guide for Treasury &amp; Finance</a:t>
            </a:r>
            <a:endParaRPr sz="1100">
              <a:highlight>
                <a:srgbClr val="FF9900"/>
              </a:highlight>
            </a:endParaRPr>
          </a:p>
          <a:p>
            <a:pPr indent="0" lvl="0" marL="0" rtl="0" algn="l">
              <a:spcBef>
                <a:spcPts val="0"/>
              </a:spcBef>
              <a:spcAft>
                <a:spcPts val="0"/>
              </a:spcAft>
              <a:buNone/>
            </a:pPr>
            <a:r>
              <a:t/>
            </a:r>
            <a:endParaRPr sz="1100">
              <a:highlight>
                <a:srgbClr val="FF9900"/>
              </a:highlight>
            </a:endParaRPr>
          </a:p>
          <a:p>
            <a:pPr indent="0" lvl="0" marL="0" rtl="0" algn="l">
              <a:lnSpc>
                <a:spcPct val="100000"/>
              </a:lnSpc>
              <a:spcBef>
                <a:spcPts val="0"/>
              </a:spcBef>
              <a:spcAft>
                <a:spcPts val="0"/>
              </a:spcAft>
              <a:buNone/>
            </a:pPr>
            <a:r>
              <a:rPr lang="en" sz="1100"/>
              <a:t>Escalate any useful feedback to </a:t>
            </a:r>
            <a:r>
              <a:rPr lang="en" sz="1100" u="sng">
                <a:solidFill>
                  <a:srgbClr val="247094"/>
                </a:solidFill>
                <a:latin typeface="Arial"/>
                <a:ea typeface="Arial"/>
                <a:cs typeface="Arial"/>
                <a:sym typeface="Arial"/>
                <a:hlinkClick r:id="rId7">
                  <a:extLst>
                    <a:ext uri="{A12FA001-AC4F-418D-AE19-62706E023703}">
                      <ahyp:hlinkClr val="tx"/>
                    </a:ext>
                  </a:extLst>
                </a:hlinkClick>
              </a:rPr>
              <a:t>#TAI-Feedback</a:t>
            </a:r>
            <a:r>
              <a:rPr lang="en" sz="1100"/>
              <a:t> </a:t>
            </a:r>
            <a:endParaRPr sz="1100">
              <a:highlight>
                <a:srgbClr val="FF9900"/>
              </a:highlight>
            </a:endParaRPr>
          </a:p>
          <a:p>
            <a:pPr indent="0" lvl="0" marL="0" marR="0" rtl="0" algn="l">
              <a:lnSpc>
                <a:spcPct val="115000"/>
              </a:lnSpc>
              <a:spcBef>
                <a:spcPts val="1000"/>
              </a:spcBef>
              <a:spcAft>
                <a:spcPts val="0"/>
              </a:spcAft>
              <a:buNone/>
            </a:pPr>
            <a:r>
              <a:rPr b="1" lang="en" sz="1100"/>
              <a:t>To note:</a:t>
            </a:r>
            <a:endParaRPr b="1" sz="1100"/>
          </a:p>
          <a:p>
            <a:pPr indent="-298450" lvl="0" marL="457200" marR="0" rtl="0" algn="l">
              <a:lnSpc>
                <a:spcPct val="115000"/>
              </a:lnSpc>
              <a:spcBef>
                <a:spcPts val="1200"/>
              </a:spcBef>
              <a:spcAft>
                <a:spcPts val="0"/>
              </a:spcAft>
              <a:buSzPts val="1100"/>
              <a:buChar char="●"/>
            </a:pPr>
            <a:r>
              <a:rPr lang="en" sz="1100"/>
              <a:t>Be aware TAI cannot yet perform actions in Kyriba. This is being worked on.</a:t>
            </a:r>
            <a:endParaRPr sz="1100"/>
          </a:p>
          <a:p>
            <a:pPr indent="-298450" lvl="0" marL="457200" marR="0" rtl="0" algn="l">
              <a:lnSpc>
                <a:spcPct val="115000"/>
              </a:lnSpc>
              <a:spcBef>
                <a:spcPts val="0"/>
              </a:spcBef>
              <a:spcAft>
                <a:spcPts val="0"/>
              </a:spcAft>
              <a:buSzPts val="1100"/>
              <a:buChar char="●"/>
            </a:pPr>
            <a:r>
              <a:rPr lang="en" sz="1100"/>
              <a:t>Over time more APIs and documentation will be added to expand TAI’s capabilities.</a:t>
            </a:r>
            <a:endParaRPr sz="1100"/>
          </a:p>
          <a:p>
            <a:pPr indent="-298450" lvl="0" marL="457200" marR="0" rtl="0" algn="l">
              <a:lnSpc>
                <a:spcPct val="115000"/>
              </a:lnSpc>
              <a:spcBef>
                <a:spcPts val="0"/>
              </a:spcBef>
              <a:spcAft>
                <a:spcPts val="0"/>
              </a:spcAft>
              <a:buSzPts val="1100"/>
              <a:buChar char="●"/>
            </a:pPr>
            <a:r>
              <a:rPr lang="en" sz="1100"/>
              <a:t>At the moment customers have to carefully prompt every question in detail. </a:t>
            </a:r>
            <a:endParaRPr sz="1100"/>
          </a:p>
          <a:p>
            <a:pPr indent="-298450" lvl="1" marL="914400" marR="0" rtl="0" algn="l">
              <a:lnSpc>
                <a:spcPct val="115000"/>
              </a:lnSpc>
              <a:spcBef>
                <a:spcPts val="0"/>
              </a:spcBef>
              <a:spcAft>
                <a:spcPts val="0"/>
              </a:spcAft>
              <a:buSzPts val="1100"/>
              <a:buChar char="○"/>
            </a:pPr>
            <a:r>
              <a:rPr lang="en" sz="1100"/>
              <a:t>It is on the roadmap to build “pre-prompting” and “agent building” which in future will reduce the work.  </a:t>
            </a:r>
            <a:endParaRPr sz="1100"/>
          </a:p>
          <a:p>
            <a:pPr indent="0" lvl="0" marL="457200" rtl="0" algn="l">
              <a:lnSpc>
                <a:spcPct val="115000"/>
              </a:lnSpc>
              <a:spcBef>
                <a:spcPts val="12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7" name="Shape 467"/>
        <p:cNvGrpSpPr/>
        <p:nvPr/>
      </p:nvGrpSpPr>
      <p:grpSpPr>
        <a:xfrm>
          <a:off x="0" y="0"/>
          <a:ext cx="0" cy="0"/>
          <a:chOff x="0" y="0"/>
          <a:chExt cx="0" cy="0"/>
        </a:xfrm>
      </p:grpSpPr>
      <p:sp>
        <p:nvSpPr>
          <p:cNvPr id="468" name="Google Shape;468;p82"/>
          <p:cNvSpPr txBox="1"/>
          <p:nvPr>
            <p:ph type="title"/>
          </p:nvPr>
        </p:nvSpPr>
        <p:spPr>
          <a:xfrm>
            <a:off x="383750" y="222350"/>
            <a:ext cx="8699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000"/>
              <a:buNone/>
            </a:pPr>
            <a:r>
              <a:rPr lang="en" sz="2600"/>
              <a:t>How to reconcile a result</a:t>
            </a:r>
            <a:endParaRPr sz="2600"/>
          </a:p>
        </p:txBody>
      </p:sp>
      <p:pic>
        <p:nvPicPr>
          <p:cNvPr id="469" name="Google Shape;469;p82"/>
          <p:cNvPicPr preferRelativeResize="0"/>
          <p:nvPr/>
        </p:nvPicPr>
        <p:blipFill>
          <a:blip r:embed="rId3">
            <a:alphaModFix/>
          </a:blip>
          <a:stretch>
            <a:fillRect/>
          </a:stretch>
        </p:blipFill>
        <p:spPr>
          <a:xfrm>
            <a:off x="1087100" y="1772725"/>
            <a:ext cx="3179150" cy="3293124"/>
          </a:xfrm>
          <a:prstGeom prst="rect">
            <a:avLst/>
          </a:prstGeom>
          <a:noFill/>
          <a:ln cap="flat" cmpd="sng" w="28575">
            <a:solidFill>
              <a:schemeClr val="accent2"/>
            </a:solidFill>
            <a:prstDash val="solid"/>
            <a:round/>
            <a:headEnd len="sm" w="sm" type="none"/>
            <a:tailEnd len="sm" w="sm" type="none"/>
          </a:ln>
        </p:spPr>
      </p:pic>
      <p:pic>
        <p:nvPicPr>
          <p:cNvPr id="470" name="Google Shape;470;p82"/>
          <p:cNvPicPr preferRelativeResize="0"/>
          <p:nvPr/>
        </p:nvPicPr>
        <p:blipFill>
          <a:blip r:embed="rId4">
            <a:alphaModFix/>
          </a:blip>
          <a:stretch>
            <a:fillRect/>
          </a:stretch>
        </p:blipFill>
        <p:spPr>
          <a:xfrm>
            <a:off x="4605767" y="3305200"/>
            <a:ext cx="3791158" cy="1760650"/>
          </a:xfrm>
          <a:prstGeom prst="rect">
            <a:avLst/>
          </a:prstGeom>
          <a:noFill/>
          <a:ln cap="flat" cmpd="sng" w="28575">
            <a:solidFill>
              <a:schemeClr val="accent2"/>
            </a:solidFill>
            <a:prstDash val="solid"/>
            <a:round/>
            <a:headEnd len="sm" w="sm" type="none"/>
            <a:tailEnd len="sm" w="sm" type="none"/>
          </a:ln>
        </p:spPr>
      </p:pic>
      <p:pic>
        <p:nvPicPr>
          <p:cNvPr id="471" name="Google Shape;471;p82"/>
          <p:cNvPicPr preferRelativeResize="0"/>
          <p:nvPr/>
        </p:nvPicPr>
        <p:blipFill rotWithShape="1">
          <a:blip r:embed="rId5">
            <a:alphaModFix/>
          </a:blip>
          <a:srcRect b="0" l="19100" r="0" t="12204"/>
          <a:stretch/>
        </p:blipFill>
        <p:spPr>
          <a:xfrm>
            <a:off x="4774912" y="2155337"/>
            <a:ext cx="3064025" cy="832825"/>
          </a:xfrm>
          <a:prstGeom prst="rect">
            <a:avLst/>
          </a:prstGeom>
          <a:noFill/>
          <a:ln cap="flat" cmpd="sng" w="28575">
            <a:solidFill>
              <a:schemeClr val="accent1"/>
            </a:solidFill>
            <a:prstDash val="solid"/>
            <a:round/>
            <a:headEnd len="sm" w="sm" type="none"/>
            <a:tailEnd len="sm" w="sm" type="none"/>
          </a:ln>
        </p:spPr>
      </p:pic>
      <p:sp>
        <p:nvSpPr>
          <p:cNvPr id="472" name="Google Shape;472;p82"/>
          <p:cNvSpPr txBox="1"/>
          <p:nvPr>
            <p:ph idx="1" type="body"/>
          </p:nvPr>
        </p:nvSpPr>
        <p:spPr>
          <a:xfrm>
            <a:off x="173550" y="795050"/>
            <a:ext cx="8638800" cy="12489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Values are not what I expect?</a:t>
            </a:r>
            <a:endParaRPr/>
          </a:p>
          <a:p>
            <a:pPr indent="-285750" lvl="1" marL="914400" marR="0" rtl="0" algn="l">
              <a:lnSpc>
                <a:spcPct val="100000"/>
              </a:lnSpc>
              <a:spcBef>
                <a:spcPts val="0"/>
              </a:spcBef>
              <a:spcAft>
                <a:spcPts val="0"/>
              </a:spcAft>
              <a:buSzPts val="900"/>
              <a:buChar char="○"/>
            </a:pPr>
            <a:r>
              <a:rPr lang="en"/>
              <a:t>Answer: Ask TAI to compare against a report (see example) or to look through the reasoning steps containing the data retrieved from the API or report  to understand. Try and replicate and problem solve using your expertise with Kyriba.</a:t>
            </a:r>
            <a:endParaRPr/>
          </a:p>
          <a:p>
            <a:pPr indent="-285750" lvl="1" marL="914400" rtl="0" algn="l">
              <a:lnSpc>
                <a:spcPct val="100000"/>
              </a:lnSpc>
              <a:spcBef>
                <a:spcPts val="0"/>
              </a:spcBef>
              <a:spcAft>
                <a:spcPts val="0"/>
              </a:spcAft>
              <a:buSzPts val="900"/>
              <a:buChar char="○"/>
            </a:pPr>
            <a:r>
              <a:rPr lang="en"/>
              <a:t>AI can hallucinate: use “A Practical Guide for Treasury and Finance: How AI Agents Work” - expected to be published on the 15th November</a:t>
            </a:r>
            <a:endParaRPr/>
          </a:p>
          <a:p>
            <a:pPr indent="0" lvl="0" marL="0" rtl="0" algn="l">
              <a:lnSpc>
                <a:spcPct val="115000"/>
              </a:lnSpc>
              <a:spcBef>
                <a:spcPts val="10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sp>
        <p:nvSpPr>
          <p:cNvPr id="477" name="Google Shape;477;p83"/>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What errors might occur?</a:t>
            </a:r>
            <a:endParaRPr sz="2600"/>
          </a:p>
          <a:p>
            <a:pPr indent="0" lvl="0" marL="0" rtl="0" algn="l">
              <a:lnSpc>
                <a:spcPct val="80000"/>
              </a:lnSpc>
              <a:spcBef>
                <a:spcPts val="0"/>
              </a:spcBef>
              <a:spcAft>
                <a:spcPts val="0"/>
              </a:spcAft>
              <a:buSzPts val="2000"/>
              <a:buNone/>
            </a:pPr>
            <a:r>
              <a:t/>
            </a:r>
            <a:endParaRPr sz="2600"/>
          </a:p>
        </p:txBody>
      </p:sp>
      <p:sp>
        <p:nvSpPr>
          <p:cNvPr id="478" name="Google Shape;478;p83"/>
          <p:cNvSpPr txBox="1"/>
          <p:nvPr>
            <p:ph idx="1" type="body"/>
          </p:nvPr>
        </p:nvSpPr>
        <p:spPr>
          <a:xfrm>
            <a:off x="173550" y="1057325"/>
            <a:ext cx="8595900" cy="36177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I can’t see what my colleague can see?</a:t>
            </a:r>
            <a:endParaRPr/>
          </a:p>
          <a:p>
            <a:pPr indent="-292100" lvl="1" marL="914400" marR="0" rtl="0" algn="l">
              <a:lnSpc>
                <a:spcPct val="150000"/>
              </a:lnSpc>
              <a:spcBef>
                <a:spcPts val="0"/>
              </a:spcBef>
              <a:spcAft>
                <a:spcPts val="0"/>
              </a:spcAft>
              <a:buSzPts val="1000"/>
              <a:buChar char="○"/>
            </a:pPr>
            <a:r>
              <a:rPr lang="en" sz="1000"/>
              <a:t>Access to data is based on the user’s data permissions</a:t>
            </a:r>
            <a:endParaRPr sz="1000"/>
          </a:p>
          <a:p>
            <a:pPr indent="-311150" lvl="0" marL="457200" marR="0" rtl="0" algn="l">
              <a:lnSpc>
                <a:spcPct val="150000"/>
              </a:lnSpc>
              <a:spcBef>
                <a:spcPts val="0"/>
              </a:spcBef>
              <a:spcAft>
                <a:spcPts val="0"/>
              </a:spcAft>
              <a:buSzPts val="1300"/>
              <a:buChar char="●"/>
            </a:pPr>
            <a:r>
              <a:rPr lang="en"/>
              <a:t>Commercial questions redirect to Account Manager</a:t>
            </a:r>
            <a:endParaRPr/>
          </a:p>
          <a:p>
            <a:pPr indent="-311150" lvl="0" marL="457200" marR="0" rtl="0" algn="l">
              <a:lnSpc>
                <a:spcPct val="150000"/>
              </a:lnSpc>
              <a:spcBef>
                <a:spcPts val="0"/>
              </a:spcBef>
              <a:spcAft>
                <a:spcPts val="0"/>
              </a:spcAft>
              <a:buSzPts val="1300"/>
              <a:buChar char="●"/>
            </a:pPr>
            <a:r>
              <a:rPr lang="en"/>
              <a:t>The following error can have a number of causes. Error reporting will be improved over time.</a:t>
            </a:r>
            <a:endParaRPr/>
          </a:p>
          <a:p>
            <a:pPr indent="-292100" lvl="1" marL="914400" marR="0" rtl="0" algn="l">
              <a:lnSpc>
                <a:spcPct val="150000"/>
              </a:lnSpc>
              <a:spcBef>
                <a:spcPts val="0"/>
              </a:spcBef>
              <a:spcAft>
                <a:spcPts val="0"/>
              </a:spcAft>
              <a:buSzPts val="1000"/>
              <a:buChar char="○"/>
            </a:pPr>
            <a:r>
              <a:rPr lang="en" sz="1000"/>
              <a:t>Escalate any such issues as a JIRA help request to COE .</a:t>
            </a:r>
            <a:endParaRPr sz="1000"/>
          </a:p>
          <a:p>
            <a:pPr indent="0" lvl="0" marL="457200" rtl="0" algn="l">
              <a:lnSpc>
                <a:spcPct val="115000"/>
              </a:lnSpc>
              <a:spcBef>
                <a:spcPts val="1200"/>
              </a:spcBef>
              <a:spcAft>
                <a:spcPts val="0"/>
              </a:spcAft>
              <a:buNone/>
            </a:pPr>
            <a:r>
              <a:t/>
            </a:r>
            <a:endParaRPr/>
          </a:p>
        </p:txBody>
      </p:sp>
      <p:pic>
        <p:nvPicPr>
          <p:cNvPr id="479" name="Google Shape;479;p83"/>
          <p:cNvPicPr preferRelativeResize="0"/>
          <p:nvPr/>
        </p:nvPicPr>
        <p:blipFill>
          <a:blip r:embed="rId3">
            <a:alphaModFix/>
          </a:blip>
          <a:stretch>
            <a:fillRect/>
          </a:stretch>
        </p:blipFill>
        <p:spPr>
          <a:xfrm>
            <a:off x="1239000" y="2598625"/>
            <a:ext cx="3856350" cy="1420550"/>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3" name="Shape 483"/>
        <p:cNvGrpSpPr/>
        <p:nvPr/>
      </p:nvGrpSpPr>
      <p:grpSpPr>
        <a:xfrm>
          <a:off x="0" y="0"/>
          <a:ext cx="0" cy="0"/>
          <a:chOff x="0" y="0"/>
          <a:chExt cx="0" cy="0"/>
        </a:xfrm>
      </p:grpSpPr>
      <p:sp>
        <p:nvSpPr>
          <p:cNvPr id="484" name="Google Shape;484;p84"/>
          <p:cNvSpPr txBox="1"/>
          <p:nvPr>
            <p:ph idx="1" type="body"/>
          </p:nvPr>
        </p:nvSpPr>
        <p:spPr>
          <a:xfrm>
            <a:off x="173550" y="1016400"/>
            <a:ext cx="8595900" cy="3468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en"/>
              <a:t>How to get support and pass on customer feedback:</a:t>
            </a:r>
            <a:endParaRPr/>
          </a:p>
          <a:p>
            <a:pPr indent="-311150" lvl="0" marL="914400" marR="0" rtl="0" algn="l">
              <a:lnSpc>
                <a:spcPct val="115000"/>
              </a:lnSpc>
              <a:spcBef>
                <a:spcPts val="1000"/>
              </a:spcBef>
              <a:spcAft>
                <a:spcPts val="0"/>
              </a:spcAft>
              <a:buSzPts val="1300"/>
              <a:buChar char="●"/>
            </a:pPr>
            <a:r>
              <a:rPr lang="en"/>
              <a:t>Ad-hoc feedback: </a:t>
            </a:r>
            <a:endParaRPr/>
          </a:p>
          <a:p>
            <a:pPr indent="-298450" lvl="1" marL="1371600" marR="0" rtl="0" algn="l">
              <a:lnSpc>
                <a:spcPct val="115000"/>
              </a:lnSpc>
              <a:spcBef>
                <a:spcPts val="0"/>
              </a:spcBef>
              <a:spcAft>
                <a:spcPts val="0"/>
              </a:spcAft>
              <a:buSzPts val="1100"/>
              <a:buChar char="○"/>
            </a:pPr>
            <a:r>
              <a:rPr lang="en" sz="1100"/>
              <a:t>Post on </a:t>
            </a:r>
            <a:r>
              <a:rPr lang="en" sz="1100" u="sng">
                <a:solidFill>
                  <a:srgbClr val="247094"/>
                </a:solidFill>
                <a:latin typeface="Arial"/>
                <a:ea typeface="Arial"/>
                <a:cs typeface="Arial"/>
                <a:sym typeface="Arial"/>
                <a:hlinkClick r:id="rId3">
                  <a:extLst>
                    <a:ext uri="{A12FA001-AC4F-418D-AE19-62706E023703}">
                      <ahyp:hlinkClr val="tx"/>
                    </a:ext>
                  </a:extLst>
                </a:hlinkClick>
              </a:rPr>
              <a:t>#TAI-Feedback</a:t>
            </a:r>
            <a:endParaRPr sz="1100"/>
          </a:p>
          <a:p>
            <a:pPr indent="-311150" lvl="0" marL="914400" rtl="0" algn="l">
              <a:lnSpc>
                <a:spcPct val="115000"/>
              </a:lnSpc>
              <a:spcBef>
                <a:spcPts val="1000"/>
              </a:spcBef>
              <a:spcAft>
                <a:spcPts val="0"/>
              </a:spcAft>
              <a:buSzPts val="1300"/>
              <a:buChar char="●"/>
            </a:pPr>
            <a:r>
              <a:rPr lang="en"/>
              <a:t>If you need help or if there is an error in the Product:</a:t>
            </a:r>
            <a:endParaRPr/>
          </a:p>
          <a:p>
            <a:pPr indent="-298450" lvl="1" marL="1371600" rtl="0" algn="l">
              <a:lnSpc>
                <a:spcPct val="115000"/>
              </a:lnSpc>
              <a:spcBef>
                <a:spcPts val="0"/>
              </a:spcBef>
              <a:spcAft>
                <a:spcPts val="0"/>
              </a:spcAft>
              <a:buSzPts val="1100"/>
              <a:buChar char="○"/>
            </a:pPr>
            <a:r>
              <a:rPr lang="en" sz="1100"/>
              <a:t>Escalate to COE by creating a JIRA “Production Management: Help Request” ticket.</a:t>
            </a:r>
            <a:endParaRPr sz="1100"/>
          </a:p>
          <a:p>
            <a:pPr indent="-311150" lvl="0" marL="914400" rtl="0" algn="l">
              <a:lnSpc>
                <a:spcPct val="115000"/>
              </a:lnSpc>
              <a:spcBef>
                <a:spcPts val="1000"/>
              </a:spcBef>
              <a:spcAft>
                <a:spcPts val="0"/>
              </a:spcAft>
              <a:buSzPts val="1300"/>
              <a:buChar char="●"/>
            </a:pPr>
            <a:r>
              <a:rPr lang="en"/>
              <a:t>If the customer has a feature request for the Product:</a:t>
            </a:r>
            <a:endParaRPr/>
          </a:p>
          <a:p>
            <a:pPr indent="-298450" lvl="1" marL="1371600" rtl="0" algn="l">
              <a:lnSpc>
                <a:spcPct val="115000"/>
              </a:lnSpc>
              <a:spcBef>
                <a:spcPts val="0"/>
              </a:spcBef>
              <a:spcAft>
                <a:spcPts val="0"/>
              </a:spcAft>
              <a:buSzPts val="1100"/>
              <a:buChar char="○"/>
            </a:pPr>
            <a:r>
              <a:rPr lang="en" sz="1100"/>
              <a:t>Escalate to COE  by creating a JIRA “Production Management: </a:t>
            </a:r>
            <a:r>
              <a:rPr lang="en" sz="1100"/>
              <a:t>Help Request</a:t>
            </a:r>
            <a:r>
              <a:rPr lang="en" sz="1100"/>
              <a:t>” ticket.</a:t>
            </a:r>
            <a:endParaRPr sz="1100"/>
          </a:p>
          <a:p>
            <a:pPr indent="0" lvl="0" marL="0" marR="0" rtl="0" algn="l">
              <a:lnSpc>
                <a:spcPct val="150000"/>
              </a:lnSpc>
              <a:spcBef>
                <a:spcPts val="1200"/>
              </a:spcBef>
              <a:spcAft>
                <a:spcPts val="0"/>
              </a:spcAft>
              <a:buNone/>
            </a:pPr>
            <a:r>
              <a:rPr lang="en"/>
              <a:t>What information should you include:</a:t>
            </a:r>
            <a:endParaRPr/>
          </a:p>
          <a:p>
            <a:pPr indent="-298450" lvl="0" marL="914400" marR="0" rtl="0" algn="l">
              <a:lnSpc>
                <a:spcPct val="150000"/>
              </a:lnSpc>
              <a:spcBef>
                <a:spcPts val="0"/>
              </a:spcBef>
              <a:spcAft>
                <a:spcPts val="0"/>
              </a:spcAft>
              <a:buSzPts val="1100"/>
              <a:buChar char="●"/>
            </a:pPr>
            <a:r>
              <a:rPr lang="en" sz="1100"/>
              <a:t>So that COE can find the issue:</a:t>
            </a:r>
            <a:endParaRPr sz="1100"/>
          </a:p>
          <a:p>
            <a:pPr indent="-285750" lvl="1" marL="1371600" marR="0" rtl="0" algn="l">
              <a:lnSpc>
                <a:spcPct val="100000"/>
              </a:lnSpc>
              <a:spcBef>
                <a:spcPts val="0"/>
              </a:spcBef>
              <a:spcAft>
                <a:spcPts val="0"/>
              </a:spcAft>
              <a:buSzPts val="900"/>
              <a:buChar char="○"/>
            </a:pPr>
            <a:r>
              <a:rPr lang="en"/>
              <a:t>Platform</a:t>
            </a:r>
            <a:endParaRPr/>
          </a:p>
          <a:p>
            <a:pPr indent="-285750" lvl="1" marL="1371600" marR="0" rtl="0" algn="l">
              <a:lnSpc>
                <a:spcPct val="100000"/>
              </a:lnSpc>
              <a:spcBef>
                <a:spcPts val="0"/>
              </a:spcBef>
              <a:spcAft>
                <a:spcPts val="0"/>
              </a:spcAft>
              <a:buSzPts val="900"/>
              <a:buChar char="○"/>
            </a:pPr>
            <a:r>
              <a:rPr lang="en"/>
              <a:t>Customer ID &amp; User</a:t>
            </a:r>
            <a:endParaRPr/>
          </a:p>
          <a:p>
            <a:pPr indent="-285750" lvl="1" marL="1371600" marR="0" rtl="0" algn="l">
              <a:lnSpc>
                <a:spcPct val="100000"/>
              </a:lnSpc>
              <a:spcBef>
                <a:spcPts val="0"/>
              </a:spcBef>
              <a:spcAft>
                <a:spcPts val="0"/>
              </a:spcAft>
              <a:buSzPts val="900"/>
              <a:buChar char="○"/>
            </a:pPr>
            <a:r>
              <a:rPr lang="en"/>
              <a:t>Date and time</a:t>
            </a:r>
            <a:endParaRPr/>
          </a:p>
          <a:p>
            <a:pPr indent="-285750" lvl="1" marL="1371600" marR="0" rtl="0" algn="l">
              <a:lnSpc>
                <a:spcPct val="100000"/>
              </a:lnSpc>
              <a:spcBef>
                <a:spcPts val="0"/>
              </a:spcBef>
              <a:spcAft>
                <a:spcPts val="0"/>
              </a:spcAft>
              <a:buSzPts val="900"/>
              <a:buChar char="○"/>
            </a:pPr>
            <a:r>
              <a:rPr lang="en"/>
              <a:t>Request ID (If/when available)</a:t>
            </a:r>
            <a:endParaRPr/>
          </a:p>
          <a:p>
            <a:pPr indent="0" lvl="0" marL="457200" rtl="0" algn="l">
              <a:lnSpc>
                <a:spcPct val="115000"/>
              </a:lnSpc>
              <a:spcBef>
                <a:spcPts val="1200"/>
              </a:spcBef>
              <a:spcAft>
                <a:spcPts val="0"/>
              </a:spcAft>
              <a:buNone/>
            </a:pPr>
            <a:r>
              <a:t/>
            </a:r>
            <a:endParaRPr/>
          </a:p>
        </p:txBody>
      </p:sp>
      <p:sp>
        <p:nvSpPr>
          <p:cNvPr id="485" name="Google Shape;485;p84"/>
          <p:cNvSpPr txBox="1"/>
          <p:nvPr>
            <p:ph idx="1" type="body"/>
          </p:nvPr>
        </p:nvSpPr>
        <p:spPr>
          <a:xfrm>
            <a:off x="3385500" y="3336700"/>
            <a:ext cx="5758500" cy="1543800"/>
          </a:xfrm>
          <a:prstGeom prst="rect">
            <a:avLst/>
          </a:prstGeom>
          <a:solidFill>
            <a:schemeClr val="lt1"/>
          </a:solidFill>
          <a:ln>
            <a:noFill/>
          </a:ln>
        </p:spPr>
        <p:txBody>
          <a:bodyPr anchorCtr="0" anchor="t" bIns="91425" lIns="91425" spcFirstLastPara="1" rIns="91425" wrap="square" tIns="91425">
            <a:noAutofit/>
          </a:bodyPr>
          <a:lstStyle/>
          <a:p>
            <a:pPr indent="-298450" lvl="0" marL="914400" rtl="0" algn="l">
              <a:lnSpc>
                <a:spcPct val="150000"/>
              </a:lnSpc>
              <a:spcBef>
                <a:spcPts val="0"/>
              </a:spcBef>
              <a:spcAft>
                <a:spcPts val="0"/>
              </a:spcAft>
              <a:buSzPts val="1100"/>
              <a:buChar char="●"/>
            </a:pPr>
            <a:r>
              <a:rPr lang="en" sz="1100"/>
              <a:t>So that COE can analyse the issue:</a:t>
            </a:r>
            <a:endParaRPr sz="1100"/>
          </a:p>
          <a:p>
            <a:pPr indent="-285750" lvl="1" marL="1371600" rtl="0" algn="l">
              <a:lnSpc>
                <a:spcPct val="100000"/>
              </a:lnSpc>
              <a:spcBef>
                <a:spcPts val="0"/>
              </a:spcBef>
              <a:spcAft>
                <a:spcPts val="0"/>
              </a:spcAft>
              <a:buSzPts val="900"/>
              <a:buChar char="○"/>
            </a:pPr>
            <a:r>
              <a:rPr lang="en"/>
              <a:t>Explanation of why the customer thinks there is a problem and what the expected output was.</a:t>
            </a:r>
            <a:endParaRPr/>
          </a:p>
          <a:p>
            <a:pPr indent="-285750" lvl="1" marL="1371600" rtl="0" algn="l">
              <a:lnSpc>
                <a:spcPct val="100000"/>
              </a:lnSpc>
              <a:spcBef>
                <a:spcPts val="0"/>
              </a:spcBef>
              <a:spcAft>
                <a:spcPts val="0"/>
              </a:spcAft>
              <a:buSzPts val="900"/>
              <a:buChar char="○"/>
            </a:pPr>
            <a:r>
              <a:rPr lang="en"/>
              <a:t>Full replication of the problem in CMP11</a:t>
            </a:r>
            <a:endParaRPr/>
          </a:p>
          <a:p>
            <a:pPr indent="-285750" lvl="1" marL="1371600" rtl="0" algn="l">
              <a:lnSpc>
                <a:spcPct val="100000"/>
              </a:lnSpc>
              <a:spcBef>
                <a:spcPts val="0"/>
              </a:spcBef>
              <a:spcAft>
                <a:spcPts val="0"/>
              </a:spcAft>
              <a:buSzPts val="900"/>
              <a:buChar char="○"/>
            </a:pPr>
            <a:r>
              <a:rPr lang="en"/>
              <a:t>Full conversation (including history)</a:t>
            </a:r>
            <a:endParaRPr/>
          </a:p>
          <a:p>
            <a:pPr indent="-285750" lvl="1" marL="1371600" rtl="0" algn="l">
              <a:lnSpc>
                <a:spcPct val="100000"/>
              </a:lnSpc>
              <a:spcBef>
                <a:spcPts val="0"/>
              </a:spcBef>
              <a:spcAft>
                <a:spcPts val="0"/>
              </a:spcAft>
              <a:buSzPts val="900"/>
              <a:buChar char="○"/>
            </a:pPr>
            <a:r>
              <a:rPr lang="en"/>
              <a:t>Reasoning steps</a:t>
            </a:r>
            <a:endParaRPr sz="1300"/>
          </a:p>
          <a:p>
            <a:pPr indent="0" lvl="0" marL="457200" rtl="0" algn="l">
              <a:lnSpc>
                <a:spcPct val="115000"/>
              </a:lnSpc>
              <a:spcBef>
                <a:spcPts val="1200"/>
              </a:spcBef>
              <a:spcAft>
                <a:spcPts val="0"/>
              </a:spcAft>
              <a:buNone/>
            </a:pPr>
            <a:r>
              <a:t/>
            </a:r>
            <a:endParaRPr/>
          </a:p>
        </p:txBody>
      </p:sp>
      <p:sp>
        <p:nvSpPr>
          <p:cNvPr id="486" name="Google Shape;486;p84"/>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How to get help</a:t>
            </a:r>
            <a:endParaRPr sz="2600"/>
          </a:p>
          <a:p>
            <a:pPr indent="0" lvl="0" marL="0" rtl="0" algn="l">
              <a:lnSpc>
                <a:spcPct val="80000"/>
              </a:lnSpc>
              <a:spcBef>
                <a:spcPts val="0"/>
              </a:spcBef>
              <a:spcAft>
                <a:spcPts val="0"/>
              </a:spcAft>
              <a:buSzPts val="2000"/>
              <a:buNone/>
            </a:pPr>
            <a:r>
              <a:t/>
            </a:r>
            <a:endParaRPr sz="2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5"/>
          <p:cNvSpPr txBox="1"/>
          <p:nvPr>
            <p:ph type="title"/>
          </p:nvPr>
        </p:nvSpPr>
        <p:spPr>
          <a:xfrm>
            <a:off x="228600" y="187250"/>
            <a:ext cx="7363800" cy="4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TAI logs in Splunk</a:t>
            </a:r>
            <a:endParaRPr b="1" sz="2400"/>
          </a:p>
        </p:txBody>
      </p:sp>
      <p:sp>
        <p:nvSpPr>
          <p:cNvPr id="492" name="Google Shape;492;p85"/>
          <p:cNvSpPr/>
          <p:nvPr/>
        </p:nvSpPr>
        <p:spPr>
          <a:xfrm>
            <a:off x="228600" y="708825"/>
            <a:ext cx="4833900" cy="40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298F"/>
                </a:solidFill>
                <a:latin typeface="DM Sans"/>
                <a:ea typeface="DM Sans"/>
                <a:cs typeface="DM Sans"/>
                <a:sym typeface="DM Sans"/>
              </a:rPr>
              <a:t>Expectations:</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It is not expected that PS will need to review Splunk. </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Technical errors are not expected and, in the short term, any errors should be escalated. </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In time, with more production experience, this can be revisited.</a:t>
            </a:r>
            <a:endParaRPr sz="1100">
              <a:solidFill>
                <a:srgbClr val="1A252A"/>
              </a:solidFill>
              <a:highlight>
                <a:srgbClr val="F4F4F4"/>
              </a:highlight>
              <a:latin typeface="DM Sans"/>
              <a:ea typeface="DM Sans"/>
              <a:cs typeface="DM Sans"/>
              <a:sym typeface="DM Sans"/>
            </a:endParaRPr>
          </a:p>
          <a:p>
            <a:pPr indent="0" lvl="0" marL="0" rtl="0" algn="l">
              <a:spcBef>
                <a:spcPts val="1000"/>
              </a:spcBef>
              <a:spcAft>
                <a:spcPts val="0"/>
              </a:spcAft>
              <a:buNone/>
            </a:pPr>
            <a:r>
              <a:rPr lang="en" sz="1100">
                <a:solidFill>
                  <a:srgbClr val="FF298F"/>
                </a:solidFill>
                <a:latin typeface="DM Sans"/>
                <a:ea typeface="DM Sans"/>
                <a:cs typeface="DM Sans"/>
                <a:sym typeface="DM Sans"/>
              </a:rPr>
              <a:t>Available now:</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Service and agent logs are joined using trace_id </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User context is visible in logs (service - done, agent - coming)</a:t>
            </a:r>
            <a:endParaRPr sz="1100">
              <a:solidFill>
                <a:srgbClr val="1A252A"/>
              </a:solidFill>
              <a:highlight>
                <a:srgbClr val="F4F4F4"/>
              </a:highlight>
              <a:latin typeface="DM Sans"/>
              <a:ea typeface="DM Sans"/>
              <a:cs typeface="DM Sans"/>
              <a:sym typeface="DM Sans"/>
            </a:endParaRPr>
          </a:p>
          <a:p>
            <a:pPr indent="-298450" lvl="0" marL="45720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Request processing statistics (streamed chunks, token usage, duration)</a:t>
            </a:r>
            <a:endParaRPr sz="1100">
              <a:solidFill>
                <a:srgbClr val="1A252A"/>
              </a:solidFill>
              <a:highlight>
                <a:srgbClr val="F4F4F4"/>
              </a:highlight>
              <a:latin typeface="DM Sans"/>
              <a:ea typeface="DM Sans"/>
              <a:cs typeface="DM Sans"/>
              <a:sym typeface="DM Sans"/>
            </a:endParaRPr>
          </a:p>
          <a:p>
            <a:pPr indent="0" lvl="0" marL="0" rtl="0" algn="l">
              <a:spcBef>
                <a:spcPts val="1000"/>
              </a:spcBef>
              <a:spcAft>
                <a:spcPts val="0"/>
              </a:spcAft>
              <a:buNone/>
            </a:pPr>
            <a:r>
              <a:rPr lang="en" sz="1100">
                <a:solidFill>
                  <a:srgbClr val="FF298F"/>
                </a:solidFill>
                <a:latin typeface="DM Sans"/>
                <a:ea typeface="DM Sans"/>
                <a:cs typeface="DM Sans"/>
                <a:sym typeface="DM Sans"/>
              </a:rPr>
              <a:t>In progress:</a:t>
            </a:r>
            <a:endParaRPr sz="1100">
              <a:solidFill>
                <a:srgbClr val="FF298F"/>
              </a:solidFill>
              <a:latin typeface="DM Sans"/>
              <a:ea typeface="DM Sans"/>
              <a:cs typeface="DM Sans"/>
              <a:sym typeface="DM Sans"/>
            </a:endParaRPr>
          </a:p>
          <a:p>
            <a:pPr indent="-298450" lvl="0" marL="457200" marR="0" rtl="0" algn="l">
              <a:lnSpc>
                <a:spcPct val="115000"/>
              </a:lnSpc>
              <a:spcBef>
                <a:spcPts val="100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Propagating traces to MCP tools</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Whitelisting traceparent in Gravitee</a:t>
            </a:r>
            <a:endParaRPr sz="1100">
              <a:solidFill>
                <a:srgbClr val="1A252A"/>
              </a:solidFill>
              <a:highlight>
                <a:srgbClr val="F4F4F4"/>
              </a:highlight>
              <a:latin typeface="DM Sans"/>
              <a:ea typeface="DM Sans"/>
              <a:cs typeface="DM Sans"/>
              <a:sym typeface="DM Sans"/>
            </a:endParaRPr>
          </a:p>
          <a:p>
            <a:pPr indent="0" lvl="0" marL="0" marR="0" rtl="0" algn="l">
              <a:lnSpc>
                <a:spcPct val="115000"/>
              </a:lnSpc>
              <a:spcBef>
                <a:spcPts val="1000"/>
              </a:spcBef>
              <a:spcAft>
                <a:spcPts val="0"/>
              </a:spcAft>
              <a:buNone/>
            </a:pPr>
            <a:r>
              <a:rPr lang="en" sz="1100">
                <a:solidFill>
                  <a:srgbClr val="FF298F"/>
                </a:solidFill>
                <a:latin typeface="DM Sans"/>
                <a:ea typeface="DM Sans"/>
                <a:cs typeface="DM Sans"/>
                <a:sym typeface="DM Sans"/>
              </a:rPr>
              <a:t>Expected in future:</a:t>
            </a:r>
            <a:endParaRPr sz="1100">
              <a:solidFill>
                <a:srgbClr val="1A252A"/>
              </a:solidFill>
              <a:highlight>
                <a:srgbClr val="F4F4F4"/>
              </a:highlight>
              <a:latin typeface="DM Sans"/>
              <a:ea typeface="DM Sans"/>
              <a:cs typeface="DM Sans"/>
              <a:sym typeface="DM Sans"/>
            </a:endParaRPr>
          </a:p>
          <a:p>
            <a:pPr indent="-298450" lvl="0" marL="457200" marR="0" rtl="0" algn="l">
              <a:lnSpc>
                <a:spcPct val="115000"/>
              </a:lnSpc>
              <a:spcBef>
                <a:spcPts val="0"/>
              </a:spcBef>
              <a:spcAft>
                <a:spcPts val="0"/>
              </a:spcAft>
              <a:buClr>
                <a:srgbClr val="1A252A"/>
              </a:buClr>
              <a:buSzPts val="1100"/>
              <a:buFont typeface="DM Sans"/>
              <a:buChar char="●"/>
            </a:pPr>
            <a:r>
              <a:rPr lang="en" sz="1100">
                <a:solidFill>
                  <a:srgbClr val="1A252A"/>
                </a:solidFill>
                <a:highlight>
                  <a:srgbClr val="F4F4F4"/>
                </a:highlight>
                <a:latin typeface="DM Sans"/>
                <a:ea typeface="DM Sans"/>
                <a:cs typeface="DM Sans"/>
                <a:sym typeface="DM Sans"/>
              </a:rPr>
              <a:t>Request ID included in TAI output within the User Interface (UI)</a:t>
            </a:r>
            <a:endParaRPr sz="1100">
              <a:solidFill>
                <a:srgbClr val="1A252A"/>
              </a:solidFill>
              <a:highlight>
                <a:srgbClr val="F4F4F4"/>
              </a:highlight>
              <a:latin typeface="DM Sans"/>
              <a:ea typeface="DM Sans"/>
              <a:cs typeface="DM Sans"/>
              <a:sym typeface="DM Sans"/>
            </a:endParaRPr>
          </a:p>
          <a:p>
            <a:pPr indent="0" lvl="0" marL="0" rtl="0" algn="l">
              <a:lnSpc>
                <a:spcPct val="115000"/>
              </a:lnSpc>
              <a:spcBef>
                <a:spcPts val="1000"/>
              </a:spcBef>
              <a:spcAft>
                <a:spcPts val="1000"/>
              </a:spcAft>
              <a:buNone/>
            </a:pPr>
            <a:r>
              <a:rPr lang="en" sz="1100">
                <a:solidFill>
                  <a:schemeClr val="dk1"/>
                </a:solidFill>
                <a:highlight>
                  <a:schemeClr val="lt1"/>
                </a:highlight>
                <a:latin typeface="DM Sans"/>
                <a:ea typeface="DM Sans"/>
                <a:cs typeface="DM Sans"/>
                <a:sym typeface="DM Sans"/>
              </a:rPr>
              <a:t>More information in </a:t>
            </a:r>
            <a:r>
              <a:rPr lang="en" sz="1100" u="sng">
                <a:solidFill>
                  <a:srgbClr val="247094"/>
                </a:solidFill>
                <a:highlight>
                  <a:schemeClr val="lt1"/>
                </a:highlight>
                <a:latin typeface="DM Sans"/>
                <a:ea typeface="DM Sans"/>
                <a:cs typeface="DM Sans"/>
                <a:sym typeface="DM Sans"/>
                <a:hlinkClick r:id="rId3">
                  <a:extLst>
                    <a:ext uri="{A12FA001-AC4F-418D-AE19-62706E023703}">
                      <ahyp:hlinkClr val="tx"/>
                    </a:ext>
                  </a:extLst>
                </a:hlinkClick>
              </a:rPr>
              <a:t>[TAI] Logging</a:t>
            </a:r>
            <a:endParaRPr sz="1100">
              <a:solidFill>
                <a:srgbClr val="1A252A"/>
              </a:solidFill>
              <a:highlight>
                <a:srgbClr val="F4F4F4"/>
              </a:highlight>
              <a:latin typeface="DM Mono Light"/>
              <a:ea typeface="DM Mono Light"/>
              <a:cs typeface="DM Mono Light"/>
              <a:sym typeface="DM Mono Light"/>
            </a:endParaRPr>
          </a:p>
        </p:txBody>
      </p:sp>
      <p:pic>
        <p:nvPicPr>
          <p:cNvPr id="493" name="Google Shape;493;p85"/>
          <p:cNvPicPr preferRelativeResize="0"/>
          <p:nvPr/>
        </p:nvPicPr>
        <p:blipFill>
          <a:blip r:embed="rId4">
            <a:alphaModFix/>
          </a:blip>
          <a:stretch>
            <a:fillRect/>
          </a:stretch>
        </p:blipFill>
        <p:spPr>
          <a:xfrm>
            <a:off x="5229325" y="616550"/>
            <a:ext cx="3806226" cy="4184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97" name="Shape 497"/>
        <p:cNvGrpSpPr/>
        <p:nvPr/>
      </p:nvGrpSpPr>
      <p:grpSpPr>
        <a:xfrm>
          <a:off x="0" y="0"/>
          <a:ext cx="0" cy="0"/>
          <a:chOff x="0" y="0"/>
          <a:chExt cx="0" cy="0"/>
        </a:xfrm>
      </p:grpSpPr>
      <p:sp>
        <p:nvSpPr>
          <p:cNvPr id="498" name="Google Shape;498;p86"/>
          <p:cNvSpPr txBox="1"/>
          <p:nvPr>
            <p:ph type="title"/>
          </p:nvPr>
        </p:nvSpPr>
        <p:spPr>
          <a:xfrm>
            <a:off x="228600" y="1751875"/>
            <a:ext cx="7398600" cy="6558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Clr>
                <a:srgbClr val="000000"/>
              </a:buClr>
              <a:buSzPts val="3600"/>
              <a:buFont typeface="Arial"/>
              <a:buNone/>
            </a:pPr>
            <a:r>
              <a:rPr lang="en"/>
              <a:t>What TAI can be used for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2" name="Shape 502"/>
        <p:cNvGrpSpPr/>
        <p:nvPr/>
      </p:nvGrpSpPr>
      <p:grpSpPr>
        <a:xfrm>
          <a:off x="0" y="0"/>
          <a:ext cx="0" cy="0"/>
          <a:chOff x="0" y="0"/>
          <a:chExt cx="0" cy="0"/>
        </a:xfrm>
      </p:grpSpPr>
      <p:sp>
        <p:nvSpPr>
          <p:cNvPr id="503" name="Google Shape;503;p87"/>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What TAI can be used for:</a:t>
            </a:r>
            <a:endParaRPr sz="2600"/>
          </a:p>
          <a:p>
            <a:pPr indent="0" lvl="0" marL="0" rtl="0" algn="l">
              <a:lnSpc>
                <a:spcPct val="80000"/>
              </a:lnSpc>
              <a:spcBef>
                <a:spcPts val="0"/>
              </a:spcBef>
              <a:spcAft>
                <a:spcPts val="0"/>
              </a:spcAft>
              <a:buSzPts val="2000"/>
              <a:buNone/>
            </a:pPr>
            <a:r>
              <a:t/>
            </a:r>
            <a:endParaRPr sz="2600"/>
          </a:p>
        </p:txBody>
      </p:sp>
      <p:sp>
        <p:nvSpPr>
          <p:cNvPr id="504" name="Google Shape;504;p87"/>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100"/>
              <a:t>TAI is extremely flexible and can be used for many different purposes.</a:t>
            </a:r>
            <a:endParaRPr sz="1100"/>
          </a:p>
          <a:p>
            <a:pPr indent="0" lvl="0" marL="0" marR="0" rtl="0" algn="l">
              <a:lnSpc>
                <a:spcPct val="115000"/>
              </a:lnSpc>
              <a:spcBef>
                <a:spcPts val="1200"/>
              </a:spcBef>
              <a:spcAft>
                <a:spcPts val="0"/>
              </a:spcAft>
              <a:buNone/>
            </a:pPr>
            <a:r>
              <a:rPr lang="en" sz="1100"/>
              <a:t>Please find:</a:t>
            </a:r>
            <a:endParaRPr sz="1100"/>
          </a:p>
          <a:p>
            <a:pPr indent="-298450" lvl="0" marL="457200" marR="0" rtl="0" algn="l">
              <a:lnSpc>
                <a:spcPct val="115000"/>
              </a:lnSpc>
              <a:spcBef>
                <a:spcPts val="1200"/>
              </a:spcBef>
              <a:spcAft>
                <a:spcPts val="0"/>
              </a:spcAft>
              <a:buSzPts val="1100"/>
              <a:buChar char="●"/>
            </a:pPr>
            <a:r>
              <a:rPr lang="en" sz="1100"/>
              <a:t>Example queries: </a:t>
            </a:r>
            <a:r>
              <a:rPr lang="en" sz="1100" u="sng">
                <a:solidFill>
                  <a:srgbClr val="247094"/>
                </a:solidFill>
                <a:hlinkClick r:id="rId3">
                  <a:extLst>
                    <a:ext uri="{A12FA001-AC4F-418D-AE19-62706E023703}">
                      <ahyp:hlinkClr val="tx"/>
                    </a:ext>
                  </a:extLst>
                </a:hlinkClick>
              </a:rPr>
              <a:t>Factsheet: TAI Capabilities</a:t>
            </a:r>
            <a:endParaRPr sz="1100">
              <a:solidFill>
                <a:srgbClr val="247094"/>
              </a:solidFill>
            </a:endParaRPr>
          </a:p>
          <a:p>
            <a:pPr indent="-298450" lvl="0" marL="457200" marR="0" rtl="0" algn="l">
              <a:lnSpc>
                <a:spcPct val="115000"/>
              </a:lnSpc>
              <a:spcBef>
                <a:spcPts val="0"/>
              </a:spcBef>
              <a:spcAft>
                <a:spcPts val="0"/>
              </a:spcAft>
              <a:buSzPts val="1100"/>
              <a:buChar char="●"/>
            </a:pPr>
            <a:r>
              <a:rPr lang="en" sz="1100"/>
              <a:t>Pre sales d</a:t>
            </a:r>
            <a:r>
              <a:rPr lang="en" sz="1100"/>
              <a:t>emos:</a:t>
            </a:r>
            <a:endParaRPr sz="1100"/>
          </a:p>
          <a:p>
            <a:pPr indent="-298450" lvl="1" marL="914400" marR="0" rtl="0" algn="l">
              <a:lnSpc>
                <a:spcPct val="115000"/>
              </a:lnSpc>
              <a:spcBef>
                <a:spcPts val="0"/>
              </a:spcBef>
              <a:spcAft>
                <a:spcPts val="0"/>
              </a:spcAft>
              <a:buClr>
                <a:srgbClr val="247094"/>
              </a:buClr>
              <a:buSzPts val="1100"/>
              <a:buChar char="○"/>
            </a:pPr>
            <a:r>
              <a:rPr lang="en" sz="1100" u="sng">
                <a:solidFill>
                  <a:srgbClr val="247094"/>
                </a:solidFill>
                <a:hlinkClick r:id="rId4">
                  <a:extLst>
                    <a:ext uri="{A12FA001-AC4F-418D-AE19-62706E023703}">
                      <ahyp:hlinkClr val="tx"/>
                    </a:ext>
                  </a:extLst>
                </a:hlinkClick>
              </a:rPr>
              <a:t>Meet TAI: The Next Leap in AI-Powered Treasury</a:t>
            </a:r>
            <a:endParaRPr sz="1100">
              <a:solidFill>
                <a:srgbClr val="247094"/>
              </a:solidFill>
            </a:endParaRPr>
          </a:p>
          <a:p>
            <a:pPr indent="-298450" lvl="1" marL="914400" marR="0" rtl="0" algn="l">
              <a:lnSpc>
                <a:spcPct val="115000"/>
              </a:lnSpc>
              <a:spcBef>
                <a:spcPts val="0"/>
              </a:spcBef>
              <a:spcAft>
                <a:spcPts val="0"/>
              </a:spcAft>
              <a:buClr>
                <a:srgbClr val="247094"/>
              </a:buClr>
              <a:buSzPts val="1100"/>
              <a:buChar char="○"/>
            </a:pPr>
            <a:r>
              <a:rPr lang="en" sz="1100" u="sng">
                <a:solidFill>
                  <a:srgbClr val="247094"/>
                </a:solidFill>
                <a:hlinkClick r:id="rId5">
                  <a:extLst>
                    <a:ext uri="{A12FA001-AC4F-418D-AE19-62706E023703}">
                      <ahyp:hlinkClr val="tx"/>
                    </a:ext>
                  </a:extLst>
                </a:hlinkClick>
              </a:rPr>
              <a:t>2025 - Module Intro - TAI 2 (EN)</a:t>
            </a:r>
            <a:endParaRPr sz="1100">
              <a:solidFill>
                <a:srgbClr val="247094"/>
              </a:solidFill>
            </a:endParaRPr>
          </a:p>
          <a:p>
            <a:pPr indent="-298450" lvl="0" marL="457200" marR="0" rtl="0" algn="l">
              <a:lnSpc>
                <a:spcPct val="115000"/>
              </a:lnSpc>
              <a:spcBef>
                <a:spcPts val="0"/>
              </a:spcBef>
              <a:spcAft>
                <a:spcPts val="0"/>
              </a:spcAft>
              <a:buSzPts val="1100"/>
              <a:buChar char="●"/>
            </a:pPr>
            <a:r>
              <a:rPr lang="en" sz="1100"/>
              <a:t>Primarily expected that:</a:t>
            </a:r>
            <a:endParaRPr sz="1100"/>
          </a:p>
          <a:p>
            <a:pPr indent="-298450" lvl="1" marL="914400" marR="0" rtl="0" algn="l">
              <a:lnSpc>
                <a:spcPct val="115000"/>
              </a:lnSpc>
              <a:spcBef>
                <a:spcPts val="0"/>
              </a:spcBef>
              <a:spcAft>
                <a:spcPts val="0"/>
              </a:spcAft>
              <a:buSzPts val="1100"/>
              <a:buChar char="○"/>
            </a:pPr>
            <a:r>
              <a:rPr lang="en" sz="1100"/>
              <a:t>Treasury agent:</a:t>
            </a:r>
            <a:endParaRPr sz="1100"/>
          </a:p>
          <a:p>
            <a:pPr indent="-298450" lvl="2" marL="1371600" marR="0" rtl="0" algn="l">
              <a:lnSpc>
                <a:spcPct val="115000"/>
              </a:lnSpc>
              <a:spcBef>
                <a:spcPts val="0"/>
              </a:spcBef>
              <a:spcAft>
                <a:spcPts val="0"/>
              </a:spcAft>
              <a:buSzPts val="1100"/>
              <a:buChar char="■"/>
            </a:pPr>
            <a:r>
              <a:rPr lang="en" sz="1100"/>
              <a:t>Producing reporting/analysis</a:t>
            </a:r>
            <a:endParaRPr sz="1100"/>
          </a:p>
          <a:p>
            <a:pPr indent="-298450" lvl="2" marL="1371600" marR="0" rtl="0" algn="l">
              <a:lnSpc>
                <a:spcPct val="115000"/>
              </a:lnSpc>
              <a:spcBef>
                <a:spcPts val="0"/>
              </a:spcBef>
              <a:spcAft>
                <a:spcPts val="0"/>
              </a:spcAft>
              <a:buSzPts val="1100"/>
              <a:buChar char="■"/>
            </a:pPr>
            <a:r>
              <a:rPr lang="en" sz="1100"/>
              <a:t>Reducing time to investigate breaks</a:t>
            </a:r>
            <a:endParaRPr sz="1100"/>
          </a:p>
          <a:p>
            <a:pPr indent="-298450" lvl="1" marL="914400" marR="0" rtl="0" algn="l">
              <a:lnSpc>
                <a:spcPct val="115000"/>
              </a:lnSpc>
              <a:spcBef>
                <a:spcPts val="0"/>
              </a:spcBef>
              <a:spcAft>
                <a:spcPts val="0"/>
              </a:spcAft>
              <a:buSzPts val="1100"/>
              <a:buChar char="○"/>
            </a:pPr>
            <a:r>
              <a:rPr lang="en" sz="1100"/>
              <a:t>Help agent:</a:t>
            </a:r>
            <a:endParaRPr sz="1100"/>
          </a:p>
          <a:p>
            <a:pPr indent="-298450" lvl="2" marL="1371600" marR="0" rtl="0" algn="l">
              <a:lnSpc>
                <a:spcPct val="115000"/>
              </a:lnSpc>
              <a:spcBef>
                <a:spcPts val="0"/>
              </a:spcBef>
              <a:spcAft>
                <a:spcPts val="0"/>
              </a:spcAft>
              <a:buSzPts val="1100"/>
              <a:buChar char="■"/>
            </a:pPr>
            <a:r>
              <a:rPr lang="en" sz="1100"/>
              <a:t>Implementation support both for new </a:t>
            </a:r>
            <a:r>
              <a:rPr lang="en" sz="1100"/>
              <a:t>customers</a:t>
            </a:r>
            <a:r>
              <a:rPr lang="en" sz="1100"/>
              <a:t> but also for day-to-day maintenance operations.</a:t>
            </a:r>
            <a:endParaRPr sz="1100"/>
          </a:p>
          <a:p>
            <a:pPr indent="-298450" lvl="2" marL="1371600" marR="0" rtl="0" algn="l">
              <a:lnSpc>
                <a:spcPct val="115000"/>
              </a:lnSpc>
              <a:spcBef>
                <a:spcPts val="0"/>
              </a:spcBef>
              <a:spcAft>
                <a:spcPts val="0"/>
              </a:spcAft>
              <a:buSzPts val="1100"/>
              <a:buChar char="■"/>
            </a:pPr>
            <a:r>
              <a:rPr lang="en" sz="1100"/>
              <a:t>Reducing internal questions within a customer by Kyriba users</a:t>
            </a:r>
            <a:endParaRPr sz="1100"/>
          </a:p>
          <a:p>
            <a:pPr indent="0" lvl="0" marL="457200" marR="0" rtl="0" algn="l">
              <a:lnSpc>
                <a:spcPct val="115000"/>
              </a:lnSpc>
              <a:spcBef>
                <a:spcPts val="1200"/>
              </a:spcBef>
              <a:spcAft>
                <a:spcPts val="0"/>
              </a:spcAft>
              <a:buNone/>
            </a:pPr>
            <a:r>
              <a:rPr lang="en" sz="1100"/>
              <a:t>The scope on how TAI can be used is endless. Here are some examples.</a:t>
            </a:r>
            <a:endParaRPr sz="1100"/>
          </a:p>
          <a:p>
            <a:pPr indent="0" lvl="0" marL="457200" rtl="0" algn="l">
              <a:lnSpc>
                <a:spcPct val="115000"/>
              </a:lnSpc>
              <a:spcBef>
                <a:spcPts val="12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8" name="Shape 508"/>
        <p:cNvGrpSpPr/>
        <p:nvPr/>
      </p:nvGrpSpPr>
      <p:grpSpPr>
        <a:xfrm>
          <a:off x="0" y="0"/>
          <a:ext cx="0" cy="0"/>
          <a:chOff x="0" y="0"/>
          <a:chExt cx="0" cy="0"/>
        </a:xfrm>
      </p:grpSpPr>
      <p:sp>
        <p:nvSpPr>
          <p:cNvPr id="509" name="Google Shape;509;p88"/>
          <p:cNvSpPr txBox="1"/>
          <p:nvPr>
            <p:ph type="title"/>
          </p:nvPr>
        </p:nvSpPr>
        <p:spPr>
          <a:xfrm>
            <a:off x="228600" y="262525"/>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o</a:t>
            </a:r>
            <a:r>
              <a:rPr lang="en" sz="2600"/>
              <a:t>pen question: Bank meeting</a:t>
            </a:r>
            <a:endParaRPr sz="2600"/>
          </a:p>
        </p:txBody>
      </p:sp>
      <p:pic>
        <p:nvPicPr>
          <p:cNvPr id="510" name="Google Shape;510;p88"/>
          <p:cNvPicPr preferRelativeResize="0"/>
          <p:nvPr/>
        </p:nvPicPr>
        <p:blipFill>
          <a:blip r:embed="rId3">
            <a:alphaModFix/>
          </a:blip>
          <a:stretch>
            <a:fillRect/>
          </a:stretch>
        </p:blipFill>
        <p:spPr>
          <a:xfrm>
            <a:off x="190425" y="936675"/>
            <a:ext cx="4247292" cy="4003475"/>
          </a:xfrm>
          <a:prstGeom prst="rect">
            <a:avLst/>
          </a:prstGeom>
          <a:noFill/>
          <a:ln cap="flat" cmpd="sng" w="28575">
            <a:solidFill>
              <a:schemeClr val="accent2"/>
            </a:solidFill>
            <a:prstDash val="solid"/>
            <a:round/>
            <a:headEnd len="sm" w="sm" type="none"/>
            <a:tailEnd len="sm" w="sm" type="none"/>
          </a:ln>
        </p:spPr>
      </p:pic>
      <p:pic>
        <p:nvPicPr>
          <p:cNvPr id="511" name="Google Shape;511;p88"/>
          <p:cNvPicPr preferRelativeResize="0"/>
          <p:nvPr/>
        </p:nvPicPr>
        <p:blipFill>
          <a:blip r:embed="rId4">
            <a:alphaModFix/>
          </a:blip>
          <a:stretch>
            <a:fillRect/>
          </a:stretch>
        </p:blipFill>
        <p:spPr>
          <a:xfrm>
            <a:off x="4602817" y="936675"/>
            <a:ext cx="4363308" cy="2476609"/>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5" name="Shape 515"/>
        <p:cNvGrpSpPr/>
        <p:nvPr/>
      </p:nvGrpSpPr>
      <p:grpSpPr>
        <a:xfrm>
          <a:off x="0" y="0"/>
          <a:ext cx="0" cy="0"/>
          <a:chOff x="0" y="0"/>
          <a:chExt cx="0" cy="0"/>
        </a:xfrm>
      </p:grpSpPr>
      <p:sp>
        <p:nvSpPr>
          <p:cNvPr id="516" name="Google Shape;516;p89"/>
          <p:cNvSpPr txBox="1"/>
          <p:nvPr>
            <p:ph type="title"/>
          </p:nvPr>
        </p:nvSpPr>
        <p:spPr>
          <a:xfrm>
            <a:off x="228600" y="262525"/>
            <a:ext cx="89154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o</a:t>
            </a:r>
            <a:r>
              <a:rPr lang="en" sz="2600"/>
              <a:t>pen question: End of the day</a:t>
            </a:r>
            <a:endParaRPr sz="2600"/>
          </a:p>
        </p:txBody>
      </p:sp>
      <p:pic>
        <p:nvPicPr>
          <p:cNvPr id="517" name="Google Shape;517;p89"/>
          <p:cNvPicPr preferRelativeResize="0"/>
          <p:nvPr/>
        </p:nvPicPr>
        <p:blipFill>
          <a:blip r:embed="rId3">
            <a:alphaModFix/>
          </a:blip>
          <a:stretch>
            <a:fillRect/>
          </a:stretch>
        </p:blipFill>
        <p:spPr>
          <a:xfrm>
            <a:off x="2870550" y="797125"/>
            <a:ext cx="4151923" cy="4003474"/>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1" name="Shape 521"/>
        <p:cNvGrpSpPr/>
        <p:nvPr/>
      </p:nvGrpSpPr>
      <p:grpSpPr>
        <a:xfrm>
          <a:off x="0" y="0"/>
          <a:ext cx="0" cy="0"/>
          <a:chOff x="0" y="0"/>
          <a:chExt cx="0" cy="0"/>
        </a:xfrm>
      </p:grpSpPr>
      <p:sp>
        <p:nvSpPr>
          <p:cNvPr id="522" name="Google Shape;522;p90"/>
          <p:cNvSpPr txBox="1"/>
          <p:nvPr>
            <p:ph type="title"/>
          </p:nvPr>
        </p:nvSpPr>
        <p:spPr>
          <a:xfrm>
            <a:off x="228600" y="262525"/>
            <a:ext cx="7915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 question: </a:t>
            </a:r>
            <a:r>
              <a:rPr lang="en" sz="2600"/>
              <a:t>Executive reporting</a:t>
            </a:r>
            <a:endParaRPr sz="2600"/>
          </a:p>
        </p:txBody>
      </p:sp>
      <p:pic>
        <p:nvPicPr>
          <p:cNvPr id="523" name="Google Shape;523;p90"/>
          <p:cNvPicPr preferRelativeResize="0"/>
          <p:nvPr/>
        </p:nvPicPr>
        <p:blipFill>
          <a:blip r:embed="rId3">
            <a:alphaModFix/>
          </a:blip>
          <a:stretch>
            <a:fillRect/>
          </a:stretch>
        </p:blipFill>
        <p:spPr>
          <a:xfrm>
            <a:off x="4846175" y="1065200"/>
            <a:ext cx="4069224" cy="3680476"/>
          </a:xfrm>
          <a:prstGeom prst="rect">
            <a:avLst/>
          </a:prstGeom>
          <a:noFill/>
          <a:ln cap="flat" cmpd="sng" w="28575">
            <a:solidFill>
              <a:schemeClr val="accent2"/>
            </a:solidFill>
            <a:prstDash val="solid"/>
            <a:round/>
            <a:headEnd len="sm" w="sm" type="none"/>
            <a:tailEnd len="sm" w="sm" type="none"/>
          </a:ln>
        </p:spPr>
      </p:pic>
      <p:grpSp>
        <p:nvGrpSpPr>
          <p:cNvPr id="524" name="Google Shape;524;p90"/>
          <p:cNvGrpSpPr/>
          <p:nvPr/>
        </p:nvGrpSpPr>
        <p:grpSpPr>
          <a:xfrm>
            <a:off x="493925" y="790275"/>
            <a:ext cx="4221801" cy="3955400"/>
            <a:chOff x="493925" y="790275"/>
            <a:chExt cx="4221801" cy="3955400"/>
          </a:xfrm>
        </p:grpSpPr>
        <p:pic>
          <p:nvPicPr>
            <p:cNvPr id="525" name="Google Shape;525;p90"/>
            <p:cNvPicPr preferRelativeResize="0"/>
            <p:nvPr/>
          </p:nvPicPr>
          <p:blipFill>
            <a:blip r:embed="rId4">
              <a:alphaModFix/>
            </a:blip>
            <a:stretch>
              <a:fillRect/>
            </a:stretch>
          </p:blipFill>
          <p:spPr>
            <a:xfrm>
              <a:off x="493925" y="1520275"/>
              <a:ext cx="4221801" cy="3225400"/>
            </a:xfrm>
            <a:prstGeom prst="rect">
              <a:avLst/>
            </a:prstGeom>
            <a:noFill/>
            <a:ln>
              <a:noFill/>
            </a:ln>
          </p:spPr>
        </p:pic>
        <p:pic>
          <p:nvPicPr>
            <p:cNvPr id="526" name="Google Shape;526;p90"/>
            <p:cNvPicPr preferRelativeResize="0"/>
            <p:nvPr/>
          </p:nvPicPr>
          <p:blipFill rotWithShape="1">
            <a:blip r:embed="rId5">
              <a:alphaModFix/>
            </a:blip>
            <a:srcRect b="0" l="0" r="0" t="7201"/>
            <a:stretch/>
          </p:blipFill>
          <p:spPr>
            <a:xfrm>
              <a:off x="493925" y="790275"/>
              <a:ext cx="4221799" cy="770175"/>
            </a:xfrm>
            <a:prstGeom prst="rect">
              <a:avLst/>
            </a:prstGeom>
            <a:noFill/>
            <a:ln>
              <a:noFill/>
            </a:ln>
          </p:spPr>
        </p:pic>
      </p:grpSp>
      <p:sp>
        <p:nvSpPr>
          <p:cNvPr id="527" name="Google Shape;527;p90"/>
          <p:cNvSpPr/>
          <p:nvPr/>
        </p:nvSpPr>
        <p:spPr>
          <a:xfrm>
            <a:off x="495600" y="770175"/>
            <a:ext cx="4235400" cy="39891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1" name="Shape 531"/>
        <p:cNvGrpSpPr/>
        <p:nvPr/>
      </p:nvGrpSpPr>
      <p:grpSpPr>
        <a:xfrm>
          <a:off x="0" y="0"/>
          <a:ext cx="0" cy="0"/>
          <a:chOff x="0" y="0"/>
          <a:chExt cx="0" cy="0"/>
        </a:xfrm>
      </p:grpSpPr>
      <p:sp>
        <p:nvSpPr>
          <p:cNvPr id="532" name="Google Shape;532;p9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Examples of uses of TAI over reports</a:t>
            </a:r>
            <a:endParaRPr sz="2600"/>
          </a:p>
          <a:p>
            <a:pPr indent="0" lvl="0" marL="0" rtl="0" algn="l">
              <a:lnSpc>
                <a:spcPct val="80000"/>
              </a:lnSpc>
              <a:spcBef>
                <a:spcPts val="0"/>
              </a:spcBef>
              <a:spcAft>
                <a:spcPts val="0"/>
              </a:spcAft>
              <a:buSzPts val="2000"/>
              <a:buNone/>
            </a:pPr>
            <a:r>
              <a:t/>
            </a:r>
            <a:endParaRPr sz="2600"/>
          </a:p>
        </p:txBody>
      </p:sp>
      <p:sp>
        <p:nvSpPr>
          <p:cNvPr id="533" name="Google Shape;533;p91"/>
          <p:cNvSpPr txBox="1"/>
          <p:nvPr>
            <p:ph idx="1" type="body"/>
          </p:nvPr>
        </p:nvSpPr>
        <p:spPr>
          <a:xfrm>
            <a:off x="173550" y="1038050"/>
            <a:ext cx="8595900" cy="36369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50000"/>
              </a:lnSpc>
              <a:spcBef>
                <a:spcPts val="0"/>
              </a:spcBef>
              <a:spcAft>
                <a:spcPts val="0"/>
              </a:spcAft>
              <a:buSzPts val="1300"/>
              <a:buChar char="●"/>
            </a:pPr>
            <a:r>
              <a:rPr lang="en"/>
              <a:t>Check if bank statements received by looking at the Bank Cockpit report</a:t>
            </a:r>
            <a:endParaRPr/>
          </a:p>
          <a:p>
            <a:pPr indent="-311150" lvl="0" marL="457200" marR="0" rtl="0" algn="l">
              <a:lnSpc>
                <a:spcPct val="150000"/>
              </a:lnSpc>
              <a:spcBef>
                <a:spcPts val="0"/>
              </a:spcBef>
              <a:spcAft>
                <a:spcPts val="0"/>
              </a:spcAft>
              <a:buSzPts val="1300"/>
              <a:buChar char="●"/>
            </a:pPr>
            <a:r>
              <a:rPr lang="en"/>
              <a:t>Highlight variances against proof of cash report</a:t>
            </a:r>
            <a:endParaRPr/>
          </a:p>
          <a:p>
            <a:pPr indent="-311150" lvl="0" marL="457200" marR="0" rtl="0" algn="l">
              <a:lnSpc>
                <a:spcPct val="150000"/>
              </a:lnSpc>
              <a:spcBef>
                <a:spcPts val="0"/>
              </a:spcBef>
              <a:spcAft>
                <a:spcPts val="0"/>
              </a:spcAft>
              <a:buSzPts val="1300"/>
              <a:buChar char="●"/>
            </a:pPr>
            <a:r>
              <a:rPr lang="en"/>
              <a:t>Show me payments pending approval via payment dashboard report</a:t>
            </a:r>
            <a:endParaRPr/>
          </a:p>
          <a:p>
            <a:pPr indent="-311150" lvl="0" marL="457200" marR="0" rtl="0" algn="l">
              <a:lnSpc>
                <a:spcPct val="150000"/>
              </a:lnSpc>
              <a:spcBef>
                <a:spcPts val="0"/>
              </a:spcBef>
              <a:spcAft>
                <a:spcPts val="0"/>
              </a:spcAft>
              <a:buSzPts val="1300"/>
              <a:buChar char="●"/>
            </a:pPr>
            <a:r>
              <a:rPr lang="en"/>
              <a:t>Check for </a:t>
            </a:r>
            <a:r>
              <a:rPr lang="en"/>
              <a:t>variances</a:t>
            </a:r>
            <a:r>
              <a:rPr lang="en"/>
              <a:t> in forecasts from the forecast variances report.</a:t>
            </a:r>
            <a:endParaRPr/>
          </a:p>
          <a:p>
            <a:pPr indent="-311150" lvl="0" marL="457200" marR="0" rtl="0" algn="l">
              <a:lnSpc>
                <a:spcPct val="150000"/>
              </a:lnSpc>
              <a:spcBef>
                <a:spcPts val="0"/>
              </a:spcBef>
              <a:spcAft>
                <a:spcPts val="0"/>
              </a:spcAft>
              <a:buSzPts val="1300"/>
              <a:buChar char="●"/>
            </a:pPr>
            <a:r>
              <a:rPr lang="en"/>
              <a:t>Check if any bank transactions are on hold and check if any matching forecasts.</a:t>
            </a:r>
            <a:endParaRPr/>
          </a:p>
          <a:p>
            <a:pPr indent="-311150" lvl="0" marL="457200" marR="0" rtl="0" algn="l">
              <a:lnSpc>
                <a:spcPct val="150000"/>
              </a:lnSpc>
              <a:spcBef>
                <a:spcPts val="0"/>
              </a:spcBef>
              <a:spcAft>
                <a:spcPts val="0"/>
              </a:spcAft>
              <a:buSzPts val="1300"/>
              <a:buChar char="●"/>
            </a:pPr>
            <a:r>
              <a:rPr lang="en"/>
              <a:t>Check if any liquidity shortfalls</a:t>
            </a:r>
            <a:endParaRPr/>
          </a:p>
          <a:p>
            <a:pPr indent="0" lvl="0" marL="457200" rtl="0" algn="l">
              <a:lnSpc>
                <a:spcPct val="115000"/>
              </a:lnSpc>
              <a:spcBef>
                <a:spcPts val="12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7" name="Shape 537"/>
        <p:cNvGrpSpPr/>
        <p:nvPr/>
      </p:nvGrpSpPr>
      <p:grpSpPr>
        <a:xfrm>
          <a:off x="0" y="0"/>
          <a:ext cx="0" cy="0"/>
          <a:chOff x="0" y="0"/>
          <a:chExt cx="0" cy="0"/>
        </a:xfrm>
      </p:grpSpPr>
      <p:sp>
        <p:nvSpPr>
          <p:cNvPr id="538" name="Google Shape;538;p92"/>
          <p:cNvSpPr txBox="1"/>
          <p:nvPr>
            <p:ph type="title"/>
          </p:nvPr>
        </p:nvSpPr>
        <p:spPr>
          <a:xfrm>
            <a:off x="383750" y="222350"/>
            <a:ext cx="86991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TAI output validation against reports</a:t>
            </a:r>
            <a:endParaRPr sz="2600"/>
          </a:p>
        </p:txBody>
      </p:sp>
      <p:pic>
        <p:nvPicPr>
          <p:cNvPr id="539" name="Google Shape;539;p92"/>
          <p:cNvPicPr preferRelativeResize="0"/>
          <p:nvPr/>
        </p:nvPicPr>
        <p:blipFill>
          <a:blip r:embed="rId3">
            <a:alphaModFix/>
          </a:blip>
          <a:stretch>
            <a:fillRect/>
          </a:stretch>
        </p:blipFill>
        <p:spPr>
          <a:xfrm>
            <a:off x="493763" y="988225"/>
            <a:ext cx="3596399" cy="3725325"/>
          </a:xfrm>
          <a:prstGeom prst="rect">
            <a:avLst/>
          </a:prstGeom>
          <a:noFill/>
          <a:ln cap="flat" cmpd="sng" w="28575">
            <a:solidFill>
              <a:schemeClr val="accent2"/>
            </a:solidFill>
            <a:prstDash val="solid"/>
            <a:round/>
            <a:headEnd len="sm" w="sm" type="none"/>
            <a:tailEnd len="sm" w="sm" type="none"/>
          </a:ln>
        </p:spPr>
      </p:pic>
      <p:pic>
        <p:nvPicPr>
          <p:cNvPr id="540" name="Google Shape;540;p92"/>
          <p:cNvPicPr preferRelativeResize="0"/>
          <p:nvPr/>
        </p:nvPicPr>
        <p:blipFill>
          <a:blip r:embed="rId4">
            <a:alphaModFix/>
          </a:blip>
          <a:stretch>
            <a:fillRect/>
          </a:stretch>
        </p:blipFill>
        <p:spPr>
          <a:xfrm>
            <a:off x="4598242" y="2952900"/>
            <a:ext cx="3791158" cy="1760650"/>
          </a:xfrm>
          <a:prstGeom prst="rect">
            <a:avLst/>
          </a:prstGeom>
          <a:noFill/>
          <a:ln cap="flat" cmpd="sng" w="28575">
            <a:solidFill>
              <a:schemeClr val="accent2"/>
            </a:solidFill>
            <a:prstDash val="solid"/>
            <a:round/>
            <a:headEnd len="sm" w="sm" type="none"/>
            <a:tailEnd len="sm" w="sm" type="none"/>
          </a:ln>
        </p:spPr>
      </p:pic>
      <p:pic>
        <p:nvPicPr>
          <p:cNvPr id="541" name="Google Shape;541;p92"/>
          <p:cNvPicPr preferRelativeResize="0"/>
          <p:nvPr/>
        </p:nvPicPr>
        <p:blipFill rotWithShape="1">
          <a:blip r:embed="rId5">
            <a:alphaModFix/>
          </a:blip>
          <a:srcRect b="0" l="19100" r="0" t="12204"/>
          <a:stretch/>
        </p:blipFill>
        <p:spPr>
          <a:xfrm>
            <a:off x="4707162" y="1339400"/>
            <a:ext cx="3064025" cy="832825"/>
          </a:xfrm>
          <a:prstGeom prst="rect">
            <a:avLst/>
          </a:prstGeom>
          <a:noFill/>
          <a:ln cap="flat" cmpd="sng" w="28575">
            <a:solidFill>
              <a:schemeClr val="accent1"/>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5" name="Shape 545"/>
        <p:cNvGrpSpPr/>
        <p:nvPr/>
      </p:nvGrpSpPr>
      <p:grpSpPr>
        <a:xfrm>
          <a:off x="0" y="0"/>
          <a:ext cx="0" cy="0"/>
          <a:chOff x="0" y="0"/>
          <a:chExt cx="0" cy="0"/>
        </a:xfrm>
      </p:grpSpPr>
      <p:sp>
        <p:nvSpPr>
          <p:cNvPr id="546" name="Google Shape;546;p93"/>
          <p:cNvSpPr txBox="1"/>
          <p:nvPr>
            <p:ph type="title"/>
          </p:nvPr>
        </p:nvSpPr>
        <p:spPr>
          <a:xfrm>
            <a:off x="228600" y="342900"/>
            <a:ext cx="78345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COE Forum: TAI 1-Pager</a:t>
            </a:r>
            <a:endParaRPr sz="2600"/>
          </a:p>
        </p:txBody>
      </p:sp>
      <p:sp>
        <p:nvSpPr>
          <p:cNvPr id="547" name="Google Shape;547;p93"/>
          <p:cNvSpPr txBox="1"/>
          <p:nvPr>
            <p:ph idx="1" type="body"/>
          </p:nvPr>
        </p:nvSpPr>
        <p:spPr>
          <a:xfrm>
            <a:off x="228600" y="832625"/>
            <a:ext cx="4278300" cy="36024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Clr>
                <a:schemeClr val="hlink"/>
              </a:buClr>
              <a:buSzPts val="1100"/>
              <a:buFont typeface="Arial"/>
              <a:buNone/>
            </a:pPr>
            <a:r>
              <a:rPr b="1" lang="en"/>
              <a:t>Interface demo</a:t>
            </a:r>
            <a:endParaRPr b="1"/>
          </a:p>
          <a:p>
            <a:pPr indent="-298450" lvl="0" marL="457200" rtl="0" algn="l">
              <a:spcBef>
                <a:spcPts val="0"/>
              </a:spcBef>
              <a:spcAft>
                <a:spcPts val="0"/>
              </a:spcAft>
              <a:buSzPts val="1100"/>
              <a:buChar char="●"/>
            </a:pPr>
            <a:r>
              <a:rPr lang="en" sz="1100"/>
              <a:t>Navigation, conversations &amp; limitations, context &amp; clearing, charting, reasoning</a:t>
            </a:r>
            <a:endParaRPr sz="1100"/>
          </a:p>
          <a:p>
            <a:pPr indent="-298450" lvl="0" marL="457200" rtl="0" algn="l">
              <a:spcBef>
                <a:spcPts val="0"/>
              </a:spcBef>
              <a:spcAft>
                <a:spcPts val="0"/>
              </a:spcAft>
              <a:buSzPts val="1100"/>
              <a:buChar char="●"/>
            </a:pPr>
            <a:r>
              <a:rPr lang="en" sz="1100"/>
              <a:t>Help agent, How units work, clearing cache trick</a:t>
            </a:r>
            <a:endParaRPr sz="1100"/>
          </a:p>
          <a:p>
            <a:pPr indent="0" lvl="0" marL="0" rtl="0" algn="l">
              <a:spcBef>
                <a:spcPts val="1000"/>
              </a:spcBef>
              <a:spcAft>
                <a:spcPts val="0"/>
              </a:spcAft>
              <a:buClr>
                <a:schemeClr val="hlink"/>
              </a:buClr>
              <a:buSzPts val="1100"/>
              <a:buFont typeface="Arial"/>
              <a:buNone/>
            </a:pPr>
            <a:r>
              <a:rPr b="1" lang="en"/>
              <a:t>Scope of data used by TAI</a:t>
            </a:r>
            <a:endParaRPr b="1"/>
          </a:p>
          <a:p>
            <a:pPr indent="-298450" lvl="0" marL="457200" rtl="0" algn="l">
              <a:spcBef>
                <a:spcPts val="0"/>
              </a:spcBef>
              <a:spcAft>
                <a:spcPts val="0"/>
              </a:spcAft>
              <a:buSzPts val="1100"/>
              <a:buChar char="●"/>
            </a:pPr>
            <a:r>
              <a:rPr lang="en" sz="1100"/>
              <a:t>Treasury agent: MCP &amp; reports</a:t>
            </a:r>
            <a:endParaRPr sz="1100"/>
          </a:p>
          <a:p>
            <a:pPr indent="-171450" lvl="1" marL="628650" rtl="0" algn="l">
              <a:spcBef>
                <a:spcPts val="0"/>
              </a:spcBef>
              <a:spcAft>
                <a:spcPts val="0"/>
              </a:spcAft>
              <a:buSzPts val="900"/>
              <a:buChar char="○"/>
            </a:pPr>
            <a:r>
              <a:rPr lang="en"/>
              <a:t>How to setup reports for TAI - descriptions and TAI1</a:t>
            </a:r>
            <a:endParaRPr/>
          </a:p>
          <a:p>
            <a:pPr indent="-298450" lvl="0" marL="457200" rtl="0" algn="l">
              <a:spcBef>
                <a:spcPts val="0"/>
              </a:spcBef>
              <a:spcAft>
                <a:spcPts val="0"/>
              </a:spcAft>
              <a:buSzPts val="1100"/>
              <a:buChar char="●"/>
            </a:pPr>
            <a:r>
              <a:rPr lang="en" sz="1100"/>
              <a:t>Help agent: Online help</a:t>
            </a:r>
            <a:endParaRPr sz="1100"/>
          </a:p>
          <a:p>
            <a:pPr indent="0" lvl="0" marL="0" rtl="0" algn="l">
              <a:lnSpc>
                <a:spcPct val="115000"/>
              </a:lnSpc>
              <a:spcBef>
                <a:spcPts val="1000"/>
              </a:spcBef>
              <a:spcAft>
                <a:spcPts val="0"/>
              </a:spcAft>
              <a:buClr>
                <a:schemeClr val="hlink"/>
              </a:buClr>
              <a:buSzPts val="1100"/>
              <a:buFont typeface="Arial"/>
              <a:buNone/>
            </a:pPr>
            <a:r>
              <a:rPr b="1" lang="en"/>
              <a:t>PS implementation:</a:t>
            </a:r>
            <a:endParaRPr b="1"/>
          </a:p>
          <a:p>
            <a:pPr indent="-298450" lvl="0" marL="457200" rtl="0" algn="l">
              <a:spcBef>
                <a:spcPts val="0"/>
              </a:spcBef>
              <a:spcAft>
                <a:spcPts val="0"/>
              </a:spcAft>
              <a:buSzPts val="1100"/>
              <a:buChar char="●"/>
            </a:pPr>
            <a:r>
              <a:rPr lang="en" sz="1100"/>
              <a:t>How does TAI get data?</a:t>
            </a:r>
            <a:endParaRPr sz="1100"/>
          </a:p>
          <a:p>
            <a:pPr indent="-298450" lvl="0" marL="457200" rtl="0" algn="l">
              <a:spcBef>
                <a:spcPts val="0"/>
              </a:spcBef>
              <a:spcAft>
                <a:spcPts val="0"/>
              </a:spcAft>
              <a:buSzPts val="1100"/>
              <a:buChar char="●"/>
            </a:pPr>
            <a:r>
              <a:rPr lang="en" sz="1100"/>
              <a:t>How to enable TAI: </a:t>
            </a:r>
            <a:r>
              <a:rPr lang="en" sz="1100" u="sng">
                <a:solidFill>
                  <a:srgbClr val="247094"/>
                </a:solidFill>
                <a:latin typeface="Arial"/>
                <a:ea typeface="Arial"/>
                <a:cs typeface="Arial"/>
                <a:sym typeface="Arial"/>
                <a:hlinkClick r:id="rId3">
                  <a:extLst>
                    <a:ext uri="{A12FA001-AC4F-418D-AE19-62706E023703}">
                      <ahyp:hlinkClr val="tx"/>
                    </a:ext>
                  </a:extLst>
                </a:hlinkClick>
              </a:rPr>
              <a:t>TAI - Agentic AI - Handbook</a:t>
            </a:r>
            <a:endParaRPr sz="1100">
              <a:solidFill>
                <a:srgbClr val="247094"/>
              </a:solidFill>
            </a:endParaRPr>
          </a:p>
          <a:p>
            <a:pPr indent="-298450" lvl="0" marL="457200" rtl="0" algn="l">
              <a:spcBef>
                <a:spcPts val="0"/>
              </a:spcBef>
              <a:spcAft>
                <a:spcPts val="0"/>
              </a:spcAft>
              <a:buSzPts val="1100"/>
              <a:buChar char="●"/>
            </a:pPr>
            <a:r>
              <a:rPr lang="en" sz="1100"/>
              <a:t>Describing reports fully</a:t>
            </a:r>
            <a:endParaRPr sz="1100"/>
          </a:p>
          <a:p>
            <a:pPr indent="0" lvl="0" marL="0" rtl="0" algn="l">
              <a:lnSpc>
                <a:spcPct val="115000"/>
              </a:lnSpc>
              <a:spcBef>
                <a:spcPts val="0"/>
              </a:spcBef>
              <a:spcAft>
                <a:spcPts val="0"/>
              </a:spcAft>
              <a:buNone/>
            </a:pPr>
            <a:r>
              <a:t/>
            </a:r>
            <a:endParaRPr sz="1100"/>
          </a:p>
          <a:p>
            <a:pPr indent="0" lvl="0" marL="0" rtl="0" algn="l">
              <a:spcBef>
                <a:spcPts val="0"/>
              </a:spcBef>
              <a:spcAft>
                <a:spcPts val="0"/>
              </a:spcAft>
              <a:buNone/>
            </a:pPr>
            <a:r>
              <a:rPr b="1" lang="en"/>
              <a:t>Managing customer expectations</a:t>
            </a:r>
            <a:endParaRPr b="1"/>
          </a:p>
          <a:p>
            <a:pPr indent="-298450" lvl="0" marL="457200" rtl="0" algn="l">
              <a:spcBef>
                <a:spcPts val="0"/>
              </a:spcBef>
              <a:spcAft>
                <a:spcPts val="0"/>
              </a:spcAft>
              <a:buSzPts val="1100"/>
              <a:buChar char="●"/>
            </a:pPr>
            <a:r>
              <a:rPr lang="en" sz="1100"/>
              <a:t>Provide customers with:</a:t>
            </a:r>
            <a:r>
              <a:rPr lang="en"/>
              <a:t> </a:t>
            </a:r>
            <a:r>
              <a:rPr lang="en" sz="1100" u="sng">
                <a:solidFill>
                  <a:srgbClr val="247094"/>
                </a:solidFill>
                <a:hlinkClick r:id="rId4">
                  <a:extLst>
                    <a:ext uri="{A12FA001-AC4F-418D-AE19-62706E023703}">
                      <ahyp:hlinkClr val="tx"/>
                    </a:ext>
                  </a:extLst>
                </a:hlinkClick>
              </a:rPr>
              <a:t>Factsheet TAI Capabilities</a:t>
            </a:r>
            <a:endParaRPr sz="1100">
              <a:solidFill>
                <a:srgbClr val="247094"/>
              </a:solidFill>
            </a:endParaRPr>
          </a:p>
          <a:p>
            <a:pPr indent="-298450" lvl="0" marL="457200" rtl="0" algn="l">
              <a:spcBef>
                <a:spcPts val="0"/>
              </a:spcBef>
              <a:spcAft>
                <a:spcPts val="0"/>
              </a:spcAft>
              <a:buSzPts val="1100"/>
              <a:buChar char="●"/>
            </a:pPr>
            <a:r>
              <a:rPr lang="en" sz="1100"/>
              <a:t>Limitations: Read not yet write. API list will expand. More documentation and agent building will be added.</a:t>
            </a:r>
            <a:endParaRPr sz="1100"/>
          </a:p>
        </p:txBody>
      </p:sp>
      <p:sp>
        <p:nvSpPr>
          <p:cNvPr id="548" name="Google Shape;548;p93"/>
          <p:cNvSpPr txBox="1"/>
          <p:nvPr>
            <p:ph idx="1" type="body"/>
          </p:nvPr>
        </p:nvSpPr>
        <p:spPr>
          <a:xfrm>
            <a:off x="4506900" y="832500"/>
            <a:ext cx="4637100" cy="413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en"/>
              <a:t>What TAI can be used for:</a:t>
            </a:r>
            <a:endParaRPr b="1"/>
          </a:p>
          <a:p>
            <a:pPr indent="-298450" lvl="0" marL="457200" rtl="0" algn="l">
              <a:spcBef>
                <a:spcPts val="0"/>
              </a:spcBef>
              <a:spcAft>
                <a:spcPts val="0"/>
              </a:spcAft>
              <a:buSzPts val="1100"/>
              <a:buChar char="●"/>
            </a:pPr>
            <a:r>
              <a:rPr lang="en" sz="1100"/>
              <a:t>Example queries: </a:t>
            </a:r>
            <a:r>
              <a:rPr lang="en" sz="1100" u="sng">
                <a:solidFill>
                  <a:srgbClr val="247094"/>
                </a:solidFill>
                <a:hlinkClick r:id="rId5">
                  <a:extLst>
                    <a:ext uri="{A12FA001-AC4F-418D-AE19-62706E023703}">
                      <ahyp:hlinkClr val="tx"/>
                    </a:ext>
                  </a:extLst>
                </a:hlinkClick>
              </a:rPr>
              <a:t>Factsheet: TAI Capabilities</a:t>
            </a:r>
            <a:endParaRPr sz="1100"/>
          </a:p>
          <a:p>
            <a:pPr indent="-298450" lvl="0" marL="457200" rtl="0" algn="l">
              <a:spcBef>
                <a:spcPts val="0"/>
              </a:spcBef>
              <a:spcAft>
                <a:spcPts val="0"/>
              </a:spcAft>
              <a:buSzPts val="1100"/>
              <a:buChar char="●"/>
            </a:pPr>
            <a:r>
              <a:rPr lang="en" sz="1100"/>
              <a:t>Presales demos:</a:t>
            </a:r>
            <a:endParaRPr sz="1100"/>
          </a:p>
          <a:p>
            <a:pPr indent="-298450" lvl="1" marL="914400" rtl="0" algn="l">
              <a:spcBef>
                <a:spcPts val="0"/>
              </a:spcBef>
              <a:spcAft>
                <a:spcPts val="0"/>
              </a:spcAft>
              <a:buClr>
                <a:srgbClr val="247094"/>
              </a:buClr>
              <a:buSzPts val="1100"/>
              <a:buChar char="○"/>
            </a:pPr>
            <a:r>
              <a:rPr lang="en" sz="1100" u="sng">
                <a:solidFill>
                  <a:srgbClr val="247094"/>
                </a:solidFill>
                <a:hlinkClick r:id="rId6">
                  <a:extLst>
                    <a:ext uri="{A12FA001-AC4F-418D-AE19-62706E023703}">
                      <ahyp:hlinkClr val="tx"/>
                    </a:ext>
                  </a:extLst>
                </a:hlinkClick>
              </a:rPr>
              <a:t>Meet TAI: The Next Leap in AI-Powered Treasury</a:t>
            </a:r>
            <a:endParaRPr sz="1100">
              <a:solidFill>
                <a:srgbClr val="247094"/>
              </a:solidFill>
            </a:endParaRPr>
          </a:p>
          <a:p>
            <a:pPr indent="-298450" lvl="1" marL="914400" rtl="0" algn="l">
              <a:spcBef>
                <a:spcPts val="0"/>
              </a:spcBef>
              <a:spcAft>
                <a:spcPts val="0"/>
              </a:spcAft>
              <a:buClr>
                <a:srgbClr val="247094"/>
              </a:buClr>
              <a:buSzPts val="1100"/>
              <a:buChar char="○"/>
            </a:pPr>
            <a:r>
              <a:rPr lang="en" sz="1100" u="sng">
                <a:solidFill>
                  <a:srgbClr val="247094"/>
                </a:solidFill>
                <a:hlinkClick r:id="rId7">
                  <a:extLst>
                    <a:ext uri="{A12FA001-AC4F-418D-AE19-62706E023703}">
                      <ahyp:hlinkClr val="tx"/>
                    </a:ext>
                  </a:extLst>
                </a:hlinkClick>
              </a:rPr>
              <a:t>2025 - Module Intro - TAI 2 (EN)</a:t>
            </a:r>
            <a:endParaRPr>
              <a:solidFill>
                <a:srgbClr val="247094"/>
              </a:solidFill>
            </a:endParaRPr>
          </a:p>
          <a:p>
            <a:pPr indent="-298450" lvl="0" marL="457200" rtl="0" algn="l">
              <a:spcBef>
                <a:spcPts val="0"/>
              </a:spcBef>
              <a:spcAft>
                <a:spcPts val="0"/>
              </a:spcAft>
              <a:buSzPts val="1100"/>
              <a:buChar char="●"/>
            </a:pPr>
            <a:r>
              <a:rPr lang="en" sz="1100"/>
              <a:t>Primarily expected that:</a:t>
            </a:r>
            <a:endParaRPr sz="1100"/>
          </a:p>
          <a:p>
            <a:pPr indent="-298450" lvl="1" marL="914400" rtl="0" algn="l">
              <a:spcBef>
                <a:spcPts val="0"/>
              </a:spcBef>
              <a:spcAft>
                <a:spcPts val="0"/>
              </a:spcAft>
              <a:buSzPts val="1100"/>
              <a:buChar char="○"/>
            </a:pPr>
            <a:r>
              <a:rPr lang="en" sz="1100"/>
              <a:t>Treasury agent:</a:t>
            </a:r>
            <a:endParaRPr sz="1100"/>
          </a:p>
          <a:p>
            <a:pPr indent="-285750" lvl="2" marL="1371600" rtl="0" algn="l">
              <a:spcBef>
                <a:spcPts val="0"/>
              </a:spcBef>
              <a:spcAft>
                <a:spcPts val="0"/>
              </a:spcAft>
              <a:buSzPts val="900"/>
              <a:buChar char="■"/>
            </a:pPr>
            <a:r>
              <a:rPr lang="en"/>
              <a:t>Producing reporting/analysis</a:t>
            </a:r>
            <a:endParaRPr/>
          </a:p>
          <a:p>
            <a:pPr indent="-285750" lvl="2" marL="1371600" rtl="0" algn="l">
              <a:spcBef>
                <a:spcPts val="0"/>
              </a:spcBef>
              <a:spcAft>
                <a:spcPts val="0"/>
              </a:spcAft>
              <a:buSzPts val="900"/>
              <a:buChar char="■"/>
            </a:pPr>
            <a:r>
              <a:rPr lang="en"/>
              <a:t>Reducing time to investigate breaks</a:t>
            </a:r>
            <a:endParaRPr/>
          </a:p>
          <a:p>
            <a:pPr indent="-298450" lvl="1" marL="914400" rtl="0" algn="l">
              <a:spcBef>
                <a:spcPts val="0"/>
              </a:spcBef>
              <a:spcAft>
                <a:spcPts val="0"/>
              </a:spcAft>
              <a:buSzPts val="1100"/>
              <a:buChar char="○"/>
            </a:pPr>
            <a:r>
              <a:rPr lang="en" sz="1100"/>
              <a:t>Help agent:</a:t>
            </a:r>
            <a:endParaRPr sz="1100"/>
          </a:p>
          <a:p>
            <a:pPr indent="-285750" lvl="2" marL="1371600" rtl="0" algn="l">
              <a:spcBef>
                <a:spcPts val="0"/>
              </a:spcBef>
              <a:spcAft>
                <a:spcPts val="0"/>
              </a:spcAft>
              <a:buSzPts val="900"/>
              <a:buChar char="■"/>
            </a:pPr>
            <a:r>
              <a:rPr lang="en"/>
              <a:t>Implementation support</a:t>
            </a:r>
            <a:endParaRPr/>
          </a:p>
          <a:p>
            <a:pPr indent="-285750" lvl="3" marL="1828800" rtl="0" algn="l">
              <a:spcBef>
                <a:spcPts val="0"/>
              </a:spcBef>
              <a:spcAft>
                <a:spcPts val="0"/>
              </a:spcAft>
              <a:buSzPts val="900"/>
              <a:buChar char="●"/>
            </a:pPr>
            <a:r>
              <a:rPr lang="en"/>
              <a:t>Start and day to day e.g new bank)</a:t>
            </a:r>
            <a:endParaRPr/>
          </a:p>
          <a:p>
            <a:pPr indent="-285750" lvl="2" marL="1371600" rtl="0" algn="l">
              <a:spcBef>
                <a:spcPts val="0"/>
              </a:spcBef>
              <a:spcAft>
                <a:spcPts val="0"/>
              </a:spcAft>
              <a:buSzPts val="900"/>
              <a:buChar char="■"/>
            </a:pPr>
            <a:r>
              <a:rPr lang="en"/>
              <a:t>Reducing internal questions</a:t>
            </a:r>
            <a:endParaRPr/>
          </a:p>
          <a:p>
            <a:pPr indent="0" lvl="0" marL="0" rtl="0" algn="l">
              <a:spcBef>
                <a:spcPts val="1000"/>
              </a:spcBef>
              <a:spcAft>
                <a:spcPts val="0"/>
              </a:spcAft>
              <a:buNone/>
            </a:pPr>
            <a:r>
              <a:rPr b="1" lang="en"/>
              <a:t>Where to go for:</a:t>
            </a:r>
            <a:endParaRPr b="1"/>
          </a:p>
          <a:p>
            <a:pPr indent="-298450" lvl="0" marL="457200" rtl="0" algn="l">
              <a:spcBef>
                <a:spcPts val="0"/>
              </a:spcBef>
              <a:spcAft>
                <a:spcPts val="0"/>
              </a:spcAft>
              <a:buSzPts val="1100"/>
              <a:buChar char="●"/>
            </a:pPr>
            <a:r>
              <a:rPr lang="en" sz="1100"/>
              <a:t>Training: Kyriba Elevate TAI course: </a:t>
            </a:r>
            <a:r>
              <a:rPr lang="en" sz="1100" u="sng">
                <a:solidFill>
                  <a:srgbClr val="247094"/>
                </a:solidFill>
                <a:hlinkClick r:id="rId8">
                  <a:extLst>
                    <a:ext uri="{A12FA001-AC4F-418D-AE19-62706E023703}">
                      <ahyp:hlinkClr val="tx"/>
                    </a:ext>
                  </a:extLst>
                </a:hlinkClick>
              </a:rPr>
              <a:t>Optimizing TAI</a:t>
            </a:r>
            <a:endParaRPr sz="1100">
              <a:highlight>
                <a:srgbClr val="FF9900"/>
              </a:highlight>
            </a:endParaRPr>
          </a:p>
          <a:p>
            <a:pPr indent="-298450" lvl="0" marL="457200" rtl="0" algn="l">
              <a:spcBef>
                <a:spcPts val="0"/>
              </a:spcBef>
              <a:spcAft>
                <a:spcPts val="0"/>
              </a:spcAft>
              <a:buSzPts val="1100"/>
              <a:buChar char="●"/>
            </a:pPr>
            <a:r>
              <a:rPr lang="en" sz="1100"/>
              <a:t>Deeper information: </a:t>
            </a:r>
            <a:endParaRPr/>
          </a:p>
          <a:p>
            <a:pPr indent="-171450" lvl="1" marL="628650" rtl="0" algn="l">
              <a:spcBef>
                <a:spcPts val="0"/>
              </a:spcBef>
              <a:spcAft>
                <a:spcPts val="0"/>
              </a:spcAft>
              <a:buSzPts val="900"/>
              <a:buChar char="○"/>
            </a:pPr>
            <a:r>
              <a:rPr lang="en" u="sng">
                <a:solidFill>
                  <a:srgbClr val="247094"/>
                </a:solidFill>
                <a:hlinkClick r:id="rId9">
                  <a:extLst>
                    <a:ext uri="{A12FA001-AC4F-418D-AE19-62706E023703}">
                      <ahyp:hlinkClr val="tx"/>
                    </a:ext>
                  </a:extLst>
                </a:hlinkClick>
              </a:rPr>
              <a:t>How AI Agents Actually Work - A Practical Guide for Treasury &amp; Finance</a:t>
            </a:r>
            <a:endParaRPr/>
          </a:p>
          <a:p>
            <a:pPr indent="-171450" lvl="1" marL="628650" rtl="0" algn="l">
              <a:spcBef>
                <a:spcPts val="0"/>
              </a:spcBef>
              <a:spcAft>
                <a:spcPts val="0"/>
              </a:spcAft>
              <a:buSzPts val="900"/>
              <a:buChar char="○"/>
            </a:pPr>
            <a:r>
              <a:rPr lang="en"/>
              <a:t>Release note &amp; Online help</a:t>
            </a:r>
            <a:endParaRPr/>
          </a:p>
          <a:p>
            <a:pPr indent="-171450" lvl="1" marL="628650" rtl="0" algn="l">
              <a:spcBef>
                <a:spcPts val="0"/>
              </a:spcBef>
              <a:spcAft>
                <a:spcPts val="0"/>
              </a:spcAft>
              <a:buSzPts val="900"/>
              <a:buChar char="○"/>
            </a:pPr>
            <a:r>
              <a:rPr lang="en" u="sng">
                <a:solidFill>
                  <a:srgbClr val="247094"/>
                </a:solidFill>
                <a:hlinkClick r:id="rId10">
                  <a:extLst>
                    <a:ext uri="{A12FA001-AC4F-418D-AE19-62706E023703}">
                      <ahyp:hlinkClr val="tx"/>
                    </a:ext>
                  </a:extLst>
                </a:hlinkClick>
              </a:rPr>
              <a:t>Kyriba developer portal</a:t>
            </a:r>
            <a:r>
              <a:rPr lang="en"/>
              <a:t> for APIs </a:t>
            </a:r>
            <a:endParaRPr/>
          </a:p>
          <a:p>
            <a:pPr indent="-298450" lvl="0" marL="457200" rtl="0" algn="l">
              <a:spcBef>
                <a:spcPts val="0"/>
              </a:spcBef>
              <a:spcAft>
                <a:spcPts val="0"/>
              </a:spcAft>
              <a:buSzPts val="1100"/>
              <a:buChar char="●"/>
            </a:pPr>
            <a:r>
              <a:rPr lang="en" sz="1100"/>
              <a:t>Feedback: </a:t>
            </a:r>
            <a:r>
              <a:rPr lang="en" sz="1100" u="sng">
                <a:solidFill>
                  <a:srgbClr val="247094"/>
                </a:solidFill>
                <a:latin typeface="Arial"/>
                <a:ea typeface="Arial"/>
                <a:cs typeface="Arial"/>
                <a:sym typeface="Arial"/>
                <a:hlinkClick r:id="rId11">
                  <a:extLst>
                    <a:ext uri="{A12FA001-AC4F-418D-AE19-62706E023703}">
                      <ahyp:hlinkClr val="tx"/>
                    </a:ext>
                  </a:extLst>
                </a:hlinkClick>
              </a:rPr>
              <a:t>#TAI-Feedback</a:t>
            </a:r>
            <a:r>
              <a:rPr lang="en"/>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2" name="Shape 552"/>
        <p:cNvGrpSpPr/>
        <p:nvPr/>
      </p:nvGrpSpPr>
      <p:grpSpPr>
        <a:xfrm>
          <a:off x="0" y="0"/>
          <a:ext cx="0" cy="0"/>
          <a:chOff x="0" y="0"/>
          <a:chExt cx="0" cy="0"/>
        </a:xfrm>
      </p:grpSpPr>
      <p:sp>
        <p:nvSpPr>
          <p:cNvPr id="553" name="Google Shape;553;p94"/>
          <p:cNvSpPr txBox="1"/>
          <p:nvPr>
            <p:ph idx="4294967295"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chemeClr val="dk1"/>
              </a:buClr>
              <a:buSzPts val="2800"/>
              <a:buFont typeface="DM Mono Medium"/>
              <a:buNone/>
            </a:pPr>
            <a:r>
              <a:rPr b="0" i="0" lang="en" sz="2800" u="none" cap="none" strike="noStrike">
                <a:solidFill>
                  <a:schemeClr val="dk1"/>
                </a:solidFill>
                <a:latin typeface="DM Mono Medium"/>
                <a:ea typeface="DM Mono Medium"/>
                <a:cs typeface="DM Mono Medium"/>
                <a:sym typeface="DM Mono Medium"/>
              </a:rPr>
              <a:t>Thank you.</a:t>
            </a:r>
            <a:endParaRPr b="0" i="0" sz="2800" u="none" cap="none" strike="noStrike">
              <a:solidFill>
                <a:schemeClr val="dk1"/>
              </a:solidFill>
              <a:latin typeface="DM Mono Medium"/>
              <a:ea typeface="DM Mono Medium"/>
              <a:cs typeface="DM Mono Medium"/>
              <a:sym typeface="DM Mono Medium"/>
            </a:endParaRPr>
          </a:p>
        </p:txBody>
      </p:sp>
      <p:sp>
        <p:nvSpPr>
          <p:cNvPr id="554" name="Google Shape;554;p94"/>
          <p:cNvSpPr txBox="1"/>
          <p:nvPr>
            <p:ph idx="4294967295"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dk1"/>
              </a:buClr>
              <a:buSzPts val="1200"/>
              <a:buFont typeface="DM Sans"/>
              <a:buNone/>
            </a:pPr>
            <a:r>
              <a:rPr b="0" i="0" lang="en" sz="1200" u="none" cap="none" strike="noStrike">
                <a:solidFill>
                  <a:schemeClr val="dk1"/>
                </a:solidFill>
                <a:latin typeface="DM Sans"/>
                <a:ea typeface="DM Sans"/>
                <a:cs typeface="DM Sans"/>
                <a:sym typeface="DM Sans"/>
              </a:rPr>
              <a:t>Subtitle goes here</a:t>
            </a:r>
            <a:endParaRPr b="0" i="0" sz="1200" u="none" cap="none" strike="noStrike">
              <a:solidFill>
                <a:schemeClr val="dk1"/>
              </a:solidFill>
              <a:latin typeface="DM Sans"/>
              <a:ea typeface="DM Sans"/>
              <a:cs typeface="DM Sans"/>
              <a:sym typeface="DM Sans"/>
            </a:endParaRPr>
          </a:p>
        </p:txBody>
      </p:sp>
      <p:sp>
        <p:nvSpPr>
          <p:cNvPr id="555" name="Google Shape;555;p94"/>
          <p:cNvSpPr txBox="1"/>
          <p:nvPr/>
        </p:nvSpPr>
        <p:spPr>
          <a:xfrm>
            <a:off x="124425" y="342900"/>
            <a:ext cx="6045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b="0" i="0" lang="en" sz="7500" u="none" cap="none" strike="noStrike">
                <a:solidFill>
                  <a:srgbClr val="F9F9F9"/>
                </a:solidFill>
                <a:latin typeface="DM Mono Medium"/>
                <a:ea typeface="DM Mono Medium"/>
                <a:cs typeface="DM Mono Medium"/>
                <a:sym typeface="DM Mono Medium"/>
              </a:rPr>
              <a:t>Thank you.</a:t>
            </a:r>
            <a:endParaRPr b="0" i="0" sz="7500" u="none" cap="none" strike="noStrike">
              <a:solidFill>
                <a:srgbClr val="F9F9F9"/>
              </a:solidFill>
              <a:latin typeface="DM Mono Medium"/>
              <a:ea typeface="DM Mono Medium"/>
              <a:cs typeface="DM Mono Medium"/>
              <a:sym typeface="DM Mono Medium"/>
            </a:endParaRPr>
          </a:p>
        </p:txBody>
      </p:sp>
      <p:sp>
        <p:nvSpPr>
          <p:cNvPr id="556" name="Google Shape;556;p94"/>
          <p:cNvSpPr txBox="1"/>
          <p:nvPr/>
        </p:nvSpPr>
        <p:spPr>
          <a:xfrm>
            <a:off x="2887475" y="2295450"/>
            <a:ext cx="3282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lang="en" sz="7500">
                <a:solidFill>
                  <a:srgbClr val="F9F9F9"/>
                </a:solidFill>
                <a:latin typeface="DM Mono Medium"/>
                <a:ea typeface="DM Mono Medium"/>
                <a:cs typeface="DM Mono Medium"/>
                <a:sym typeface="DM Mono Medium"/>
              </a:rPr>
              <a:t>Q &amp; A</a:t>
            </a:r>
            <a:endParaRPr b="0" i="0" sz="7500" u="none" cap="none" strike="noStrike">
              <a:solidFill>
                <a:srgbClr val="F9F9F9"/>
              </a:solidFill>
              <a:latin typeface="DM Mono Medium"/>
              <a:ea typeface="DM Mono Medium"/>
              <a:cs typeface="DM Mono Medium"/>
              <a:sym typeface="DM Mono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5"/>
          <p:cNvSpPr txBox="1"/>
          <p:nvPr>
            <p:ph type="ctrTitle"/>
          </p:nvPr>
        </p:nvSpPr>
        <p:spPr>
          <a:xfrm>
            <a:off x="228600" y="342900"/>
            <a:ext cx="52602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Marketplace</a:t>
            </a:r>
            <a:endParaRPr/>
          </a:p>
        </p:txBody>
      </p:sp>
      <p:sp>
        <p:nvSpPr>
          <p:cNvPr id="562" name="Google Shape;562;p95"/>
          <p:cNvSpPr txBox="1"/>
          <p:nvPr/>
        </p:nvSpPr>
        <p:spPr>
          <a:xfrm>
            <a:off x="228600" y="2571750"/>
            <a:ext cx="40821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lt1"/>
                </a:solidFill>
                <a:latin typeface="DM Sans Medium"/>
                <a:ea typeface="DM Sans Medium"/>
                <a:cs typeface="DM Sans Medium"/>
                <a:sym typeface="DM Sans Medium"/>
              </a:rPr>
              <a:t>Christy So</a:t>
            </a:r>
            <a:endParaRPr/>
          </a:p>
        </p:txBody>
      </p:sp>
      <p:sp>
        <p:nvSpPr>
          <p:cNvPr id="563" name="Google Shape;563;p95"/>
          <p:cNvSpPr txBox="1"/>
          <p:nvPr>
            <p:ph idx="1" type="subTitle"/>
          </p:nvPr>
        </p:nvSpPr>
        <p:spPr>
          <a:xfrm>
            <a:off x="228600" y="3030550"/>
            <a:ext cx="4288200" cy="44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700"/>
              <a:buNone/>
            </a:pPr>
            <a:r>
              <a:rPr lang="en"/>
              <a:t>Product - Marketplace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7" name="Shape 567"/>
        <p:cNvGrpSpPr/>
        <p:nvPr/>
      </p:nvGrpSpPr>
      <p:grpSpPr>
        <a:xfrm>
          <a:off x="0" y="0"/>
          <a:ext cx="0" cy="0"/>
          <a:chOff x="0" y="0"/>
          <a:chExt cx="0" cy="0"/>
        </a:xfrm>
      </p:grpSpPr>
      <p:sp>
        <p:nvSpPr>
          <p:cNvPr id="568" name="Google Shape;568;p96"/>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Marketplace Introduction</a:t>
            </a:r>
            <a:endParaRPr sz="2600"/>
          </a:p>
        </p:txBody>
      </p:sp>
      <p:sp>
        <p:nvSpPr>
          <p:cNvPr id="569" name="Google Shape;569;p96"/>
          <p:cNvSpPr txBox="1"/>
          <p:nvPr>
            <p:ph idx="1" type="body"/>
          </p:nvPr>
        </p:nvSpPr>
        <p:spPr>
          <a:xfrm>
            <a:off x="255225" y="894300"/>
            <a:ext cx="75771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What is the Marketplace?</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a:t>Facilitate</a:t>
            </a:r>
            <a:r>
              <a:rPr lang="en"/>
              <a:t> a stream lined path for third party providers to integrate their solutions with Kyriba via App Studio API</a:t>
            </a:r>
            <a:br>
              <a:rPr lang="en"/>
            </a:br>
            <a:endParaRPr/>
          </a:p>
          <a:p>
            <a:pPr indent="-311150" lvl="0" marL="457200" rtl="0" algn="l">
              <a:spcBef>
                <a:spcPts val="0"/>
              </a:spcBef>
              <a:spcAft>
                <a:spcPts val="0"/>
              </a:spcAft>
              <a:buSzPts val="1300"/>
              <a:buChar char="●"/>
            </a:pPr>
            <a:r>
              <a:rPr lang="en"/>
              <a:t>Where to get started:</a:t>
            </a:r>
            <a:endParaRPr/>
          </a:p>
          <a:p>
            <a:pPr indent="-285750" lvl="1" marL="914400" rtl="0" algn="l">
              <a:spcBef>
                <a:spcPts val="0"/>
              </a:spcBef>
              <a:spcAft>
                <a:spcPts val="0"/>
              </a:spcAft>
              <a:buSzPts val="900"/>
              <a:buChar char="○"/>
            </a:pPr>
            <a:r>
              <a:rPr lang="en"/>
              <a:t>COE &gt; Implementations &gt; Marketplace for guides</a:t>
            </a:r>
            <a:endParaRPr/>
          </a:p>
          <a:p>
            <a:pPr indent="-285750" lvl="1" marL="914400" rtl="0" algn="l">
              <a:spcBef>
                <a:spcPts val="0"/>
              </a:spcBef>
              <a:spcAft>
                <a:spcPts val="0"/>
              </a:spcAft>
              <a:buSzPts val="900"/>
              <a:buChar char="○"/>
            </a:pPr>
            <a:r>
              <a:rPr lang="en"/>
              <a:t>Developer</a:t>
            </a:r>
            <a:r>
              <a:rPr lang="en"/>
              <a:t> portal</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a:t>Guides have all the information from set up to</a:t>
            </a:r>
            <a:br>
              <a:rPr lang="en"/>
            </a:br>
            <a:r>
              <a:rPr lang="en"/>
              <a:t>p</a:t>
            </a:r>
            <a:r>
              <a:rPr lang="en"/>
              <a:t>re implementation steps to process templates</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a:t>Contact: marketplace@kyriba.com</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570" name="Google Shape;570;p96" title="Screenshot 2025-11-19 at 11.47.02 AM.png"/>
          <p:cNvPicPr preferRelativeResize="0"/>
          <p:nvPr/>
        </p:nvPicPr>
        <p:blipFill>
          <a:blip r:embed="rId3">
            <a:alphaModFix/>
          </a:blip>
          <a:stretch>
            <a:fillRect/>
          </a:stretch>
        </p:blipFill>
        <p:spPr>
          <a:xfrm>
            <a:off x="4628325" y="1810626"/>
            <a:ext cx="4260076" cy="20926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4" name="Shape 574"/>
        <p:cNvGrpSpPr/>
        <p:nvPr/>
      </p:nvGrpSpPr>
      <p:grpSpPr>
        <a:xfrm>
          <a:off x="0" y="0"/>
          <a:ext cx="0" cy="0"/>
          <a:chOff x="0" y="0"/>
          <a:chExt cx="0" cy="0"/>
        </a:xfrm>
      </p:grpSpPr>
      <p:sp>
        <p:nvSpPr>
          <p:cNvPr id="575" name="Google Shape;575;p97"/>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JPMC Morgan Money: App Studio Connector Course</a:t>
            </a:r>
            <a:endParaRPr sz="2600"/>
          </a:p>
        </p:txBody>
      </p:sp>
      <p:sp>
        <p:nvSpPr>
          <p:cNvPr id="576" name="Google Shape;576;p97"/>
          <p:cNvSpPr txBox="1"/>
          <p:nvPr>
            <p:ph idx="1" type="body"/>
          </p:nvPr>
        </p:nvSpPr>
        <p:spPr>
          <a:xfrm>
            <a:off x="228600" y="1185750"/>
            <a:ext cx="3573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Currently have 1 course on JPM App Studio Connector</a:t>
            </a:r>
            <a:br>
              <a:rPr lang="en"/>
            </a:br>
            <a:endParaRPr/>
          </a:p>
          <a:p>
            <a:pPr indent="-311150" lvl="0" marL="457200" rtl="0" algn="l">
              <a:spcBef>
                <a:spcPts val="0"/>
              </a:spcBef>
              <a:spcAft>
                <a:spcPts val="0"/>
              </a:spcAft>
              <a:buSzPts val="1300"/>
              <a:buChar char="●"/>
            </a:pPr>
            <a:r>
              <a:rPr lang="en"/>
              <a:t>Interfacing with JPM, Pre implementation steps, integration guides, process template guide</a:t>
            </a:r>
            <a:br>
              <a:rPr lang="en"/>
            </a:br>
            <a:endParaRPr/>
          </a:p>
          <a:p>
            <a:pPr indent="-311150" lvl="0" marL="457200" rtl="0" algn="l">
              <a:spcBef>
                <a:spcPts val="0"/>
              </a:spcBef>
              <a:spcAft>
                <a:spcPts val="0"/>
              </a:spcAft>
              <a:buSzPts val="1300"/>
              <a:buChar char="●"/>
            </a:pPr>
            <a:r>
              <a:rPr lang="en"/>
              <a:t>API Set up process</a:t>
            </a:r>
            <a:br>
              <a:rPr lang="en"/>
            </a:br>
            <a:endParaRPr/>
          </a:p>
          <a:p>
            <a:pPr indent="-311150" lvl="0" marL="457200" rtl="0" algn="l">
              <a:spcBef>
                <a:spcPts val="0"/>
              </a:spcBef>
              <a:spcAft>
                <a:spcPts val="0"/>
              </a:spcAft>
              <a:buSzPts val="1300"/>
              <a:buChar char="●"/>
            </a:pPr>
            <a:r>
              <a:rPr lang="en"/>
              <a:t>Script deployment process</a:t>
            </a:r>
            <a:endParaRPr/>
          </a:p>
        </p:txBody>
      </p:sp>
      <p:pic>
        <p:nvPicPr>
          <p:cNvPr id="577" name="Google Shape;577;p97" title="Screenshot 2025-11-19 at 1.48.05 PM.png"/>
          <p:cNvPicPr preferRelativeResize="0"/>
          <p:nvPr/>
        </p:nvPicPr>
        <p:blipFill>
          <a:blip r:embed="rId3">
            <a:alphaModFix/>
          </a:blip>
          <a:stretch>
            <a:fillRect/>
          </a:stretch>
        </p:blipFill>
        <p:spPr>
          <a:xfrm>
            <a:off x="3999750" y="874025"/>
            <a:ext cx="4479227" cy="1738750"/>
          </a:xfrm>
          <a:prstGeom prst="rect">
            <a:avLst/>
          </a:prstGeom>
          <a:noFill/>
          <a:ln>
            <a:noFill/>
          </a:ln>
        </p:spPr>
      </p:pic>
      <p:pic>
        <p:nvPicPr>
          <p:cNvPr id="578" name="Google Shape;578;p97" title="Screenshot 2025-11-19 at 1.40.48 PM.png"/>
          <p:cNvPicPr preferRelativeResize="0"/>
          <p:nvPr/>
        </p:nvPicPr>
        <p:blipFill rotWithShape="1">
          <a:blip r:embed="rId4">
            <a:alphaModFix/>
          </a:blip>
          <a:srcRect b="-14482" l="0" r="-14312" t="0"/>
          <a:stretch/>
        </p:blipFill>
        <p:spPr>
          <a:xfrm>
            <a:off x="4080175" y="2612775"/>
            <a:ext cx="4523501" cy="13669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98"/>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Marketplace Submission Page</a:t>
            </a:r>
            <a:endParaRPr sz="2600"/>
          </a:p>
        </p:txBody>
      </p:sp>
      <p:sp>
        <p:nvSpPr>
          <p:cNvPr id="584" name="Google Shape;584;p98"/>
          <p:cNvSpPr txBox="1"/>
          <p:nvPr>
            <p:ph idx="1" type="body"/>
          </p:nvPr>
        </p:nvSpPr>
        <p:spPr>
          <a:xfrm>
            <a:off x="255225" y="894300"/>
            <a:ext cx="4711500" cy="3677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Your Own App: In Kyriba developer portal</a:t>
            </a:r>
            <a:br>
              <a:rPr lang="en"/>
            </a:br>
            <a:endParaRPr/>
          </a:p>
          <a:p>
            <a:pPr indent="-311150" lvl="0" marL="457200" rtl="0" algn="l">
              <a:spcBef>
                <a:spcPts val="0"/>
              </a:spcBef>
              <a:spcAft>
                <a:spcPts val="0"/>
              </a:spcAft>
              <a:buSzPts val="1300"/>
              <a:buChar char="●"/>
            </a:pPr>
            <a:r>
              <a:rPr lang="en"/>
              <a:t>Outlines all steps from workflow, artifacts to the go live process</a:t>
            </a:r>
            <a:br>
              <a:rPr lang="en"/>
            </a:br>
            <a:endParaRPr/>
          </a:p>
          <a:p>
            <a:pPr indent="-311150" lvl="0" marL="457200" rtl="0" algn="l">
              <a:spcBef>
                <a:spcPts val="0"/>
              </a:spcBef>
              <a:spcAft>
                <a:spcPts val="0"/>
              </a:spcAft>
              <a:buSzPts val="1300"/>
              <a:buChar char="●"/>
            </a:pPr>
            <a:r>
              <a:rPr lang="en"/>
              <a:t>Includes all information needed to submit your idea for any integrations with the Marketplace</a:t>
            </a:r>
            <a:br>
              <a:rPr lang="en"/>
            </a:br>
            <a:endParaRPr/>
          </a:p>
          <a:p>
            <a:pPr indent="-311150" lvl="0" marL="457200" rtl="0" algn="l">
              <a:spcBef>
                <a:spcPts val="0"/>
              </a:spcBef>
              <a:spcAft>
                <a:spcPts val="0"/>
              </a:spcAft>
              <a:buSzPts val="1300"/>
              <a:buChar char="●"/>
            </a:pPr>
            <a:r>
              <a:rPr lang="en"/>
              <a:t>New Submission Page: “Submit your Idea”</a:t>
            </a:r>
            <a:endParaRPr/>
          </a:p>
          <a:p>
            <a:pPr indent="-285750" lvl="1" marL="914400" rtl="0" algn="l">
              <a:spcBef>
                <a:spcPts val="0"/>
              </a:spcBef>
              <a:spcAft>
                <a:spcPts val="0"/>
              </a:spcAft>
              <a:buSzPts val="900"/>
              <a:buChar char="○"/>
            </a:pPr>
            <a:r>
              <a:rPr lang="en"/>
              <a:t>Use this submission page to get in contact with the Marketplace Team to start the integration process</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585" name="Google Shape;585;p98" title="Screenshot 2025-11-19 at 1.57.49 PM.png"/>
          <p:cNvPicPr preferRelativeResize="0"/>
          <p:nvPr/>
        </p:nvPicPr>
        <p:blipFill>
          <a:blip r:embed="rId3">
            <a:alphaModFix/>
          </a:blip>
          <a:stretch>
            <a:fillRect/>
          </a:stretch>
        </p:blipFill>
        <p:spPr>
          <a:xfrm>
            <a:off x="5152251" y="839400"/>
            <a:ext cx="3714673" cy="31091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99"/>
          <p:cNvSpPr txBox="1"/>
          <p:nvPr>
            <p:ph type="title"/>
          </p:nvPr>
        </p:nvSpPr>
        <p:spPr>
          <a:xfrm>
            <a:off x="228600" y="342900"/>
            <a:ext cx="526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Dust Agent: @MarketplaceAgent</a:t>
            </a:r>
            <a:endParaRPr/>
          </a:p>
        </p:txBody>
      </p:sp>
      <p:sp>
        <p:nvSpPr>
          <p:cNvPr id="591" name="Google Shape;591;p99"/>
          <p:cNvSpPr txBox="1"/>
          <p:nvPr>
            <p:ph idx="1" type="body"/>
          </p:nvPr>
        </p:nvSpPr>
        <p:spPr>
          <a:xfrm>
            <a:off x="228600" y="915600"/>
            <a:ext cx="42567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Target Audience: AM’s, Implementation Consultants, Product</a:t>
            </a:r>
            <a:br>
              <a:rPr lang="en"/>
            </a:br>
            <a:endParaRPr/>
          </a:p>
          <a:p>
            <a:pPr indent="-311150" lvl="0" marL="457200" rtl="0" algn="l">
              <a:spcBef>
                <a:spcPts val="0"/>
              </a:spcBef>
              <a:spcAft>
                <a:spcPts val="0"/>
              </a:spcAft>
              <a:buSzPts val="1300"/>
              <a:buChar char="●"/>
            </a:pPr>
            <a:r>
              <a:rPr lang="en"/>
              <a:t>Marketplace Agent to assist in implementations and set up</a:t>
            </a:r>
            <a:endParaRPr/>
          </a:p>
          <a:p>
            <a:pPr indent="-285750" lvl="1" marL="914400" rtl="0" algn="l">
              <a:spcBef>
                <a:spcPts val="0"/>
              </a:spcBef>
              <a:spcAft>
                <a:spcPts val="0"/>
              </a:spcAft>
              <a:buSzPts val="900"/>
              <a:buChar char="○"/>
            </a:pPr>
            <a:r>
              <a:rPr lang="en"/>
              <a:t>Access to all guides </a:t>
            </a:r>
            <a:endParaRPr/>
          </a:p>
          <a:p>
            <a:pPr indent="-285750" lvl="1" marL="914400" rtl="0" algn="l">
              <a:spcBef>
                <a:spcPts val="0"/>
              </a:spcBef>
              <a:spcAft>
                <a:spcPts val="0"/>
              </a:spcAft>
              <a:buSzPts val="900"/>
              <a:buChar char="○"/>
            </a:pPr>
            <a:r>
              <a:rPr lang="en"/>
              <a:t>Ability to create checklists and walkthrough steps</a:t>
            </a:r>
            <a:endParaRPr/>
          </a:p>
          <a:p>
            <a:pPr indent="0" lvl="0" marL="0" rtl="0" algn="l">
              <a:spcBef>
                <a:spcPts val="0"/>
              </a:spcBef>
              <a:spcAft>
                <a:spcPts val="0"/>
              </a:spcAft>
              <a:buNone/>
            </a:pPr>
            <a:r>
              <a:t/>
            </a:r>
            <a:endParaRPr/>
          </a:p>
          <a:p>
            <a:pPr indent="-311150" lvl="0" marL="457200" rtl="0" algn="l">
              <a:spcBef>
                <a:spcPts val="0"/>
              </a:spcBef>
              <a:spcAft>
                <a:spcPts val="0"/>
              </a:spcAft>
              <a:buSzPts val="1300"/>
              <a:buChar char="●"/>
            </a:pPr>
            <a:r>
              <a:rPr lang="en"/>
              <a:t>App Studio knowledge to determine Third Party API Compatibility</a:t>
            </a:r>
            <a:br>
              <a:rPr lang="en"/>
            </a:br>
            <a:endParaRPr/>
          </a:p>
          <a:p>
            <a:pPr indent="-311150" lvl="0" marL="457200" rtl="0" algn="l">
              <a:spcBef>
                <a:spcPts val="0"/>
              </a:spcBef>
              <a:spcAft>
                <a:spcPts val="0"/>
              </a:spcAft>
              <a:buSzPts val="1300"/>
              <a:buChar char="●"/>
            </a:pPr>
            <a:r>
              <a:rPr lang="en"/>
              <a:t>Information on all existing marketplace integrations</a:t>
            </a:r>
            <a:br>
              <a:rPr lang="en"/>
            </a:br>
            <a:endParaRPr/>
          </a:p>
          <a:p>
            <a:pPr indent="-311150" lvl="0" marL="457200" rtl="0" algn="l">
              <a:spcBef>
                <a:spcPts val="0"/>
              </a:spcBef>
              <a:spcAft>
                <a:spcPts val="0"/>
              </a:spcAft>
              <a:buSzPts val="1300"/>
              <a:buChar char="●"/>
            </a:pPr>
            <a:r>
              <a:rPr lang="en"/>
              <a:t>How to connect to marketplace and submit an application idea</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592" name="Google Shape;592;p99" title="Screenshot 2025-11-13 at 2.44.34 PM.png"/>
          <p:cNvPicPr preferRelativeResize="0"/>
          <p:nvPr/>
        </p:nvPicPr>
        <p:blipFill>
          <a:blip r:embed="rId3">
            <a:alphaModFix/>
          </a:blip>
          <a:stretch>
            <a:fillRect/>
          </a:stretch>
        </p:blipFill>
        <p:spPr>
          <a:xfrm>
            <a:off x="4613282" y="915597"/>
            <a:ext cx="4401917" cy="341639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0"/>
          <p:cNvSpPr txBox="1"/>
          <p:nvPr>
            <p:ph type="ctrTitle"/>
          </p:nvPr>
        </p:nvSpPr>
        <p:spPr>
          <a:xfrm>
            <a:off x="228600" y="342900"/>
            <a:ext cx="52602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ISO Migration</a:t>
            </a:r>
            <a:endParaRPr/>
          </a:p>
        </p:txBody>
      </p:sp>
      <p:sp>
        <p:nvSpPr>
          <p:cNvPr id="598" name="Google Shape;598;p100"/>
          <p:cNvSpPr txBox="1"/>
          <p:nvPr/>
        </p:nvSpPr>
        <p:spPr>
          <a:xfrm>
            <a:off x="228600" y="2571750"/>
            <a:ext cx="40821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lt1"/>
                </a:solidFill>
                <a:latin typeface="DM Sans Medium"/>
                <a:ea typeface="DM Sans Medium"/>
                <a:cs typeface="DM Sans Medium"/>
                <a:sym typeface="DM Sans Medium"/>
              </a:rPr>
              <a:t>Vimal Vinod</a:t>
            </a:r>
            <a:endParaRPr/>
          </a:p>
        </p:txBody>
      </p:sp>
      <p:sp>
        <p:nvSpPr>
          <p:cNvPr id="599" name="Google Shape;599;p100"/>
          <p:cNvSpPr txBox="1"/>
          <p:nvPr>
            <p:ph idx="1" type="subTitle"/>
          </p:nvPr>
        </p:nvSpPr>
        <p:spPr>
          <a:xfrm>
            <a:off x="228600" y="3030550"/>
            <a:ext cx="4288200" cy="44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700"/>
              <a:buNone/>
            </a:pPr>
            <a:r>
              <a:rPr lang="en"/>
              <a:t>COE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228600" y="342900"/>
            <a:ext cx="526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ISO Migration</a:t>
            </a:r>
            <a:endParaRPr/>
          </a:p>
        </p:txBody>
      </p:sp>
      <p:sp>
        <p:nvSpPr>
          <p:cNvPr id="605" name="Google Shape;605;p101"/>
          <p:cNvSpPr txBox="1"/>
          <p:nvPr>
            <p:ph idx="1" type="body"/>
          </p:nvPr>
        </p:nvSpPr>
        <p:spPr>
          <a:xfrm>
            <a:off x="228600" y="1152475"/>
            <a:ext cx="5260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rgbClr val="4A86E8"/>
                </a:solidFill>
                <a:hlinkClick r:id="rId3">
                  <a:extLst>
                    <a:ext uri="{A12FA001-AC4F-418D-AE19-62706E023703}">
                      <ahyp:hlinkClr val="tx"/>
                    </a:ext>
                  </a:extLst>
                </a:hlinkClick>
              </a:rPr>
              <a:t>https://sites.google.com/kyriba.com/ps-wiki/implementation/xml-iso-20022-migration?authuser=0</a:t>
            </a:r>
            <a:endParaRPr>
              <a:solidFill>
                <a:srgbClr val="4A86E8"/>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09" name="Shape 609"/>
        <p:cNvGrpSpPr/>
        <p:nvPr/>
      </p:nvGrpSpPr>
      <p:grpSpPr>
        <a:xfrm>
          <a:off x="0" y="0"/>
          <a:ext cx="0" cy="0"/>
          <a:chOff x="0" y="0"/>
          <a:chExt cx="0" cy="0"/>
        </a:xfrm>
      </p:grpSpPr>
      <p:pic>
        <p:nvPicPr>
          <p:cNvPr id="610" name="Google Shape;610;p102"/>
          <p:cNvPicPr preferRelativeResize="0"/>
          <p:nvPr/>
        </p:nvPicPr>
        <p:blipFill rotWithShape="1">
          <a:blip r:embed="rId3">
            <a:alphaModFix/>
          </a:blip>
          <a:srcRect b="0" l="0" r="0" t="0"/>
          <a:stretch/>
        </p:blipFill>
        <p:spPr>
          <a:xfrm>
            <a:off x="2793423" y="0"/>
            <a:ext cx="7717197" cy="5143501"/>
          </a:xfrm>
          <a:prstGeom prst="rect">
            <a:avLst/>
          </a:prstGeom>
          <a:noFill/>
          <a:ln>
            <a:noFill/>
          </a:ln>
        </p:spPr>
      </p:pic>
      <p:pic>
        <p:nvPicPr>
          <p:cNvPr id="611" name="Google Shape;611;p102"/>
          <p:cNvPicPr preferRelativeResize="0"/>
          <p:nvPr/>
        </p:nvPicPr>
        <p:blipFill rotWithShape="1">
          <a:blip r:embed="rId4">
            <a:alphaModFix/>
          </a:blip>
          <a:srcRect b="0" l="0" r="0" t="0"/>
          <a:stretch/>
        </p:blipFill>
        <p:spPr>
          <a:xfrm>
            <a:off x="0" y="0"/>
            <a:ext cx="5967409" cy="5143500"/>
          </a:xfrm>
          <a:prstGeom prst="rect">
            <a:avLst/>
          </a:prstGeom>
          <a:noFill/>
          <a:ln>
            <a:noFill/>
          </a:ln>
        </p:spPr>
      </p:pic>
      <p:sp>
        <p:nvSpPr>
          <p:cNvPr id="612" name="Google Shape;612;p102"/>
          <p:cNvSpPr txBox="1"/>
          <p:nvPr/>
        </p:nvSpPr>
        <p:spPr>
          <a:xfrm>
            <a:off x="627325" y="2341100"/>
            <a:ext cx="4039800" cy="9111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0"/>
              </a:spcBef>
              <a:spcAft>
                <a:spcPts val="0"/>
              </a:spcAft>
              <a:buClr>
                <a:srgbClr val="000000"/>
              </a:buClr>
              <a:buSzPts val="2800"/>
              <a:buFont typeface="Arial"/>
              <a:buNone/>
            </a:pPr>
            <a:r>
              <a:rPr b="1" lang="en" sz="5900">
                <a:solidFill>
                  <a:schemeClr val="accent1"/>
                </a:solidFill>
                <a:latin typeface="DM Mono"/>
                <a:ea typeface="DM Mono"/>
                <a:cs typeface="DM Mono"/>
                <a:sym typeface="DM Mono"/>
              </a:rPr>
              <a:t>Q&amp;A</a:t>
            </a:r>
            <a:r>
              <a:rPr lang="en" sz="5000">
                <a:solidFill>
                  <a:srgbClr val="ECEDE5"/>
                </a:solidFill>
                <a:latin typeface="DM Mono"/>
                <a:ea typeface="DM Mono"/>
                <a:cs typeface="DM Mono"/>
                <a:sym typeface="DM Mono"/>
              </a:rPr>
              <a:t> </a:t>
            </a:r>
            <a:endParaRPr b="0" i="0" sz="5000" u="none" cap="none" strike="noStrike">
              <a:solidFill>
                <a:srgbClr val="ECEDE5"/>
              </a:solidFill>
              <a:latin typeface="DM Mono"/>
              <a:ea typeface="DM Mono"/>
              <a:cs typeface="DM Mono"/>
              <a:sym typeface="DM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6" name="Shape 616"/>
        <p:cNvGrpSpPr/>
        <p:nvPr/>
      </p:nvGrpSpPr>
      <p:grpSpPr>
        <a:xfrm>
          <a:off x="0" y="0"/>
          <a:ext cx="0" cy="0"/>
          <a:chOff x="0" y="0"/>
          <a:chExt cx="0" cy="0"/>
        </a:xfrm>
      </p:grpSpPr>
      <p:sp>
        <p:nvSpPr>
          <p:cNvPr id="617" name="Google Shape;617;p103"/>
          <p:cNvSpPr txBox="1"/>
          <p:nvPr>
            <p:ph idx="4294967295"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chemeClr val="dk1"/>
              </a:buClr>
              <a:buSzPts val="2800"/>
              <a:buFont typeface="DM Mono Medium"/>
              <a:buNone/>
            </a:pPr>
            <a:r>
              <a:rPr b="0" i="0" lang="en" sz="2800" u="none" cap="none" strike="noStrike">
                <a:solidFill>
                  <a:schemeClr val="dk1"/>
                </a:solidFill>
                <a:latin typeface="DM Mono Medium"/>
                <a:ea typeface="DM Mono Medium"/>
                <a:cs typeface="DM Mono Medium"/>
                <a:sym typeface="DM Mono Medium"/>
              </a:rPr>
              <a:t>Thank you.K</a:t>
            </a:r>
            <a:endParaRPr b="0" i="0" sz="2800" u="none" cap="none" strike="noStrike">
              <a:solidFill>
                <a:schemeClr val="dk1"/>
              </a:solidFill>
              <a:latin typeface="DM Mono Medium"/>
              <a:ea typeface="DM Mono Medium"/>
              <a:cs typeface="DM Mono Medium"/>
              <a:sym typeface="DM Mono Medium"/>
            </a:endParaRPr>
          </a:p>
        </p:txBody>
      </p:sp>
      <p:sp>
        <p:nvSpPr>
          <p:cNvPr id="618" name="Google Shape;618;p103"/>
          <p:cNvSpPr txBox="1"/>
          <p:nvPr>
            <p:ph idx="4294967295" type="subTitle"/>
          </p:nvPr>
        </p:nvSpPr>
        <p:spPr>
          <a:xfrm>
            <a:off x="1941900" y="1602900"/>
            <a:ext cx="5260200" cy="249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200"/>
              <a:buFont typeface="DM Sans"/>
              <a:buNone/>
            </a:pPr>
            <a:r>
              <a:t/>
            </a:r>
            <a:endParaRPr b="1" sz="2300">
              <a:solidFill>
                <a:schemeClr val="lt1"/>
              </a:solidFill>
            </a:endParaRPr>
          </a:p>
          <a:p>
            <a:pPr indent="0" lvl="0" marL="0" marR="0" rtl="0" algn="l">
              <a:lnSpc>
                <a:spcPct val="115000"/>
              </a:lnSpc>
              <a:spcBef>
                <a:spcPts val="1200"/>
              </a:spcBef>
              <a:spcAft>
                <a:spcPts val="1200"/>
              </a:spcAft>
              <a:buClr>
                <a:schemeClr val="dk1"/>
              </a:buClr>
              <a:buSzPts val="1200"/>
              <a:buFont typeface="DM Sans"/>
              <a:buNone/>
            </a:pPr>
            <a:r>
              <a:t/>
            </a:r>
            <a:endParaRPr b="1" sz="2300">
              <a:solidFill>
                <a:schemeClr val="lt1"/>
              </a:solidFill>
            </a:endParaRPr>
          </a:p>
        </p:txBody>
      </p:sp>
      <p:sp>
        <p:nvSpPr>
          <p:cNvPr id="619" name="Google Shape;619;p103"/>
          <p:cNvSpPr txBox="1"/>
          <p:nvPr/>
        </p:nvSpPr>
        <p:spPr>
          <a:xfrm>
            <a:off x="124425" y="342900"/>
            <a:ext cx="6045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b="0" i="0" lang="en" sz="7500" u="none" cap="none" strike="noStrike">
                <a:solidFill>
                  <a:srgbClr val="F9F9F9"/>
                </a:solidFill>
                <a:latin typeface="DM Mono Medium"/>
                <a:ea typeface="DM Mono Medium"/>
                <a:cs typeface="DM Mono Medium"/>
                <a:sym typeface="DM Mono Medium"/>
              </a:rPr>
              <a:t>Thank you.</a:t>
            </a:r>
            <a:endParaRPr b="0" i="0" sz="7500" u="none" cap="none" strike="noStrike">
              <a:solidFill>
                <a:srgbClr val="F9F9F9"/>
              </a:solidFill>
              <a:latin typeface="DM Mono Medium"/>
              <a:ea typeface="DM Mono Medium"/>
              <a:cs typeface="DM Mono Medium"/>
              <a:sym typeface="DM Mono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